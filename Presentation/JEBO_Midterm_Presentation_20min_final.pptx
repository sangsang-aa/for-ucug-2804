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7" r:id="rId17"/>
    <p:sldId id="270" r:id="rId18"/>
    <p:sldId id="271" r:id="rId19"/>
    <p:sldId id="272" r:id="rId20"/>
    <p:sldId id="273" r:id="rId21"/>
    <p:sldId id="274" r:id="rId22"/>
    <p:sldId id="275" r:id="rId23"/>
  </p:sldIdLst>
  <p:sldSz cx="12192000" cy="6858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Droid Sans" charset="0"/>
        <a:cs typeface="Droid Sans" charset="0"/>
      </a:defRPr>
    </a:lvl1pPr>
    <a:lvl2pPr marL="457200" indent="0" algn="l" defTabSz="914400" eaLnBrk="1" fontAlgn="auto" latinLnBrk="0" hangingPunct="1">
      <a:buNone/>
      <a:defRPr sz="1800" kern="1200">
        <a:solidFill>
          <a:schemeClr val="tx1"/>
        </a:solidFill>
        <a:latin typeface="Droid Sans" charset="0"/>
        <a:ea typeface="Droid Sans" charset="0"/>
        <a:cs typeface="Droid Sans" charset="0"/>
      </a:defRPr>
    </a:lvl2pPr>
    <a:lvl3pPr marL="914400" indent="0" algn="l" defTabSz="914400" eaLnBrk="1" fontAlgn="auto" latinLnBrk="0" hangingPunct="1">
      <a:buNone/>
      <a:defRPr sz="1800" kern="1200">
        <a:solidFill>
          <a:schemeClr val="tx1"/>
        </a:solidFill>
        <a:latin typeface="Droid Sans" charset="0"/>
        <a:ea typeface="Droid Sans" charset="0"/>
        <a:cs typeface="Droid Sans" charset="0"/>
      </a:defRPr>
    </a:lvl3pPr>
    <a:lvl4pPr marL="1371600" indent="0" algn="l" defTabSz="914400" eaLnBrk="1" fontAlgn="auto" latinLnBrk="0" hangingPunct="1">
      <a:buNone/>
      <a:defRPr sz="1800" kern="1200">
        <a:solidFill>
          <a:schemeClr val="tx1"/>
        </a:solidFill>
        <a:latin typeface="Droid Sans" charset="0"/>
        <a:ea typeface="Droid Sans" charset="0"/>
        <a:cs typeface="Droid Sans" charset="0"/>
      </a:defRPr>
    </a:lvl4pPr>
    <a:lvl5pPr marL="1828800" indent="0" algn="l" defTabSz="914400" eaLnBrk="1" fontAlgn="auto" latinLnBrk="0" hangingPunct="1">
      <a:buNone/>
      <a:defRPr sz="1800" kern="1200">
        <a:solidFill>
          <a:schemeClr val="tx1"/>
        </a:solidFill>
        <a:latin typeface="Droid Sans" charset="0"/>
        <a:ea typeface="Droid Sans" charset="0"/>
        <a:cs typeface="Droid Sans" charset="0"/>
      </a:defRPr>
    </a:lvl5pPr>
    <a:lvl6pPr marL="2286000" indent="0" algn="l" defTabSz="914400" eaLnBrk="1" fontAlgn="auto" latinLnBrk="0" hangingPunct="1">
      <a:buNone/>
      <a:defRPr sz="1800" kern="1200">
        <a:solidFill>
          <a:schemeClr val="tx1"/>
        </a:solidFill>
        <a:latin typeface="Droid Sans" charset="0"/>
        <a:ea typeface="Droid Sans" charset="0"/>
        <a:cs typeface="Droid Sans" charset="0"/>
      </a:defRPr>
    </a:lvl6pPr>
    <a:lvl7pPr marL="2743200" indent="0" algn="l" defTabSz="914400" eaLnBrk="1" fontAlgn="auto" latinLnBrk="0" hangingPunct="1">
      <a:buNone/>
      <a:defRPr sz="1800" kern="1200">
        <a:solidFill>
          <a:schemeClr val="tx1"/>
        </a:solidFill>
        <a:latin typeface="Droid Sans" charset="0"/>
        <a:ea typeface="Droid Sans" charset="0"/>
        <a:cs typeface="Droid Sans" charset="0"/>
      </a:defRPr>
    </a:lvl7pPr>
    <a:lvl8pPr marL="3200400" indent="0" algn="l" defTabSz="914400" eaLnBrk="1" fontAlgn="auto" latinLnBrk="0" hangingPunct="1">
      <a:buNone/>
      <a:defRPr sz="1800" kern="1200">
        <a:solidFill>
          <a:schemeClr val="tx1"/>
        </a:solidFill>
        <a:latin typeface="Droid Sans" charset="0"/>
        <a:ea typeface="Droid Sans" charset="0"/>
        <a:cs typeface="Droid Sans" charset="0"/>
      </a:defRPr>
    </a:lvl8pPr>
    <a:lvl9pPr marL="3200400" indent="0" algn="l" defTabSz="914400" eaLnBrk="1" fontAlgn="auto" latinLnBrk="0" hangingPunct="1">
      <a:buNone/>
      <a:defRPr sz="1800" kern="1200">
        <a:solidFill>
          <a:schemeClr val="tx1"/>
        </a:solidFill>
        <a:latin typeface="Droid Sans" charset="0"/>
        <a:ea typeface="Droid Sans" charset="0"/>
        <a:cs typeface="Droid Sans"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9500" autoAdjust="0"/>
  </p:normalViewPr>
  <p:slideViewPr>
    <p:cSldViewPr snapToGrid="0" snapToObjects="1">
      <p:cViewPr>
        <p:scale>
          <a:sx n="72" d="100"/>
          <a:sy n="72" d="100"/>
        </p:scale>
        <p:origin x="1512" y="89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a:t>
            </a:fld>
            <a:endParaRPr lang="zh-CN" altLang="en-US" sz="1200">
              <a:latin typeface="Lato" charset="0"/>
              <a:ea typeface="等线" charset="0"/>
              <a:cs typeface="Lato" charset="0"/>
            </a:endParaRPr>
          </a:p>
        </p:txBody>
      </p:sp>
      <p:sp>
        <p:nvSpPr>
          <p:cNvPr id="3" name="文本框"/>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Lato" charset="0"/>
              <a:ea typeface="等线" charset="0"/>
              <a:cs typeface="Lato" charset="0"/>
            </a:endParaRPr>
          </a:p>
        </p:txBody>
      </p:sp>
      <p:sp>
        <p:nvSpPr>
          <p:cNvPr id="4" name="文本框"/>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Lato" charset="0"/>
                <a:ea typeface="等线" charset="0"/>
                <a:cs typeface="Lato" charset="0"/>
              </a:rPr>
              <a:t>10/21/2026</a:t>
            </a:fld>
            <a:endParaRPr lang="zh-CN" altLang="en-US" sz="1200">
              <a:latin typeface="Lato" charset="0"/>
              <a:ea typeface="等线" charset="0"/>
              <a:cs typeface="Lato" charset="0"/>
            </a:endParaRPr>
          </a:p>
        </p:txBody>
      </p:sp>
      <p:sp>
        <p:nvSpPr>
          <p:cNvPr id="5" name="对象"/>
          <p:cNvSpPr>
            <a:spLocks noGrp="1" noRot="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6" name="文本框"/>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文本框"/>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Lato" charset="0"/>
              <a:ea typeface="等线" charset="0"/>
              <a:cs typeface="Lato" charset="0"/>
            </a:endParaRPr>
          </a:p>
        </p:txBody>
      </p:sp>
    </p:spTree>
    <p:extLst>
      <p:ext uri="{BB962C8B-B14F-4D97-AF65-F5344CB8AC3E}">
        <p14:creationId xmlns:p14="http://schemas.microsoft.com/office/powerpoint/2010/main" val="2030028484"/>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Lato" charset="0"/>
        <a:ea typeface="等线" charset="0"/>
        <a:cs typeface="Lato"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a:t>
            </a:fld>
            <a:endParaRPr lang="zh-CN" altLang="en-US" sz="1200">
              <a:latin typeface="Lato" charset="0"/>
              <a:ea typeface="等线" charset="0"/>
              <a:cs typeface="Lato" charset="0"/>
            </a:endParaRPr>
          </a:p>
        </p:txBody>
      </p:sp>
      <p:sp>
        <p:nvSpPr>
          <p:cNvPr id="18"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a:t>
            </a:fld>
            <a:endParaRPr lang="zh-CN" altLang="en-US" sz="1200">
              <a:latin typeface="Lato" charset="0"/>
              <a:ea typeface="等线" charset="0"/>
              <a:cs typeface="Lato" charset="0"/>
            </a:endParaRPr>
          </a:p>
        </p:txBody>
      </p:sp>
      <p:sp>
        <p:nvSpPr>
          <p:cNvPr id="19"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a:t>
            </a:fld>
            <a:endParaRPr lang="zh-CN" altLang="en-US" sz="1200">
              <a:latin typeface="Lato" charset="0"/>
              <a:ea typeface="等线" charset="0"/>
              <a:cs typeface="Lato" charset="0"/>
            </a:endParaRPr>
          </a:p>
        </p:txBody>
      </p:sp>
      <p:sp>
        <p:nvSpPr>
          <p:cNvPr id="20"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1"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0:40.
Good morning, everyone. Today we are presenting JEBO, a student service concept focused on a familiar problem: keeping a shared dormitory clean without creating tension between roommates. Our central idea is simple. A cleaner room should not come at the cost of friendships, time, or peace of mind. During this presentation, we will walk through what we observed, the evidence we collected, what our early findings actually show, and the test we plan to run next. Importantly, JEBO is still a concept being validated, not an established business.
Sources and clarification: Project overview in CEM pre.docx.</a:t>
            </a:r>
            <a:endParaRPr lang="zh-CN" altLang="en-US"/>
          </a:p>
        </p:txBody>
      </p:sp>
      <p:sp>
        <p:nvSpPr>
          <p:cNvPr id="22"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a:t>
            </a:fld>
            <a:endParaRPr lang="zh-CN" altLang="en-US"/>
          </a:p>
        </p:txBody>
      </p:sp>
    </p:spTree>
    <p:extLst>
      <p:ext uri="{BB962C8B-B14F-4D97-AF65-F5344CB8AC3E}">
        <p14:creationId xmlns:p14="http://schemas.microsoft.com/office/powerpoint/2010/main" val="826437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a:t>
            </a:fld>
            <a:endParaRPr lang="zh-CN" altLang="en-US" sz="1200">
              <a:latin typeface="Lato" charset="0"/>
              <a:ea typeface="等线" charset="0"/>
              <a:cs typeface="Lato" charset="0"/>
            </a:endParaRPr>
          </a:p>
        </p:txBody>
      </p:sp>
      <p:sp>
        <p:nvSpPr>
          <p:cNvPr id="5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a:t>
            </a:fld>
            <a:endParaRPr lang="zh-CN" altLang="en-US" sz="1200">
              <a:latin typeface="Lato" charset="0"/>
              <a:ea typeface="等线" charset="0"/>
              <a:cs typeface="Lato" charset="0"/>
            </a:endParaRPr>
          </a:p>
        </p:txBody>
      </p:sp>
      <p:sp>
        <p:nvSpPr>
          <p:cNvPr id="5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a:t>
            </a:fld>
            <a:endParaRPr lang="zh-CN" altLang="en-US" sz="1200">
              <a:latin typeface="Lato" charset="0"/>
              <a:ea typeface="等线" charset="0"/>
              <a:cs typeface="Lato" charset="0"/>
            </a:endParaRPr>
          </a:p>
        </p:txBody>
      </p:sp>
      <p:sp>
        <p:nvSpPr>
          <p:cNvPr id="58"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5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0:50.
We have organized today's presentation into five parts. First, we will introduce the problem as it appears in shared dormitories. Second, we will identify who experiences this problem most strongly. Third, we will look at evidence from our questionnaire, interviews, and previous research. Fourth, we will explain how JEBO might help. Finally, we will present the next experiment and explain what still needs to be proved. As we move through these parts, please keep one question in mind: does our proposed platform solve something that students cannot already solve through existing informal arrangements?</a:t>
            </a:r>
            <a:endParaRPr lang="zh-CN" altLang="en-US"/>
          </a:p>
        </p:txBody>
      </p:sp>
      <p:sp>
        <p:nvSpPr>
          <p:cNvPr id="60"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2</a:t>
            </a:fld>
            <a:endParaRPr lang="zh-CN" altLang="en-US"/>
          </a:p>
        </p:txBody>
      </p:sp>
    </p:spTree>
    <p:extLst>
      <p:ext uri="{BB962C8B-B14F-4D97-AF65-F5344CB8AC3E}">
        <p14:creationId xmlns:p14="http://schemas.microsoft.com/office/powerpoint/2010/main" val="5641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3</a:t>
            </a:fld>
            <a:endParaRPr lang="zh-CN" altLang="en-US" sz="1200">
              <a:latin typeface="Lato" charset="0"/>
              <a:ea typeface="等线" charset="0"/>
              <a:cs typeface="Lato" charset="0"/>
            </a:endParaRPr>
          </a:p>
        </p:txBody>
      </p:sp>
      <p:sp>
        <p:nvSpPr>
          <p:cNvPr id="84"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3</a:t>
            </a:fld>
            <a:endParaRPr lang="zh-CN" altLang="en-US" sz="1200">
              <a:latin typeface="Lato" charset="0"/>
              <a:ea typeface="等线" charset="0"/>
              <a:cs typeface="Lato" charset="0"/>
            </a:endParaRPr>
          </a:p>
        </p:txBody>
      </p:sp>
      <p:sp>
        <p:nvSpPr>
          <p:cNvPr id="8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3</a:t>
            </a:fld>
            <a:endParaRPr lang="zh-CN" altLang="en-US" sz="1200">
              <a:latin typeface="Lato" charset="0"/>
              <a:ea typeface="等线" charset="0"/>
              <a:cs typeface="Lato" charset="0"/>
            </a:endParaRPr>
          </a:p>
        </p:txBody>
      </p:sp>
      <p:sp>
        <p:nvSpPr>
          <p:cNvPr id="86"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87"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1:10.
Imagine a dormitory with several roommates. The common area becomes dirty, but nobody is clearly responsible for cleaning it. Each student may think somebody else should do it. Eventually, the roommate who cares most about cleanliness cannot stand the situation and does the work. This student loses personal time and may feel treated unfairly. The others may not even realize that a conflict is developing. Over time, this can damage the atmosphere in the dorm. This is the core observed problem described in our research notes. It is not just about dust or rubbish. It is also about unclear responsibility, unequal work and the emotional cost of living together.
Sources and clarification: CEM pre.docx: Observed problem. This slide is an illustrative scenario, not a verbatim interview quote.</a:t>
            </a:r>
            <a:endParaRPr lang="zh-CN" altLang="en-US"/>
          </a:p>
        </p:txBody>
      </p:sp>
      <p:sp>
        <p:nvSpPr>
          <p:cNvPr id="88"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3</a:t>
            </a:fld>
            <a:endParaRPr lang="zh-CN" altLang="en-US"/>
          </a:p>
        </p:txBody>
      </p:sp>
    </p:spTree>
    <p:extLst>
      <p:ext uri="{BB962C8B-B14F-4D97-AF65-F5344CB8AC3E}">
        <p14:creationId xmlns:p14="http://schemas.microsoft.com/office/powerpoint/2010/main" val="1827639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4</a:t>
            </a:fld>
            <a:endParaRPr lang="zh-CN" altLang="en-US" sz="1200">
              <a:latin typeface="Lato" charset="0"/>
              <a:ea typeface="等线" charset="0"/>
              <a:cs typeface="Lato" charset="0"/>
            </a:endParaRPr>
          </a:p>
        </p:txBody>
      </p:sp>
      <p:sp>
        <p:nvSpPr>
          <p:cNvPr id="109"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4</a:t>
            </a:fld>
            <a:endParaRPr lang="zh-CN" altLang="en-US" sz="1200">
              <a:latin typeface="Lato" charset="0"/>
              <a:ea typeface="等线" charset="0"/>
              <a:cs typeface="Lato" charset="0"/>
            </a:endParaRPr>
          </a:p>
        </p:txBody>
      </p:sp>
      <p:sp>
        <p:nvSpPr>
          <p:cNvPr id="11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4</a:t>
            </a:fld>
            <a:endParaRPr lang="zh-CN" altLang="en-US" sz="1200">
              <a:latin typeface="Lato" charset="0"/>
              <a:ea typeface="等线" charset="0"/>
              <a:cs typeface="Lato" charset="0"/>
            </a:endParaRPr>
          </a:p>
        </p:txBody>
      </p:sp>
      <p:sp>
        <p:nvSpPr>
          <p:cNvPr id="111"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12"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eaLnBrk="1" fontAlgn="auto" latinLnBrk="0" hangingPunct="1"/>
            <a:r>
              <a:rPr lang="en-US" altLang="zh-CN" sz="1200" kern="1200">
                <a:solidFill>
                  <a:schemeClr val="tx1"/>
                </a:solidFill>
                <a:latin typeface="Lato" charset="0"/>
                <a:ea typeface="等线" charset="0"/>
                <a:cs typeface="Lato" charset="0"/>
              </a:rPr>
              <a:t>Estimated speaking time: 1:10.
Imagine a dormitory with several roommates. The common area becomes dirty, but nobody is clearly responsible for cleaning it. Each student may think somebody else should do it. Eventually, the roommate who cares most about cleanliness cannot stand the situation and does the work. This student loses personal time and may feel treated unfairly. The others may not even realize that a conflict is developing. Over time, this can damage the atmosphere in the dorm. This is the core observed problem described in our research notes. It is not just about dust or rubbish. It is also about unclear responsibility, unequal work and the emotional cost of living together.
Sources and clarification: CEM pre.docx: Observed problem. This slide is an illustrative scenario, not a verbatim interview quote.</a:t>
            </a:r>
            <a:endParaRPr lang="zh-CN" altLang="en-US" sz="1200" kern="1200">
              <a:solidFill>
                <a:schemeClr val="tx1"/>
              </a:solidFill>
              <a:latin typeface="Lato" charset="0"/>
              <a:ea typeface="等线" charset="0"/>
              <a:cs typeface="Lato" charset="0"/>
            </a:endParaRPr>
          </a:p>
        </p:txBody>
      </p:sp>
      <p:sp>
        <p:nvSpPr>
          <p:cNvPr id="113"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4</a:t>
            </a:fld>
            <a:endParaRPr lang="zh-CN" altLang="en-US"/>
          </a:p>
        </p:txBody>
      </p:sp>
    </p:spTree>
    <p:extLst>
      <p:ext uri="{BB962C8B-B14F-4D97-AF65-F5344CB8AC3E}">
        <p14:creationId xmlns:p14="http://schemas.microsoft.com/office/powerpoint/2010/main" val="1187770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5</a:t>
            </a:fld>
            <a:endParaRPr lang="zh-CN" altLang="en-US" sz="1200">
              <a:latin typeface="Lato" charset="0"/>
              <a:ea typeface="等线" charset="0"/>
              <a:cs typeface="Lato" charset="0"/>
            </a:endParaRPr>
          </a:p>
        </p:txBody>
      </p:sp>
      <p:sp>
        <p:nvSpPr>
          <p:cNvPr id="13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5</a:t>
            </a:fld>
            <a:endParaRPr lang="zh-CN" altLang="en-US" sz="1200">
              <a:latin typeface="Lato" charset="0"/>
              <a:ea typeface="等线" charset="0"/>
              <a:cs typeface="Lato" charset="0"/>
            </a:endParaRPr>
          </a:p>
        </p:txBody>
      </p:sp>
      <p:sp>
        <p:nvSpPr>
          <p:cNvPr id="13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5</a:t>
            </a:fld>
            <a:endParaRPr lang="zh-CN" altLang="en-US" sz="1200">
              <a:latin typeface="Lato" charset="0"/>
              <a:ea typeface="等线" charset="0"/>
              <a:cs typeface="Lato" charset="0"/>
            </a:endParaRPr>
          </a:p>
        </p:txBody>
      </p:sp>
      <p:sp>
        <p:nvSpPr>
          <p:cNvPr id="138"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39"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1:05.
Instead of trying to serve every student immediately, we chose a specific target customer. Our primary user is the hygiene-conscious student who repeatedly cleans shared areas because other roommates are less motivated or responsibilities are unclear. For this student, the cost is broader than the cleaning task itself. There is a time cost, since cleaning can interrupt studying or rest. There is a fairness cost, because one person carries more work than others. And there is a relationship cost, since asking roommates to do their share can be uncomfortable. A focused target customer helps us test whether JEBO creates real value. Other users might benefit too, but this is our starting segment.
Sources and clarification: CEM pre.docx: Targeted Customer and Observed problem.</a:t>
            </a:r>
            <a:endParaRPr lang="zh-CN" altLang="en-US"/>
          </a:p>
        </p:txBody>
      </p:sp>
      <p:sp>
        <p:nvSpPr>
          <p:cNvPr id="140"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5</a:t>
            </a:fld>
            <a:endParaRPr lang="zh-CN" altLang="en-US"/>
          </a:p>
        </p:txBody>
      </p:sp>
    </p:spTree>
    <p:extLst>
      <p:ext uri="{BB962C8B-B14F-4D97-AF65-F5344CB8AC3E}">
        <p14:creationId xmlns:p14="http://schemas.microsoft.com/office/powerpoint/2010/main" val="185349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6</a:t>
            </a:fld>
            <a:endParaRPr lang="zh-CN" altLang="en-US" sz="1200">
              <a:latin typeface="Lato" charset="0"/>
              <a:ea typeface="等线" charset="0"/>
              <a:cs typeface="Lato" charset="0"/>
            </a:endParaRPr>
          </a:p>
        </p:txBody>
      </p:sp>
      <p:sp>
        <p:nvSpPr>
          <p:cNvPr id="17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6</a:t>
            </a:fld>
            <a:endParaRPr lang="zh-CN" altLang="en-US" sz="1200">
              <a:latin typeface="Lato" charset="0"/>
              <a:ea typeface="等线" charset="0"/>
              <a:cs typeface="Lato" charset="0"/>
            </a:endParaRPr>
          </a:p>
        </p:txBody>
      </p:sp>
      <p:sp>
        <p:nvSpPr>
          <p:cNvPr id="171"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6</a:t>
            </a:fld>
            <a:endParaRPr lang="zh-CN" altLang="en-US" sz="1200">
              <a:latin typeface="Lato" charset="0"/>
              <a:ea typeface="等线" charset="0"/>
              <a:cs typeface="Lato" charset="0"/>
            </a:endParaRPr>
          </a:p>
        </p:txBody>
      </p:sp>
      <p:sp>
        <p:nvSpPr>
          <p:cNvPr id="172"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73"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eaLnBrk="1" fontAlgn="auto" latinLnBrk="0" hangingPunct="1"/>
            <a:r>
              <a:rPr lang="en-US" altLang="zh-CN" sz="1200" kern="1200">
                <a:solidFill>
                  <a:schemeClr val="tx1"/>
                </a:solidFill>
                <a:latin typeface="Lato" charset="0"/>
                <a:ea typeface="等线" charset="0"/>
                <a:cs typeface="Lato" charset="0"/>
              </a:rPr>
              <a:t>Estimated speaking time: 1:25.
Our proposed solution is JEBO, a platform that brings information about campus cleaning staff into one accessible place. Students could discover available cleaners and see clearer information about the scope and cost of different services. Based on the interviews, we would also want visible credentials or other trust signals, because students care about who enters their living space. We may introduce roommate coordination features, such as collecting approval or sharing a request, but these are still proposed design directions rather than built or validated functionality. The value proposition is to reduce the time spent searching for help and the tension caused by unequal cleaning work. Our long-term goal is not simply a booking screen; it is to make shared dormitory cleaning easier to arrange fairly.
Sources and clarification: CEM pre.docx: Value proposition; added discovery/compare/coordinate directions are clearly labeled as proposals.</a:t>
            </a:r>
            <a:endParaRPr lang="zh-CN" altLang="en-US" sz="1200" kern="1200">
              <a:solidFill>
                <a:schemeClr val="tx1"/>
              </a:solidFill>
              <a:latin typeface="Lato" charset="0"/>
              <a:ea typeface="等线" charset="0"/>
              <a:cs typeface="Lato" charset="0"/>
            </a:endParaRPr>
          </a:p>
        </p:txBody>
      </p:sp>
      <p:sp>
        <p:nvSpPr>
          <p:cNvPr id="174"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6</a:t>
            </a:fld>
            <a:endParaRPr lang="zh-CN" altLang="en-US"/>
          </a:p>
        </p:txBody>
      </p:sp>
    </p:spTree>
    <p:extLst>
      <p:ext uri="{BB962C8B-B14F-4D97-AF65-F5344CB8AC3E}">
        <p14:creationId xmlns:p14="http://schemas.microsoft.com/office/powerpoint/2010/main" val="1965964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7</a:t>
            </a:fld>
            <a:endParaRPr lang="zh-CN" altLang="en-US" sz="1200">
              <a:latin typeface="Lato" charset="0"/>
              <a:ea typeface="等线" charset="0"/>
              <a:cs typeface="Lato" charset="0"/>
            </a:endParaRPr>
          </a:p>
        </p:txBody>
      </p:sp>
      <p:sp>
        <p:nvSpPr>
          <p:cNvPr id="19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7</a:t>
            </a:fld>
            <a:endParaRPr lang="zh-CN" altLang="en-US" sz="1200">
              <a:latin typeface="Lato" charset="0"/>
              <a:ea typeface="等线" charset="0"/>
              <a:cs typeface="Lato" charset="0"/>
            </a:endParaRPr>
          </a:p>
        </p:txBody>
      </p:sp>
      <p:sp>
        <p:nvSpPr>
          <p:cNvPr id="19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7</a:t>
            </a:fld>
            <a:endParaRPr lang="zh-CN" altLang="en-US" sz="1200">
              <a:latin typeface="Lato" charset="0"/>
              <a:ea typeface="等线" charset="0"/>
              <a:cs typeface="Lato" charset="0"/>
            </a:endParaRPr>
          </a:p>
        </p:txBody>
      </p:sp>
      <p:sp>
        <p:nvSpPr>
          <p:cNvPr id="197"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9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1:05.
We also reviewed previous research to check whether our observation is reasonable beyond our own project. A 2018 questionnaire of 165 college students found that coordination with roommates was the most common reported cleaning difficulty, at 35 percent. Another 32 percent said they were too busy. A separate 2014 study reported that 55.6 percent of dormitories had a rotating duty system. Within this group, 58.9 percent strictly followed it. Multiplying these percentages suggests that approximately one third of all surveyed dormitories both had and followed a duty roster. These figures do not describe our own campus or one representative national population. Other studies, including Zhou's 2016 study, report higher adoption of cleaning routines. That variation is exactly why we still need customer-specific evidence.
Sources and clarification: Numbers drawn from 论文调查数据.docx, studies 1–3. Derived ≈32.8% is 55.6% × 58.9%.</a:t>
            </a:r>
            <a:endParaRPr lang="zh-CN" altLang="en-US"/>
          </a:p>
        </p:txBody>
      </p:sp>
      <p:sp>
        <p:nvSpPr>
          <p:cNvPr id="199"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7</a:t>
            </a:fld>
            <a:endParaRPr lang="zh-CN" altLang="en-US"/>
          </a:p>
        </p:txBody>
      </p:sp>
    </p:spTree>
    <p:extLst>
      <p:ext uri="{BB962C8B-B14F-4D97-AF65-F5344CB8AC3E}">
        <p14:creationId xmlns:p14="http://schemas.microsoft.com/office/powerpoint/2010/main" val="908416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8</a:t>
            </a:fld>
            <a:endParaRPr lang="zh-CN" altLang="en-US" sz="1200">
              <a:latin typeface="Lato" charset="0"/>
              <a:ea typeface="等线" charset="0"/>
              <a:cs typeface="Lato" charset="0"/>
            </a:endParaRPr>
          </a:p>
        </p:txBody>
      </p:sp>
      <p:sp>
        <p:nvSpPr>
          <p:cNvPr id="227"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8</a:t>
            </a:fld>
            <a:endParaRPr lang="zh-CN" altLang="en-US" sz="1200">
              <a:latin typeface="Lato" charset="0"/>
              <a:ea typeface="等线" charset="0"/>
              <a:cs typeface="Lato" charset="0"/>
            </a:endParaRPr>
          </a:p>
        </p:txBody>
      </p:sp>
      <p:sp>
        <p:nvSpPr>
          <p:cNvPr id="228"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8</a:t>
            </a:fld>
            <a:endParaRPr lang="zh-CN" altLang="en-US" sz="1200">
              <a:latin typeface="Lato" charset="0"/>
              <a:ea typeface="等线" charset="0"/>
              <a:cs typeface="Lato" charset="0"/>
            </a:endParaRPr>
          </a:p>
        </p:txBody>
      </p:sp>
      <p:sp>
        <p:nvSpPr>
          <p:cNvPr id="229"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30"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1:05.
Our team did not rely on a single method. First, we had sixteen valid responses to a dormitory cleaning questionnaire. This gives us numerical patterns, but it is a small convenience sample, so we should not generalize its percentages to all universities. Second, one qualitative interview set included six participants. Four described difficulty arranging cleaning staff or said their common areas had never been cleaned because contact channels were missing. Third, our notes include three detailed cases of students who already used paid cleaners through private channels. These cases provide useful behavior evidence, but they are not an additional independent survey sample. Finally, we reviewed published research to understand how these findings compare with existing literature.
Sources and clarification: CEM pre.docx: interviews and named cases; embedded screenshot: valid survey n=16. Note: cases are not counted as independent population samples.</a:t>
            </a:r>
            <a:endParaRPr lang="zh-CN" altLang="en-US"/>
          </a:p>
        </p:txBody>
      </p:sp>
      <p:sp>
        <p:nvSpPr>
          <p:cNvPr id="231"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8</a:t>
            </a:fld>
            <a:endParaRPr lang="zh-CN" altLang="en-US"/>
          </a:p>
        </p:txBody>
      </p:sp>
    </p:spTree>
    <p:extLst>
      <p:ext uri="{BB962C8B-B14F-4D97-AF65-F5344CB8AC3E}">
        <p14:creationId xmlns:p14="http://schemas.microsoft.com/office/powerpoint/2010/main" val="784419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9</a:t>
            </a:fld>
            <a:endParaRPr lang="zh-CN" altLang="en-US" sz="1200">
              <a:latin typeface="Lato" charset="0"/>
              <a:ea typeface="等线" charset="0"/>
              <a:cs typeface="Lato" charset="0"/>
            </a:endParaRPr>
          </a:p>
        </p:txBody>
      </p:sp>
      <p:sp>
        <p:nvSpPr>
          <p:cNvPr id="259"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9</a:t>
            </a:fld>
            <a:endParaRPr lang="zh-CN" altLang="en-US" sz="1200">
              <a:latin typeface="Lato" charset="0"/>
              <a:ea typeface="等线" charset="0"/>
              <a:cs typeface="Lato" charset="0"/>
            </a:endParaRPr>
          </a:p>
        </p:txBody>
      </p:sp>
      <p:sp>
        <p:nvSpPr>
          <p:cNvPr id="260"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9</a:t>
            </a:fld>
            <a:endParaRPr lang="zh-CN" altLang="en-US" sz="1200">
              <a:latin typeface="Lato" charset="0"/>
              <a:ea typeface="等线" charset="0"/>
              <a:cs typeface="Lato" charset="0"/>
            </a:endParaRPr>
          </a:p>
        </p:txBody>
      </p:sp>
      <p:sp>
        <p:nvSpPr>
          <p:cNvPr id="261"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62"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1:05.
Our questionnaire asked students how their dormitory cleaning is currently managed. Half of the sixteen respondents said they regularly call cleaners. About 31 percent reported a very different pattern: there is no regular cleaning, and the person who can no longer tolerate the mess eventually cleans it. Only 12.5 percent said cleaning duties rotate among roommates. One response fell under another arrangement. The first pattern is encouraging for the underlying paid-cleaning market, because some students are already paying. The second pattern supports our original problem statement about unequal responsibility. But we must be careful: use of any cleaning service is not evidence that students want a new platform. We will investigate that distinction in later slides.
Sources and clarification: Questionnaire screenshot, Q3, n=16.</a:t>
            </a:r>
            <a:endParaRPr lang="zh-CN" altLang="en-US"/>
          </a:p>
        </p:txBody>
      </p:sp>
      <p:sp>
        <p:nvSpPr>
          <p:cNvPr id="263"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9</a:t>
            </a:fld>
            <a:endParaRPr lang="zh-CN" altLang="en-US"/>
          </a:p>
        </p:txBody>
      </p:sp>
    </p:spTree>
    <p:extLst>
      <p:ext uri="{BB962C8B-B14F-4D97-AF65-F5344CB8AC3E}">
        <p14:creationId xmlns:p14="http://schemas.microsoft.com/office/powerpoint/2010/main" val="1976769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10</a:t>
            </a:fld>
            <a:endParaRPr lang="zh-CN" altLang="en-US" sz="1200">
              <a:latin typeface="Lato" charset="0"/>
              <a:ea typeface="等线" charset="0"/>
              <a:cs typeface="Lato" charset="0"/>
            </a:endParaRPr>
          </a:p>
        </p:txBody>
      </p:sp>
      <p:sp>
        <p:nvSpPr>
          <p:cNvPr id="284"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10</a:t>
            </a:fld>
            <a:endParaRPr lang="zh-CN" altLang="en-US" sz="1200">
              <a:latin typeface="Lato" charset="0"/>
              <a:ea typeface="等线" charset="0"/>
              <a:cs typeface="Lato" charset="0"/>
            </a:endParaRPr>
          </a:p>
        </p:txBody>
      </p:sp>
      <p:sp>
        <p:nvSpPr>
          <p:cNvPr id="28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10</a:t>
            </a:fld>
            <a:endParaRPr lang="zh-CN" altLang="en-US" sz="1200">
              <a:latin typeface="Lato" charset="0"/>
              <a:ea typeface="等线" charset="0"/>
              <a:cs typeface="Lato" charset="0"/>
            </a:endParaRPr>
          </a:p>
        </p:txBody>
      </p:sp>
      <p:sp>
        <p:nvSpPr>
          <p:cNvPr id="286"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87"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1:10.
When asked about difficulties during cleaning, 62.5 percent selected hard-to-clean areas, such as bathrooms. Another 56.25 percent selected difficulty coordinating roommates because people had different levels of motivation. Half of respondents said academic workloads left them too busy to clean. Since participants could select more than one difficulty, these percentages overlap and should not be added together. This finding refines our original idea. A useful service might have to do more than remind roommates to clean. It may need to provide practical help with difficult tasks, remove coordination friction and save time. However, these survey responses still describe problems, not a firm purchase decision.
Sources and clarification: Questionnaire screenshot, Q4, n=16, multi-select.</a:t>
            </a:r>
            <a:endParaRPr lang="zh-CN" altLang="en-US"/>
          </a:p>
        </p:txBody>
      </p:sp>
      <p:sp>
        <p:nvSpPr>
          <p:cNvPr id="288"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10</a:t>
            </a:fld>
            <a:endParaRPr lang="zh-CN" altLang="en-US"/>
          </a:p>
        </p:txBody>
      </p:sp>
    </p:spTree>
    <p:extLst>
      <p:ext uri="{BB962C8B-B14F-4D97-AF65-F5344CB8AC3E}">
        <p14:creationId xmlns:p14="http://schemas.microsoft.com/office/powerpoint/2010/main" val="259016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11</a:t>
            </a:fld>
            <a:endParaRPr lang="zh-CN" altLang="en-US" sz="1200">
              <a:latin typeface="Lato" charset="0"/>
              <a:ea typeface="等线" charset="0"/>
              <a:cs typeface="Lato" charset="0"/>
            </a:endParaRPr>
          </a:p>
        </p:txBody>
      </p:sp>
      <p:sp>
        <p:nvSpPr>
          <p:cNvPr id="301"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11</a:t>
            </a:fld>
            <a:endParaRPr lang="zh-CN" altLang="en-US" sz="1200">
              <a:latin typeface="Lato" charset="0"/>
              <a:ea typeface="等线" charset="0"/>
              <a:cs typeface="Lato" charset="0"/>
            </a:endParaRPr>
          </a:p>
        </p:txBody>
      </p:sp>
      <p:sp>
        <p:nvSpPr>
          <p:cNvPr id="302"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11</a:t>
            </a:fld>
            <a:endParaRPr lang="zh-CN" altLang="en-US" sz="1200">
              <a:latin typeface="Lato" charset="0"/>
              <a:ea typeface="等线" charset="0"/>
              <a:cs typeface="Lato" charset="0"/>
            </a:endParaRPr>
          </a:p>
        </p:txBody>
      </p:sp>
      <p:sp>
        <p:nvSpPr>
          <p:cNvPr id="303"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04"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1:10.
One of our small interview sets revealed a second problem: access to cleaning staff. Four of the six people interviewed said their dormitory common areas had never been cleaned because there was no clear way to contact or communicate with cleaners. This is not a population statistic; six interviews cannot tell us the prevalence across a whole university. But it is useful as an early qualitative signal. Interestingly, in other dormitories, students had already found cleaners through private WeChat messages or phone calls. That difference suggests that the problem is not simply the absence of cleaning staff. It may be an information and coordination problem: students need a convenient, trusted way to discover what services are available and how to arrange them.
Sources and clarification: CEM pre.docx: Huang Junliang, four of six interviewees.</a:t>
            </a:r>
            <a:endParaRPr lang="zh-CN" altLang="en-US"/>
          </a:p>
        </p:txBody>
      </p:sp>
      <p:sp>
        <p:nvSpPr>
          <p:cNvPr id="305"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11</a:t>
            </a:fld>
            <a:endParaRPr lang="zh-CN" altLang="en-US"/>
          </a:p>
        </p:txBody>
      </p:sp>
    </p:spTree>
    <p:extLst>
      <p:ext uri="{BB962C8B-B14F-4D97-AF65-F5344CB8AC3E}">
        <p14:creationId xmlns:p14="http://schemas.microsoft.com/office/powerpoint/2010/main" val="359590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12</a:t>
            </a:fld>
            <a:endParaRPr lang="zh-CN" altLang="en-US" sz="1200">
              <a:latin typeface="Lato" charset="0"/>
              <a:ea typeface="等线" charset="0"/>
              <a:cs typeface="Lato" charset="0"/>
            </a:endParaRPr>
          </a:p>
        </p:txBody>
      </p:sp>
      <p:sp>
        <p:nvSpPr>
          <p:cNvPr id="331"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12</a:t>
            </a:fld>
            <a:endParaRPr lang="zh-CN" altLang="en-US" sz="1200">
              <a:latin typeface="Lato" charset="0"/>
              <a:ea typeface="等线" charset="0"/>
              <a:cs typeface="Lato" charset="0"/>
            </a:endParaRPr>
          </a:p>
        </p:txBody>
      </p:sp>
      <p:sp>
        <p:nvSpPr>
          <p:cNvPr id="332"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12</a:t>
            </a:fld>
            <a:endParaRPr lang="zh-CN" altLang="en-US" sz="1200">
              <a:latin typeface="Lato" charset="0"/>
              <a:ea typeface="等线" charset="0"/>
              <a:cs typeface="Lato" charset="0"/>
            </a:endParaRPr>
          </a:p>
        </p:txBody>
      </p:sp>
      <p:sp>
        <p:nvSpPr>
          <p:cNvPr id="333"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34"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1:15.
Here is one particularly useful case from our interviews. Eight students shared the cost of a cleaner arranged through private WeChat. The cleaner visited every two or three weeks. The reported payment was eighty yuan for two hours, or about ten yuan per roommate when split evenly. This matters because it is a real behavior rather than hypothetical interest. Students are already finding ways to solve the problem, and the per-person price can become low when roommates share the bill. However, it also presents a challenge to our business idea. If WeChat booking already works, why would students move to JEBO? A new interface alone may not be compelling. We have to show meaningful advantages, such as more reliable contact information, clearer scope, transparent pricing, or quality assurance.
Sources and clarification: CEM pre.docx: paid-cleaner Case A.</a:t>
            </a:r>
            <a:endParaRPr lang="zh-CN" altLang="en-US"/>
          </a:p>
        </p:txBody>
      </p:sp>
      <p:sp>
        <p:nvSpPr>
          <p:cNvPr id="335"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12</a:t>
            </a:fld>
            <a:endParaRPr lang="zh-CN" altLang="en-US"/>
          </a:p>
        </p:txBody>
      </p:sp>
    </p:spTree>
    <p:extLst>
      <p:ext uri="{BB962C8B-B14F-4D97-AF65-F5344CB8AC3E}">
        <p14:creationId xmlns:p14="http://schemas.microsoft.com/office/powerpoint/2010/main" val="350775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1CF44B-E808-977D-4D01-8A81D4A9A384}"/>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4FD659D2-A150-2F82-C253-1F026D7F3668}"/>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13</a:t>
            </a:fld>
            <a:endParaRPr lang="zh-CN" altLang="en-US" sz="1200">
              <a:latin typeface="Lato" charset="0"/>
              <a:ea typeface="等线" charset="0"/>
              <a:cs typeface="Lato" charset="0"/>
            </a:endParaRPr>
          </a:p>
        </p:txBody>
      </p:sp>
      <p:sp>
        <p:nvSpPr>
          <p:cNvPr id="301" name="矩形">
            <a:extLst>
              <a:ext uri="{FF2B5EF4-FFF2-40B4-BE49-F238E27FC236}">
                <a16:creationId xmlns:a16="http://schemas.microsoft.com/office/drawing/2014/main" id="{8E5569E6-4B9A-347F-590E-0475A3153862}"/>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13</a:t>
            </a:fld>
            <a:endParaRPr lang="zh-CN" altLang="en-US" sz="1200">
              <a:latin typeface="Lato" charset="0"/>
              <a:ea typeface="等线" charset="0"/>
              <a:cs typeface="Lato" charset="0"/>
            </a:endParaRPr>
          </a:p>
        </p:txBody>
      </p:sp>
      <p:sp>
        <p:nvSpPr>
          <p:cNvPr id="302" name="矩形">
            <a:extLst>
              <a:ext uri="{FF2B5EF4-FFF2-40B4-BE49-F238E27FC236}">
                <a16:creationId xmlns:a16="http://schemas.microsoft.com/office/drawing/2014/main" id="{1C5D3DD6-DAE6-E086-CA42-215D5C780E43}"/>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13</a:t>
            </a:fld>
            <a:endParaRPr lang="zh-CN" altLang="en-US" sz="1200">
              <a:latin typeface="Lato" charset="0"/>
              <a:ea typeface="等线" charset="0"/>
              <a:cs typeface="Lato" charset="0"/>
            </a:endParaRPr>
          </a:p>
        </p:txBody>
      </p:sp>
      <p:sp>
        <p:nvSpPr>
          <p:cNvPr id="303" name="对象">
            <a:extLst>
              <a:ext uri="{FF2B5EF4-FFF2-40B4-BE49-F238E27FC236}">
                <a16:creationId xmlns:a16="http://schemas.microsoft.com/office/drawing/2014/main" id="{F77EF1CD-B4D2-2AB9-F6FB-CAE1A0758B3D}"/>
              </a:ext>
            </a:extLst>
          </p:cNvPr>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04" name="文本框">
            <a:extLst>
              <a:ext uri="{FF2B5EF4-FFF2-40B4-BE49-F238E27FC236}">
                <a16:creationId xmlns:a16="http://schemas.microsoft.com/office/drawing/2014/main" id="{A9C36A1A-B971-1601-4BF2-739C804D83A4}"/>
              </a:ext>
            </a:extLst>
          </p:cNvPr>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1:10.
One of our small interview sets revealed a second problem: access to cleaning staff. Four of the six people interviewed said their dormitory common areas had never been cleaned because there was no clear way to contact or communicate with cleaners. This is not a population statistic; six interviews cannot tell us the prevalence across a whole university. But it is useful as an early qualitative signal. Interestingly, in other dormitories, students had already found cleaners through private WeChat messages or phone calls. That difference suggests that the problem is not simply the absence of cleaning staff. It may be an information and coordination problem: students need a convenient, trusted way to discover what services are available and how to arrange them.
Sources and clarification: CEM pre.docx: Huang Junliang, four of six interviewees.</a:t>
            </a:r>
            <a:endParaRPr lang="zh-CN" altLang="en-US"/>
          </a:p>
        </p:txBody>
      </p:sp>
      <p:sp>
        <p:nvSpPr>
          <p:cNvPr id="305" name="矩形">
            <a:extLst>
              <a:ext uri="{FF2B5EF4-FFF2-40B4-BE49-F238E27FC236}">
                <a16:creationId xmlns:a16="http://schemas.microsoft.com/office/drawing/2014/main" id="{D87AE38B-1FD5-9E73-AF06-F956BF7C4D1C}"/>
              </a:ext>
            </a:extLst>
          </p:cNvPr>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13</a:t>
            </a:fld>
            <a:endParaRPr lang="zh-CN" altLang="en-US"/>
          </a:p>
        </p:txBody>
      </p:sp>
    </p:spTree>
    <p:extLst>
      <p:ext uri="{BB962C8B-B14F-4D97-AF65-F5344CB8AC3E}">
        <p14:creationId xmlns:p14="http://schemas.microsoft.com/office/powerpoint/2010/main" val="4057488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14</a:t>
            </a:fld>
            <a:endParaRPr lang="zh-CN" altLang="en-US" sz="1200">
              <a:latin typeface="Lato" charset="0"/>
              <a:ea typeface="等线" charset="0"/>
              <a:cs typeface="Lato" charset="0"/>
            </a:endParaRPr>
          </a:p>
        </p:txBody>
      </p:sp>
      <p:sp>
        <p:nvSpPr>
          <p:cNvPr id="361"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14</a:t>
            </a:fld>
            <a:endParaRPr lang="zh-CN" altLang="en-US" sz="1200">
              <a:latin typeface="Lato" charset="0"/>
              <a:ea typeface="等线" charset="0"/>
              <a:cs typeface="Lato" charset="0"/>
            </a:endParaRPr>
          </a:p>
        </p:txBody>
      </p:sp>
      <p:sp>
        <p:nvSpPr>
          <p:cNvPr id="362"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14</a:t>
            </a:fld>
            <a:endParaRPr lang="zh-CN" altLang="en-US" sz="1200">
              <a:latin typeface="Lato" charset="0"/>
              <a:ea typeface="等线" charset="0"/>
              <a:cs typeface="Lato" charset="0"/>
            </a:endParaRPr>
          </a:p>
        </p:txBody>
      </p:sp>
      <p:sp>
        <p:nvSpPr>
          <p:cNvPr id="363"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64"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1:00.
Our survey also asked what types of service students would want from a dorm cleaning provider. Seventy-five percent selected an overall basic cleaning package. Almost 69 percent selected bathroom cleaning and disinfection. Floor cleaning was selected by 56 percent, while 50 percent selected deep cleaning. These results suggest that a basic package combined with more difficult bathroom work may be a reasonable starting point. They also support our earlier finding that students struggle with areas that are unpleasant or hard to clean. Because this was a multiple-choice question, students could select several services. We should not interpret the response percentages as confirmed bookings, and the small sample means we should use these results to design an experiment rather than finalize the entire product.
Sources and clarification: Questionnaire screenshot, Q8.</a:t>
            </a:r>
            <a:endParaRPr lang="zh-CN" altLang="en-US"/>
          </a:p>
        </p:txBody>
      </p:sp>
      <p:sp>
        <p:nvSpPr>
          <p:cNvPr id="365"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14</a:t>
            </a:fld>
            <a:endParaRPr lang="zh-CN" altLang="en-US"/>
          </a:p>
        </p:txBody>
      </p:sp>
    </p:spTree>
    <p:extLst>
      <p:ext uri="{BB962C8B-B14F-4D97-AF65-F5344CB8AC3E}">
        <p14:creationId xmlns:p14="http://schemas.microsoft.com/office/powerpoint/2010/main" val="729255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15</a:t>
            </a:fld>
            <a:endParaRPr lang="zh-CN" altLang="en-US" sz="1200">
              <a:latin typeface="Lato" charset="0"/>
              <a:ea typeface="等线" charset="0"/>
              <a:cs typeface="Lato" charset="0"/>
            </a:endParaRPr>
          </a:p>
        </p:txBody>
      </p:sp>
      <p:sp>
        <p:nvSpPr>
          <p:cNvPr id="401"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15</a:t>
            </a:fld>
            <a:endParaRPr lang="zh-CN" altLang="en-US" sz="1200">
              <a:latin typeface="Lato" charset="0"/>
              <a:ea typeface="等线" charset="0"/>
              <a:cs typeface="Lato" charset="0"/>
            </a:endParaRPr>
          </a:p>
        </p:txBody>
      </p:sp>
      <p:sp>
        <p:nvSpPr>
          <p:cNvPr id="402"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15</a:t>
            </a:fld>
            <a:endParaRPr lang="zh-CN" altLang="en-US" sz="1200">
              <a:latin typeface="Lato" charset="0"/>
              <a:ea typeface="等线" charset="0"/>
              <a:cs typeface="Lato" charset="0"/>
            </a:endParaRPr>
          </a:p>
        </p:txBody>
      </p:sp>
      <p:sp>
        <p:nvSpPr>
          <p:cNvPr id="403"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04"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1:20.
Payment is closely linked to roommate coordination. In our survey, fourteen out of sixteen respondents preferred equal cost sharing among roommates. Only two selected a dormitory common fund, and none selected one person paying the full amount. We also asked about the maximum acceptable price per cleaning order. The most popular answer was forty yuan, chosen by 37.5 percent. Another 18.75 percent chose twenty yuan. Together, just over half placed their ceiling at forty yuan or less, while others selected higher brackets. This is a stated budget in our small sample, not proof of willingness to purchase at that price. We also know from interviews that actual shared expenses can differ, because price depends on the service duration and how many roommates share the bill.
Sources and clarification: Questionnaire screenshot, Q7 and Q11, n=16.</a:t>
            </a:r>
            <a:endParaRPr lang="zh-CN" altLang="en-US"/>
          </a:p>
        </p:txBody>
      </p:sp>
      <p:sp>
        <p:nvSpPr>
          <p:cNvPr id="405"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15</a:t>
            </a:fld>
            <a:endParaRPr lang="zh-CN" altLang="en-US"/>
          </a:p>
        </p:txBody>
      </p:sp>
    </p:spTree>
    <p:extLst>
      <p:ext uri="{BB962C8B-B14F-4D97-AF65-F5344CB8AC3E}">
        <p14:creationId xmlns:p14="http://schemas.microsoft.com/office/powerpoint/2010/main" val="832168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D6FBD7-7416-7BD9-EE0B-90BAF53AA6A3}"/>
            </a:ext>
          </a:extLst>
        </p:cNvPr>
        <p:cNvGrpSpPr/>
        <p:nvPr/>
      </p:nvGrpSpPr>
      <p:grpSpPr>
        <a:xfrm>
          <a:off x="0" y="0"/>
          <a:ext cx="0" cy="0"/>
          <a:chOff x="0" y="0"/>
          <a:chExt cx="0" cy="0"/>
        </a:xfrm>
      </p:grpSpPr>
      <p:sp>
        <p:nvSpPr>
          <p:cNvPr id="2" name="文本框">
            <a:extLst>
              <a:ext uri="{FF2B5EF4-FFF2-40B4-BE49-F238E27FC236}">
                <a16:creationId xmlns:a16="http://schemas.microsoft.com/office/drawing/2014/main" id="{9A877B40-09C8-315C-D2D0-A400F1DD3996}"/>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16</a:t>
            </a:fld>
            <a:endParaRPr lang="zh-CN" altLang="en-US" sz="1200">
              <a:latin typeface="Lato" charset="0"/>
              <a:ea typeface="等线" charset="0"/>
              <a:cs typeface="Lato" charset="0"/>
            </a:endParaRPr>
          </a:p>
        </p:txBody>
      </p:sp>
      <p:sp>
        <p:nvSpPr>
          <p:cNvPr id="301" name="矩形">
            <a:extLst>
              <a:ext uri="{FF2B5EF4-FFF2-40B4-BE49-F238E27FC236}">
                <a16:creationId xmlns:a16="http://schemas.microsoft.com/office/drawing/2014/main" id="{AEACBD03-5C38-0E83-A65C-E38121D73522}"/>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16</a:t>
            </a:fld>
            <a:endParaRPr lang="zh-CN" altLang="en-US" sz="1200">
              <a:latin typeface="Lato" charset="0"/>
              <a:ea typeface="等线" charset="0"/>
              <a:cs typeface="Lato" charset="0"/>
            </a:endParaRPr>
          </a:p>
        </p:txBody>
      </p:sp>
      <p:sp>
        <p:nvSpPr>
          <p:cNvPr id="302" name="矩形">
            <a:extLst>
              <a:ext uri="{FF2B5EF4-FFF2-40B4-BE49-F238E27FC236}">
                <a16:creationId xmlns:a16="http://schemas.microsoft.com/office/drawing/2014/main" id="{4BD0D65B-32F6-9FF7-1DEC-F672D269F118}"/>
              </a:ext>
            </a:extLst>
          </p:cNvPr>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16</a:t>
            </a:fld>
            <a:endParaRPr lang="zh-CN" altLang="en-US" sz="1200">
              <a:latin typeface="Lato" charset="0"/>
              <a:ea typeface="等线" charset="0"/>
              <a:cs typeface="Lato" charset="0"/>
            </a:endParaRPr>
          </a:p>
        </p:txBody>
      </p:sp>
      <p:sp>
        <p:nvSpPr>
          <p:cNvPr id="303" name="对象">
            <a:extLst>
              <a:ext uri="{FF2B5EF4-FFF2-40B4-BE49-F238E27FC236}">
                <a16:creationId xmlns:a16="http://schemas.microsoft.com/office/drawing/2014/main" id="{3A81E909-EEBC-C42E-E868-765AA837AD11}"/>
              </a:ext>
            </a:extLst>
          </p:cNvPr>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04" name="文本框">
            <a:extLst>
              <a:ext uri="{FF2B5EF4-FFF2-40B4-BE49-F238E27FC236}">
                <a16:creationId xmlns:a16="http://schemas.microsoft.com/office/drawing/2014/main" id="{4D7B5000-B85F-23F0-8075-F78E1F3AFE6C}"/>
              </a:ext>
            </a:extLst>
          </p:cNvPr>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1:10.
One of our small interview sets revealed a second problem: access to cleaning staff. Four of the six people interviewed said their dormitory common areas had never been cleaned because there was no clear way to contact or communicate with cleaners. This is not a population statistic; six interviews cannot tell us the prevalence across a whole university. But it is useful as an early qualitative signal. Interestingly, in other dormitories, students had already found cleaners through private WeChat messages or phone calls. That difference suggests that the problem is not simply the absence of cleaning staff. It may be an information and coordination problem: students need a convenient, trusted way to discover what services are available and how to arrange them.
Sources and clarification: CEM pre.docx: Huang Junliang, four of six interviewees.</a:t>
            </a:r>
            <a:endParaRPr lang="zh-CN" altLang="en-US"/>
          </a:p>
        </p:txBody>
      </p:sp>
      <p:sp>
        <p:nvSpPr>
          <p:cNvPr id="305" name="矩形">
            <a:extLst>
              <a:ext uri="{FF2B5EF4-FFF2-40B4-BE49-F238E27FC236}">
                <a16:creationId xmlns:a16="http://schemas.microsoft.com/office/drawing/2014/main" id="{6FF8468A-689A-5A52-1239-4E837E730387}"/>
              </a:ext>
            </a:extLst>
          </p:cNvPr>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16</a:t>
            </a:fld>
            <a:endParaRPr lang="zh-CN" altLang="en-US"/>
          </a:p>
        </p:txBody>
      </p:sp>
    </p:spTree>
    <p:extLst>
      <p:ext uri="{BB962C8B-B14F-4D97-AF65-F5344CB8AC3E}">
        <p14:creationId xmlns:p14="http://schemas.microsoft.com/office/powerpoint/2010/main" val="4012076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17</a:t>
            </a:fld>
            <a:endParaRPr lang="zh-CN" altLang="en-US" sz="1200">
              <a:latin typeface="Lato" charset="0"/>
              <a:ea typeface="等线" charset="0"/>
              <a:cs typeface="Lato" charset="0"/>
            </a:endParaRPr>
          </a:p>
        </p:txBody>
      </p:sp>
      <p:sp>
        <p:nvSpPr>
          <p:cNvPr id="42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17</a:t>
            </a:fld>
            <a:endParaRPr lang="zh-CN" altLang="en-US" sz="1200">
              <a:latin typeface="Lato" charset="0"/>
              <a:ea typeface="等线" charset="0"/>
              <a:cs typeface="Lato" charset="0"/>
            </a:endParaRPr>
          </a:p>
        </p:txBody>
      </p:sp>
      <p:sp>
        <p:nvSpPr>
          <p:cNvPr id="42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17</a:t>
            </a:fld>
            <a:endParaRPr lang="zh-CN" altLang="en-US" sz="1200">
              <a:latin typeface="Lato" charset="0"/>
              <a:ea typeface="等线" charset="0"/>
              <a:cs typeface="Lato" charset="0"/>
            </a:endParaRPr>
          </a:p>
        </p:txBody>
      </p:sp>
      <p:sp>
        <p:nvSpPr>
          <p:cNvPr id="427"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2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1:20.
At this point we can make a careful distinction. We have evidence that some students already pay for dorm cleaning. We also have requests for transparent prices, service scope, cleaner credentials and quality assurance. However, we have much weaker evidence that students would switch from a working private WeChat contact to our platform. Two documented users were open to a JEBO trial only if their roommates approved. That is conditional interest, not a confirmed trial, and there was no verified platform conversion in these notes. Our questionnaire also found that 56.25 percent reported greater willingness to participate if guarantees such as paying after use or getting a refund were offered. This suggests trust features may help, but it does not prove adoption. Our product has to earn its place between students and the solution they already use.
Sources and clarification: CEM pre.docx: Zhang Juntong cases; questionnaire screenshot Q13.</a:t>
            </a:r>
            <a:endParaRPr lang="zh-CN" altLang="en-US"/>
          </a:p>
        </p:txBody>
      </p:sp>
      <p:sp>
        <p:nvSpPr>
          <p:cNvPr id="429"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17</a:t>
            </a:fld>
            <a:endParaRPr lang="zh-CN" altLang="en-US"/>
          </a:p>
        </p:txBody>
      </p:sp>
    </p:spTree>
    <p:extLst>
      <p:ext uri="{BB962C8B-B14F-4D97-AF65-F5344CB8AC3E}">
        <p14:creationId xmlns:p14="http://schemas.microsoft.com/office/powerpoint/2010/main" val="297190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18</a:t>
            </a:fld>
            <a:endParaRPr lang="zh-CN" altLang="en-US" sz="1200">
              <a:latin typeface="Lato" charset="0"/>
              <a:ea typeface="等线" charset="0"/>
              <a:cs typeface="Lato" charset="0"/>
            </a:endParaRPr>
          </a:p>
        </p:txBody>
      </p:sp>
      <p:sp>
        <p:nvSpPr>
          <p:cNvPr id="44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18</a:t>
            </a:fld>
            <a:endParaRPr lang="zh-CN" altLang="en-US" sz="1200">
              <a:latin typeface="Lato" charset="0"/>
              <a:ea typeface="等线" charset="0"/>
              <a:cs typeface="Lato" charset="0"/>
            </a:endParaRPr>
          </a:p>
        </p:txBody>
      </p:sp>
      <p:sp>
        <p:nvSpPr>
          <p:cNvPr id="44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18</a:t>
            </a:fld>
            <a:endParaRPr lang="zh-CN" altLang="en-US" sz="1200">
              <a:latin typeface="Lato" charset="0"/>
              <a:ea typeface="等线" charset="0"/>
              <a:cs typeface="Lato" charset="0"/>
            </a:endParaRPr>
          </a:p>
        </p:txBody>
      </p:sp>
      <p:sp>
        <p:nvSpPr>
          <p:cNvPr id="447"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4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1:20.
JEBO still needs a sustainable business model. The next hypothesis we want to test concerns cleaning staff rather than just student demand. Suppose a cleaner is willing to charge slightly less per room if several nearby dormitories book services together. The cleaner might save travel or searching time, complete more jobs and potentially maintain or improve total earnings. Students, meanwhile, might receive a better price. This is only a hypothesis. We do not yet know cleaners' minimum acceptable compensation, their job capacity, travel time, material costs or whether routing between dormitories is practical. A lower price is not automatically beneficial to suppliers, and more bookings do not automatically create profit. Before making any financial claim, we need to ask cleaners directly and compare actual costs with realistic booking volume.
Sources and clarification: CEM pre.docx: Next planned test.</a:t>
            </a:r>
            <a:endParaRPr lang="zh-CN" altLang="en-US"/>
          </a:p>
        </p:txBody>
      </p:sp>
      <p:sp>
        <p:nvSpPr>
          <p:cNvPr id="449"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18</a:t>
            </a:fld>
            <a:endParaRPr lang="zh-CN" altLang="en-US"/>
          </a:p>
        </p:txBody>
      </p:sp>
    </p:spTree>
    <p:extLst>
      <p:ext uri="{BB962C8B-B14F-4D97-AF65-F5344CB8AC3E}">
        <p14:creationId xmlns:p14="http://schemas.microsoft.com/office/powerpoint/2010/main" val="2066551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19</a:t>
            </a:fld>
            <a:endParaRPr lang="zh-CN" altLang="en-US" sz="1200">
              <a:latin typeface="Lato" charset="0"/>
              <a:ea typeface="等线" charset="0"/>
              <a:cs typeface="Lato" charset="0"/>
            </a:endParaRPr>
          </a:p>
        </p:txBody>
      </p:sp>
      <p:sp>
        <p:nvSpPr>
          <p:cNvPr id="475"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19</a:t>
            </a:fld>
            <a:endParaRPr lang="zh-CN" altLang="en-US" sz="1200">
              <a:latin typeface="Lato" charset="0"/>
              <a:ea typeface="等线" charset="0"/>
              <a:cs typeface="Lato" charset="0"/>
            </a:endParaRPr>
          </a:p>
        </p:txBody>
      </p:sp>
      <p:sp>
        <p:nvSpPr>
          <p:cNvPr id="476"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19</a:t>
            </a:fld>
            <a:endParaRPr lang="zh-CN" altLang="en-US" sz="1200">
              <a:latin typeface="Lato" charset="0"/>
              <a:ea typeface="等线" charset="0"/>
              <a:cs typeface="Lato" charset="0"/>
            </a:endParaRPr>
          </a:p>
        </p:txBody>
      </p:sp>
      <p:sp>
        <p:nvSpPr>
          <p:cNvPr id="477"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7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1:30.
Our next planned experiment is to interview campus cleaning staff. The main question is whether cleaners would accept a lower per-room rate in exchange for cleaning more rooms. We plan to break that down into three parts. First, we will ask about willingness and conditions: would they actually accept such an arrangement, and at what rate? Second, we will ask about operating constraints: travel time, task duration, scheduling, equipment and maximum daily capacity. Third, we will explore safety and service boundaries. We must also compare these answers with student budgets and roommate approval. This is an important supply-side test. If the economics do not work for cleaners, we should not force the idea. We could change the pricing model, adjust the scope or refocus JEBO on discovery and trust rather than discounting.
Sources and clarification: CEM pre.docx: Next planned test. Additional questions are suggested next-step experiment design, not completed research.</a:t>
            </a:r>
            <a:endParaRPr lang="zh-CN" altLang="en-US"/>
          </a:p>
        </p:txBody>
      </p:sp>
      <p:sp>
        <p:nvSpPr>
          <p:cNvPr id="479"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19</a:t>
            </a:fld>
            <a:endParaRPr lang="zh-CN" altLang="en-US"/>
          </a:p>
        </p:txBody>
      </p:sp>
    </p:spTree>
    <p:extLst>
      <p:ext uri="{BB962C8B-B14F-4D97-AF65-F5344CB8AC3E}">
        <p14:creationId xmlns:p14="http://schemas.microsoft.com/office/powerpoint/2010/main" val="2117416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20</a:t>
            </a:fld>
            <a:endParaRPr lang="zh-CN" altLang="en-US" sz="1200">
              <a:latin typeface="Lato" charset="0"/>
              <a:ea typeface="等线" charset="0"/>
              <a:cs typeface="Lato" charset="0"/>
            </a:endParaRPr>
          </a:p>
        </p:txBody>
      </p:sp>
      <p:sp>
        <p:nvSpPr>
          <p:cNvPr id="493"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20</a:t>
            </a:fld>
            <a:endParaRPr lang="zh-CN" altLang="en-US" sz="1200">
              <a:latin typeface="Lato" charset="0"/>
              <a:ea typeface="等线" charset="0"/>
              <a:cs typeface="Lato" charset="0"/>
            </a:endParaRPr>
          </a:p>
        </p:txBody>
      </p:sp>
      <p:sp>
        <p:nvSpPr>
          <p:cNvPr id="494"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20</a:t>
            </a:fld>
            <a:endParaRPr lang="zh-CN" altLang="en-US" sz="1200">
              <a:latin typeface="Lato" charset="0"/>
              <a:ea typeface="等线" charset="0"/>
              <a:cs typeface="Lato" charset="0"/>
            </a:endParaRPr>
          </a:p>
        </p:txBody>
      </p:sp>
      <p:sp>
        <p:nvSpPr>
          <p:cNvPr id="495"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96"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1:05.
Here is our current conclusion. We have several encouraging signals. Cleaning responsibility can become unfair; coordination and time are real obstacles; some dormitories already use paid cleaners; and many survey respondents prefer dividing the fee across roommates. But we also have important unanswered questions. Most importantly, we do not know whether users of existing private booking methods will switch to JEBO, whether cleaners will accept our proposed arrangement, or whether the model can benefit both students and service providers financially. The next test is designed to reduce these uncertainties rather than simply collect more positive opinions. We believe that being honest about the limits of our evidence will help us make better decisions and build something genuinely useful.
Sources and clarification: Synthesis of own survey, interviews and next-test notes, not a claim of verified product-market fit.</a:t>
            </a:r>
            <a:endParaRPr lang="zh-CN" altLang="en-US"/>
          </a:p>
        </p:txBody>
      </p:sp>
      <p:sp>
        <p:nvSpPr>
          <p:cNvPr id="497"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20</a:t>
            </a:fld>
            <a:endParaRPr lang="zh-CN" altLang="en-US"/>
          </a:p>
        </p:txBody>
      </p:sp>
    </p:spTree>
    <p:extLst>
      <p:ext uri="{BB962C8B-B14F-4D97-AF65-F5344CB8AC3E}">
        <p14:creationId xmlns:p14="http://schemas.microsoft.com/office/powerpoint/2010/main" val="1285874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21</a:t>
            </a:fld>
            <a:endParaRPr lang="zh-CN" altLang="en-US" sz="1200">
              <a:latin typeface="Lato" charset="0"/>
              <a:ea typeface="等线" charset="0"/>
              <a:cs typeface="Lato" charset="0"/>
            </a:endParaRPr>
          </a:p>
        </p:txBody>
      </p:sp>
      <p:sp>
        <p:nvSpPr>
          <p:cNvPr id="508"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21</a:t>
            </a:fld>
            <a:endParaRPr lang="zh-CN" altLang="en-US" sz="1200">
              <a:latin typeface="Lato" charset="0"/>
              <a:ea typeface="等线" charset="0"/>
              <a:cs typeface="Lato" charset="0"/>
            </a:endParaRPr>
          </a:p>
        </p:txBody>
      </p:sp>
      <p:sp>
        <p:nvSpPr>
          <p:cNvPr id="509"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21</a:t>
            </a:fld>
            <a:endParaRPr lang="zh-CN" altLang="en-US" sz="1200">
              <a:latin typeface="Lato" charset="0"/>
              <a:ea typeface="等线" charset="0"/>
              <a:cs typeface="Lato" charset="0"/>
            </a:endParaRPr>
          </a:p>
        </p:txBody>
      </p:sp>
      <p:sp>
        <p:nvSpPr>
          <p:cNvPr id="510"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511"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0:45.
To finish, JEBO started from a simple everyday frustration, but it led us to deeper questions about time, fairness, trust and cooperation in shared living spaces. We hope our next round of interviews will show whether we can create real value for both students and campus cleaners. Thank you for listening. We welcome your questions and suggestions.</a:t>
            </a:r>
            <a:endParaRPr lang="zh-CN" altLang="en-US"/>
          </a:p>
        </p:txBody>
      </p:sp>
      <p:sp>
        <p:nvSpPr>
          <p:cNvPr id="512"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21</a:t>
            </a:fld>
            <a:endParaRPr lang="zh-CN" altLang="en-US"/>
          </a:p>
        </p:txBody>
      </p:sp>
    </p:spTree>
    <p:extLst>
      <p:ext uri="{BB962C8B-B14F-4D97-AF65-F5344CB8AC3E}">
        <p14:creationId xmlns:p14="http://schemas.microsoft.com/office/powerpoint/2010/main" val="17878748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22</a:t>
            </a:fld>
            <a:endParaRPr lang="zh-CN" altLang="en-US" sz="1200">
              <a:latin typeface="Lato" charset="0"/>
              <a:ea typeface="等线" charset="0"/>
              <a:cs typeface="Lato" charset="0"/>
            </a:endParaRPr>
          </a:p>
        </p:txBody>
      </p:sp>
      <p:sp>
        <p:nvSpPr>
          <p:cNvPr id="533"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22</a:t>
            </a:fld>
            <a:endParaRPr lang="zh-CN" altLang="en-US" sz="1200">
              <a:latin typeface="Lato" charset="0"/>
              <a:ea typeface="等线" charset="0"/>
              <a:cs typeface="Lato" charset="0"/>
            </a:endParaRPr>
          </a:p>
        </p:txBody>
      </p:sp>
      <p:sp>
        <p:nvSpPr>
          <p:cNvPr id="534" name="矩形"/>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Lato" charset="0"/>
                <a:ea typeface="等线" charset="0"/>
                <a:cs typeface="Lato" charset="0"/>
              </a:rPr>
              <a:t>22</a:t>
            </a:fld>
            <a:endParaRPr lang="zh-CN" altLang="en-US" sz="1200">
              <a:latin typeface="Lato" charset="0"/>
              <a:ea typeface="等线" charset="0"/>
              <a:cs typeface="Lato" charset="0"/>
            </a:endParaRPr>
          </a:p>
        </p:txBody>
      </p:sp>
      <p:sp>
        <p:nvSpPr>
          <p:cNvPr id="535" name="对象"/>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536"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Estimated speaking time: Reference slide (not included in the 20-minute speaking total)..
This final slide collects the key project files and published references behind the presentation. The evidence used for our own customer findings comes from the internal interviews and sixteen-response questionnaire. The published articles are contextual evidence and should not be treated as direct measurements of our proposed JEBO market. The American Cleaning Institute report was listed in the supplied literature file, but our slides do not present statistics from that report. Thank you again.
Sources and clarification: All bibliography details were derived from the provided 论文调查数据.docx.</a:t>
            </a:r>
            <a:endParaRPr lang="zh-CN" altLang="en-US"/>
          </a:p>
        </p:txBody>
      </p:sp>
      <p:sp>
        <p:nvSpPr>
          <p:cNvPr id="537" name="矩形"/>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22</a:t>
            </a:fld>
            <a:endParaRPr lang="zh-CN" altLang="en-US"/>
          </a:p>
        </p:txBody>
      </p:sp>
    </p:spTree>
    <p:extLst>
      <p:ext uri="{BB962C8B-B14F-4D97-AF65-F5344CB8AC3E}">
        <p14:creationId xmlns:p14="http://schemas.microsoft.com/office/powerpoint/2010/main" val="960374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36043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64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092167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29730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93763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84897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93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33183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929347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03926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91846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004592"/>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58545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Georgia" charset="0"/>
          <a:ea typeface="等线 Light" charset="0"/>
          <a:cs typeface="Georgia"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Lato" charset="0"/>
          <a:ea typeface="等线" charset="0"/>
          <a:cs typeface="Lato"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Lato" charset="0"/>
          <a:ea typeface="等线" charset="0"/>
          <a:cs typeface="Lato"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Lato" charset="0"/>
          <a:ea typeface="等线" charset="0"/>
          <a:cs typeface="Lato"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Lato" charset="0"/>
          <a:ea typeface="等线" charset="0"/>
          <a:cs typeface="Lato"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8"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9"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THE JEBO PROJECT</a:t>
            </a:r>
            <a:endParaRPr lang="zh-CN" altLang="en-US" sz="950" b="0" i="0" u="none" strike="noStrike" kern="1200" cap="none" spc="0" baseline="0">
              <a:solidFill>
                <a:schemeClr val="tx1"/>
              </a:solidFill>
              <a:latin typeface="Lato" charset="0"/>
              <a:ea typeface="等线" charset="0"/>
              <a:cs typeface="Lato" charset="0"/>
            </a:endParaRPr>
          </a:p>
        </p:txBody>
      </p:sp>
      <p:sp>
        <p:nvSpPr>
          <p:cNvPr id="10" name="圆角矩形"/>
          <p:cNvSpPr>
            <a:spLocks/>
          </p:cNvSpPr>
          <p:nvPr/>
        </p:nvSpPr>
        <p:spPr>
          <a:xfrm>
            <a:off x="804672" y="722376"/>
            <a:ext cx="3310127"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11" name="矩形"/>
          <p:cNvSpPr>
            <a:spLocks/>
          </p:cNvSpPr>
          <p:nvPr/>
        </p:nvSpPr>
        <p:spPr>
          <a:xfrm>
            <a:off x="941832" y="777240"/>
            <a:ext cx="3035808"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526F5F"/>
                </a:solidFill>
                <a:latin typeface="Lato" charset="0"/>
                <a:ea typeface="Lato" charset="0"/>
                <a:cs typeface="Lato" charset="0"/>
              </a:rPr>
              <a:t>MIDTERM  /  CUSTOMER DISCOVERY</a:t>
            </a:r>
            <a:endParaRPr lang="zh-CN" altLang="en-US" sz="1100" b="0" i="0" u="none" strike="noStrike" kern="1200" cap="none" spc="0" baseline="0">
              <a:solidFill>
                <a:schemeClr val="tx1"/>
              </a:solidFill>
              <a:latin typeface="Lato" charset="0"/>
              <a:ea typeface="等线" charset="0"/>
              <a:cs typeface="Lato" charset="0"/>
            </a:endParaRPr>
          </a:p>
        </p:txBody>
      </p:sp>
      <p:sp>
        <p:nvSpPr>
          <p:cNvPr id="12" name="矩形"/>
          <p:cNvSpPr>
            <a:spLocks/>
          </p:cNvSpPr>
          <p:nvPr/>
        </p:nvSpPr>
        <p:spPr>
          <a:xfrm>
            <a:off x="832104" y="1417320"/>
            <a:ext cx="6080760" cy="197510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350" b="0" i="0" u="none" strike="noStrike" kern="1200" cap="none" spc="0" baseline="0">
                <a:solidFill>
                  <a:srgbClr val="40584C"/>
                </a:solidFill>
                <a:latin typeface="Georgia" charset="0"/>
                <a:ea typeface="Georgia" charset="0"/>
                <a:cs typeface="Georgia" charset="0"/>
              </a:rPr>
              <a:t>A Cleaner Dorm.</a:t>
            </a:r>
            <a:endParaRPr lang="en-US" altLang="zh-CN" sz="43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4350" b="0" i="0" u="none" strike="noStrike" kern="1200" cap="none" spc="0" baseline="0">
                <a:solidFill>
                  <a:srgbClr val="40584C"/>
                </a:solidFill>
                <a:latin typeface="Georgia" charset="0"/>
                <a:ea typeface="Georgia" charset="0"/>
                <a:cs typeface="Georgia" charset="0"/>
              </a:rPr>
              <a:t>A Happier Home.</a:t>
            </a:r>
            <a:endParaRPr lang="zh-CN" altLang="en-US" sz="4350" b="0" i="0" u="none" strike="noStrike" kern="1200" cap="none" spc="0" baseline="0">
              <a:solidFill>
                <a:schemeClr val="tx1"/>
              </a:solidFill>
              <a:latin typeface="Lato" charset="0"/>
              <a:ea typeface="等线" charset="0"/>
              <a:cs typeface="Lato" charset="0"/>
            </a:endParaRPr>
          </a:p>
        </p:txBody>
      </p:sp>
      <p:sp>
        <p:nvSpPr>
          <p:cNvPr id="13" name="矩形"/>
          <p:cNvSpPr>
            <a:spLocks/>
          </p:cNvSpPr>
          <p:nvPr/>
        </p:nvSpPr>
        <p:spPr>
          <a:xfrm>
            <a:off x="868680" y="3950207"/>
            <a:ext cx="5029200" cy="6858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10" b="0" i="0" u="none" strike="noStrike" kern="1200" cap="none" spc="0" baseline="0">
                <a:solidFill>
                  <a:srgbClr val="7D8478"/>
                </a:solidFill>
                <a:latin typeface="Lato" charset="0"/>
                <a:ea typeface="Lato" charset="0"/>
                <a:cs typeface="Lato" charset="0"/>
              </a:rPr>
              <a:t>JEBO  |  Making dormitory cleaning easier, fairer and less stressful</a:t>
            </a:r>
            <a:endParaRPr lang="zh-CN" altLang="en-US" sz="1810" b="0" i="0" u="none" strike="noStrike" kern="1200" cap="none" spc="0" baseline="0">
              <a:solidFill>
                <a:schemeClr val="tx1"/>
              </a:solidFill>
              <a:latin typeface="Lato" charset="0"/>
              <a:ea typeface="等线" charset="0"/>
              <a:cs typeface="Lato" charset="0"/>
            </a:endParaRPr>
          </a:p>
        </p:txBody>
      </p:sp>
      <p:pic>
        <p:nvPicPr>
          <p:cNvPr id="14" name="图片" descr="/mnt/data/jebo_assets/room.png"/>
          <p:cNvPicPr>
            <a:picLocks noChangeAspect="1"/>
          </p:cNvPicPr>
          <p:nvPr/>
        </p:nvPicPr>
        <p:blipFill>
          <a:blip r:embed="rId4" cstate="print"/>
          <a:stretch>
            <a:fillRect/>
          </a:stretch>
        </p:blipFill>
        <p:spPr>
          <a:xfrm>
            <a:off x="6473951" y="969263"/>
            <a:ext cx="5257800" cy="4507992"/>
          </a:xfrm>
          <a:prstGeom prst="rect">
            <a:avLst/>
          </a:prstGeom>
          <a:noFill/>
          <a:ln w="12700" cap="flat" cmpd="sng">
            <a:noFill/>
            <a:prstDash val="solid"/>
            <a:miter/>
          </a:ln>
        </p:spPr>
      </p:pic>
      <p:sp>
        <p:nvSpPr>
          <p:cNvPr id="15" name="直线"/>
          <p:cNvSpPr>
            <a:spLocks/>
          </p:cNvSpPr>
          <p:nvPr/>
        </p:nvSpPr>
        <p:spPr>
          <a:xfrm>
            <a:off x="822960" y="6181344"/>
            <a:ext cx="10561320" cy="0"/>
          </a:xfrm>
          <a:prstGeom prst="line">
            <a:avLst/>
          </a:prstGeom>
          <a:noFill/>
          <a:ln w="12700" cap="flat" cmpd="sng">
            <a:solidFill>
              <a:srgbClr val="E6E5DA"/>
            </a:solidFill>
            <a:prstDash val="solid"/>
            <a:round/>
          </a:ln>
        </p:spPr>
      </p:sp>
      <p:sp>
        <p:nvSpPr>
          <p:cNvPr id="16" name="矩形"/>
          <p:cNvSpPr>
            <a:spLocks/>
          </p:cNvSpPr>
          <p:nvPr/>
        </p:nvSpPr>
        <p:spPr>
          <a:xfrm>
            <a:off x="859536" y="6300216"/>
            <a:ext cx="640080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0" u="none" strike="noStrike" kern="0" cap="none" spc="150" baseline="0">
                <a:solidFill>
                  <a:srgbClr val="7D8478"/>
                </a:solidFill>
                <a:latin typeface="Lato" charset="0"/>
                <a:ea typeface="Lato" charset="0"/>
                <a:cs typeface="Lato" charset="0"/>
              </a:rPr>
              <a:t>20-MINUTE ENGLISH PRESENTATION</a:t>
            </a:r>
            <a:endParaRPr lang="zh-CN" altLang="en-US" sz="1000" b="0" i="0" u="none" strike="noStrike" kern="1200" cap="none" spc="0" baseline="0">
              <a:solidFill>
                <a:schemeClr val="tx1"/>
              </a:solidFill>
              <a:latin typeface="Lato" charset="0"/>
              <a:ea typeface="等线" charset="0"/>
              <a:cs typeface="Lato" charset="0"/>
            </a:endParaRPr>
          </a:p>
        </p:txBody>
      </p:sp>
      <p:sp>
        <p:nvSpPr>
          <p:cNvPr id="17" name="矩形"/>
          <p:cNvSpPr>
            <a:spLocks/>
          </p:cNvSpPr>
          <p:nvPr/>
        </p:nvSpPr>
        <p:spPr>
          <a:xfrm>
            <a:off x="10789920" y="6300216"/>
            <a:ext cx="64008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1000" b="0" i="0" u="none" strike="noStrike" kern="1200" cap="none" spc="0" baseline="0">
                <a:solidFill>
                  <a:srgbClr val="7D8478"/>
                </a:solidFill>
                <a:latin typeface="Lato" charset="0"/>
                <a:ea typeface="Lato" charset="0"/>
                <a:cs typeface="Lato" charset="0"/>
              </a:rPr>
              <a:t>01 / 19</a:t>
            </a:r>
            <a:endParaRPr lang="zh-CN" altLang="en-US" sz="100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990797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23"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4"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OUR STORY</a:t>
            </a:r>
            <a:endParaRPr lang="zh-CN" altLang="en-US" sz="950" b="0" i="0" u="none" strike="noStrike" kern="1200" cap="none" spc="0" baseline="0">
              <a:solidFill>
                <a:schemeClr val="tx1"/>
              </a:solidFill>
              <a:latin typeface="Lato" charset="0"/>
              <a:ea typeface="等线" charset="0"/>
              <a:cs typeface="Lato" charset="0"/>
            </a:endParaRPr>
          </a:p>
        </p:txBody>
      </p:sp>
      <p:sp>
        <p:nvSpPr>
          <p:cNvPr id="25"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26"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27"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02  /  19</a:t>
            </a:r>
            <a:endParaRPr lang="zh-CN" altLang="en-US" sz="950" b="0" i="0" u="none" strike="noStrike" kern="1200" cap="none" spc="0" baseline="0">
              <a:solidFill>
                <a:schemeClr val="tx1"/>
              </a:solidFill>
              <a:latin typeface="Lato" charset="0"/>
              <a:ea typeface="等线" charset="0"/>
              <a:cs typeface="Lato" charset="0"/>
            </a:endParaRPr>
          </a:p>
        </p:txBody>
      </p:sp>
      <p:sp>
        <p:nvSpPr>
          <p:cNvPr id="28"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From an everyday problem to a testable idea</a:t>
            </a:r>
            <a:endParaRPr lang="zh-CN" altLang="en-US" sz="3050" b="0" i="0" u="none" strike="noStrike" kern="1200" cap="none" spc="0" baseline="0">
              <a:solidFill>
                <a:schemeClr val="tx1"/>
              </a:solidFill>
              <a:latin typeface="Lato" charset="0"/>
              <a:ea typeface="等线" charset="0"/>
              <a:cs typeface="Lato" charset="0"/>
            </a:endParaRPr>
          </a:p>
        </p:txBody>
      </p:sp>
      <p:sp>
        <p:nvSpPr>
          <p:cNvPr id="29"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Five steps in our customer discovery journey</a:t>
            </a:r>
            <a:endParaRPr lang="zh-CN" altLang="en-US" sz="1550" b="0" i="0" u="none" strike="noStrike" kern="1200" cap="none" spc="0" baseline="0">
              <a:solidFill>
                <a:schemeClr val="tx1"/>
              </a:solidFill>
              <a:latin typeface="Lato" charset="0"/>
              <a:ea typeface="等线" charset="0"/>
              <a:cs typeface="Lato" charset="0"/>
            </a:endParaRPr>
          </a:p>
        </p:txBody>
      </p:sp>
      <p:sp>
        <p:nvSpPr>
          <p:cNvPr id="30" name="圆角矩形"/>
          <p:cNvSpPr>
            <a:spLocks/>
          </p:cNvSpPr>
          <p:nvPr/>
        </p:nvSpPr>
        <p:spPr>
          <a:xfrm>
            <a:off x="758952" y="2286000"/>
            <a:ext cx="1993392" cy="1956815"/>
          </a:xfrm>
          <a:prstGeom prst="roundRect">
            <a:avLst>
              <a:gd name="adj" fmla="val 9347"/>
            </a:avLst>
          </a:prstGeom>
          <a:solidFill>
            <a:srgbClr val="EBF0E7"/>
          </a:solidFill>
          <a:ln w="12700" cap="flat" cmpd="sng">
            <a:solidFill>
              <a:srgbClr val="EBF0E7">
                <a:alpha val="0"/>
              </a:srgbClr>
            </a:solidFill>
            <a:prstDash val="solid"/>
            <a:round/>
          </a:ln>
        </p:spPr>
      </p:sp>
      <p:sp>
        <p:nvSpPr>
          <p:cNvPr id="31" name="椭圆"/>
          <p:cNvSpPr>
            <a:spLocks/>
          </p:cNvSpPr>
          <p:nvPr/>
        </p:nvSpPr>
        <p:spPr>
          <a:xfrm>
            <a:off x="1472183" y="2587752"/>
            <a:ext cx="548640" cy="548640"/>
          </a:xfrm>
          <a:prstGeom prst="ellipse">
            <a:avLst/>
          </a:prstGeom>
          <a:solidFill>
            <a:srgbClr val="526F5F"/>
          </a:solidFill>
          <a:ln w="12700" cap="flat" cmpd="sng">
            <a:solidFill>
              <a:srgbClr val="526F5F">
                <a:alpha val="0"/>
              </a:srgbClr>
            </a:solidFill>
            <a:prstDash val="solid"/>
            <a:round/>
          </a:ln>
        </p:spPr>
      </p:sp>
      <p:sp>
        <p:nvSpPr>
          <p:cNvPr id="32" name="矩形"/>
          <p:cNvSpPr>
            <a:spLocks/>
          </p:cNvSpPr>
          <p:nvPr/>
        </p:nvSpPr>
        <p:spPr>
          <a:xfrm>
            <a:off x="1545336" y="2734056"/>
            <a:ext cx="402336"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20" b="1" i="0" u="none" strike="noStrike" kern="1200" cap="none" spc="0" baseline="0">
                <a:solidFill>
                  <a:srgbClr val="FFFFFF"/>
                </a:solidFill>
                <a:latin typeface="Lato" charset="0"/>
                <a:ea typeface="Lato" charset="0"/>
                <a:cs typeface="Lato" charset="0"/>
              </a:rPr>
              <a:t>01</a:t>
            </a:r>
            <a:endParaRPr lang="zh-CN" altLang="en-US" sz="1120" b="0" i="0" u="none" strike="noStrike" kern="1200" cap="none" spc="0" baseline="0">
              <a:solidFill>
                <a:schemeClr val="tx1"/>
              </a:solidFill>
              <a:latin typeface="Lato" charset="0"/>
              <a:ea typeface="等线" charset="0"/>
              <a:cs typeface="Lato" charset="0"/>
            </a:endParaRPr>
          </a:p>
        </p:txBody>
      </p:sp>
      <p:sp>
        <p:nvSpPr>
          <p:cNvPr id="33" name="矩形"/>
          <p:cNvSpPr>
            <a:spLocks/>
          </p:cNvSpPr>
          <p:nvPr/>
        </p:nvSpPr>
        <p:spPr>
          <a:xfrm>
            <a:off x="923544" y="3429000"/>
            <a:ext cx="164592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1200" cap="none" spc="0" baseline="0">
                <a:solidFill>
                  <a:srgbClr val="37443B"/>
                </a:solidFill>
                <a:latin typeface="Lato" charset="0"/>
                <a:ea typeface="Lato" charset="0"/>
                <a:cs typeface="Lato" charset="0"/>
              </a:rPr>
              <a:t>The problem</a:t>
            </a:r>
            <a:endParaRPr lang="zh-CN" altLang="en-US" sz="1700" b="0" i="0" u="none" strike="noStrike" kern="1200" cap="none" spc="0" baseline="0">
              <a:solidFill>
                <a:schemeClr val="tx1"/>
              </a:solidFill>
              <a:latin typeface="Lato" charset="0"/>
              <a:ea typeface="等线" charset="0"/>
              <a:cs typeface="Lato" charset="0"/>
            </a:endParaRPr>
          </a:p>
        </p:txBody>
      </p:sp>
      <p:sp>
        <p:nvSpPr>
          <p:cNvPr id="34" name="矩形"/>
          <p:cNvSpPr>
            <a:spLocks/>
          </p:cNvSpPr>
          <p:nvPr/>
        </p:nvSpPr>
        <p:spPr>
          <a:xfrm>
            <a:off x="2788920" y="2971799"/>
            <a:ext cx="2286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500" b="0" i="0" u="none" strike="noStrike" kern="1200" cap="none" spc="0" baseline="0">
                <a:solidFill>
                  <a:srgbClr val="CE8067"/>
                </a:solidFill>
                <a:latin typeface="Lato" charset="0"/>
                <a:ea typeface="Lato" charset="0"/>
                <a:cs typeface="Lato" charset="0"/>
              </a:rPr>
              <a:t>→</a:t>
            </a:r>
            <a:endParaRPr lang="zh-CN" altLang="en-US" sz="2500" b="0" i="0" u="none" strike="noStrike" kern="1200" cap="none" spc="0" baseline="0">
              <a:solidFill>
                <a:schemeClr val="tx1"/>
              </a:solidFill>
              <a:latin typeface="Lato" charset="0"/>
              <a:ea typeface="等线" charset="0"/>
              <a:cs typeface="Lato" charset="0"/>
            </a:endParaRPr>
          </a:p>
        </p:txBody>
      </p:sp>
      <p:sp>
        <p:nvSpPr>
          <p:cNvPr id="35" name="圆角矩形"/>
          <p:cNvSpPr>
            <a:spLocks/>
          </p:cNvSpPr>
          <p:nvPr/>
        </p:nvSpPr>
        <p:spPr>
          <a:xfrm>
            <a:off x="3035808" y="2286000"/>
            <a:ext cx="1993392" cy="1956815"/>
          </a:xfrm>
          <a:prstGeom prst="roundRect">
            <a:avLst>
              <a:gd name="adj" fmla="val 9347"/>
            </a:avLst>
          </a:prstGeom>
          <a:solidFill>
            <a:srgbClr val="F7E7DA"/>
          </a:solidFill>
          <a:ln w="12700" cap="flat" cmpd="sng">
            <a:solidFill>
              <a:srgbClr val="F7E7DA">
                <a:alpha val="0"/>
              </a:srgbClr>
            </a:solidFill>
            <a:prstDash val="solid"/>
            <a:round/>
          </a:ln>
        </p:spPr>
      </p:sp>
      <p:sp>
        <p:nvSpPr>
          <p:cNvPr id="36" name="椭圆"/>
          <p:cNvSpPr>
            <a:spLocks/>
          </p:cNvSpPr>
          <p:nvPr/>
        </p:nvSpPr>
        <p:spPr>
          <a:xfrm>
            <a:off x="3749040" y="2587752"/>
            <a:ext cx="548638" cy="548640"/>
          </a:xfrm>
          <a:prstGeom prst="ellipse">
            <a:avLst/>
          </a:prstGeom>
          <a:solidFill>
            <a:srgbClr val="CE8067"/>
          </a:solidFill>
          <a:ln w="12700" cap="flat" cmpd="sng">
            <a:solidFill>
              <a:srgbClr val="CE8067">
                <a:alpha val="0"/>
              </a:srgbClr>
            </a:solidFill>
            <a:prstDash val="solid"/>
            <a:round/>
          </a:ln>
        </p:spPr>
      </p:sp>
      <p:sp>
        <p:nvSpPr>
          <p:cNvPr id="37" name="矩形"/>
          <p:cNvSpPr>
            <a:spLocks/>
          </p:cNvSpPr>
          <p:nvPr/>
        </p:nvSpPr>
        <p:spPr>
          <a:xfrm>
            <a:off x="3822192" y="2734056"/>
            <a:ext cx="402335"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20" b="1" i="0" u="none" strike="noStrike" kern="1200" cap="none" spc="0" baseline="0">
                <a:solidFill>
                  <a:srgbClr val="FFFFFF"/>
                </a:solidFill>
                <a:latin typeface="Lato" charset="0"/>
                <a:ea typeface="Lato" charset="0"/>
                <a:cs typeface="Lato" charset="0"/>
              </a:rPr>
              <a:t>02</a:t>
            </a:r>
            <a:endParaRPr lang="zh-CN" altLang="en-US" sz="1120" b="0" i="0" u="none" strike="noStrike" kern="1200" cap="none" spc="0" baseline="0">
              <a:solidFill>
                <a:schemeClr val="tx1"/>
              </a:solidFill>
              <a:latin typeface="Lato" charset="0"/>
              <a:ea typeface="等线" charset="0"/>
              <a:cs typeface="Lato" charset="0"/>
            </a:endParaRPr>
          </a:p>
        </p:txBody>
      </p:sp>
      <p:sp>
        <p:nvSpPr>
          <p:cNvPr id="38" name="矩形"/>
          <p:cNvSpPr>
            <a:spLocks/>
          </p:cNvSpPr>
          <p:nvPr/>
        </p:nvSpPr>
        <p:spPr>
          <a:xfrm>
            <a:off x="3200400" y="3429000"/>
            <a:ext cx="164592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1200" cap="none" spc="0" baseline="0">
                <a:solidFill>
                  <a:srgbClr val="37443B"/>
                </a:solidFill>
                <a:latin typeface="Lato" charset="0"/>
                <a:ea typeface="Lato" charset="0"/>
                <a:cs typeface="Lato" charset="0"/>
              </a:rPr>
              <a:t>Our customers</a:t>
            </a:r>
            <a:endParaRPr lang="zh-CN" altLang="en-US" sz="1700" b="0" i="0" u="none" strike="noStrike" kern="1200" cap="none" spc="0" baseline="0">
              <a:solidFill>
                <a:schemeClr val="tx1"/>
              </a:solidFill>
              <a:latin typeface="Lato" charset="0"/>
              <a:ea typeface="等线" charset="0"/>
              <a:cs typeface="Lato" charset="0"/>
            </a:endParaRPr>
          </a:p>
        </p:txBody>
      </p:sp>
      <p:sp>
        <p:nvSpPr>
          <p:cNvPr id="39" name="矩形"/>
          <p:cNvSpPr>
            <a:spLocks/>
          </p:cNvSpPr>
          <p:nvPr/>
        </p:nvSpPr>
        <p:spPr>
          <a:xfrm>
            <a:off x="5065775" y="2971799"/>
            <a:ext cx="2286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500" b="0" i="0" u="none" strike="noStrike" kern="1200" cap="none" spc="0" baseline="0">
                <a:solidFill>
                  <a:srgbClr val="CE8067"/>
                </a:solidFill>
                <a:latin typeface="Lato" charset="0"/>
                <a:ea typeface="Lato" charset="0"/>
                <a:cs typeface="Lato" charset="0"/>
              </a:rPr>
              <a:t>→</a:t>
            </a:r>
            <a:endParaRPr lang="zh-CN" altLang="en-US" sz="2500" b="0" i="0" u="none" strike="noStrike" kern="1200" cap="none" spc="0" baseline="0">
              <a:solidFill>
                <a:schemeClr val="tx1"/>
              </a:solidFill>
              <a:latin typeface="Lato" charset="0"/>
              <a:ea typeface="等线" charset="0"/>
              <a:cs typeface="Lato" charset="0"/>
            </a:endParaRPr>
          </a:p>
        </p:txBody>
      </p:sp>
      <p:sp>
        <p:nvSpPr>
          <p:cNvPr id="40" name="圆角矩形"/>
          <p:cNvSpPr>
            <a:spLocks/>
          </p:cNvSpPr>
          <p:nvPr/>
        </p:nvSpPr>
        <p:spPr>
          <a:xfrm>
            <a:off x="5312664" y="2286000"/>
            <a:ext cx="1993392" cy="1956815"/>
          </a:xfrm>
          <a:prstGeom prst="roundRect">
            <a:avLst>
              <a:gd name="adj" fmla="val 9347"/>
            </a:avLst>
          </a:prstGeom>
          <a:solidFill>
            <a:srgbClr val="EBF0E7"/>
          </a:solidFill>
          <a:ln w="12700" cap="flat" cmpd="sng">
            <a:solidFill>
              <a:srgbClr val="EBF0E7">
                <a:alpha val="0"/>
              </a:srgbClr>
            </a:solidFill>
            <a:prstDash val="solid"/>
            <a:round/>
          </a:ln>
        </p:spPr>
      </p:sp>
      <p:sp>
        <p:nvSpPr>
          <p:cNvPr id="41" name="椭圆"/>
          <p:cNvSpPr>
            <a:spLocks/>
          </p:cNvSpPr>
          <p:nvPr/>
        </p:nvSpPr>
        <p:spPr>
          <a:xfrm>
            <a:off x="6025896" y="2587752"/>
            <a:ext cx="548640" cy="548640"/>
          </a:xfrm>
          <a:prstGeom prst="ellipse">
            <a:avLst/>
          </a:prstGeom>
          <a:solidFill>
            <a:srgbClr val="526F5F"/>
          </a:solidFill>
          <a:ln w="12700" cap="flat" cmpd="sng">
            <a:solidFill>
              <a:srgbClr val="526F5F">
                <a:alpha val="0"/>
              </a:srgbClr>
            </a:solidFill>
            <a:prstDash val="solid"/>
            <a:round/>
          </a:ln>
        </p:spPr>
      </p:sp>
      <p:sp>
        <p:nvSpPr>
          <p:cNvPr id="42" name="矩形"/>
          <p:cNvSpPr>
            <a:spLocks/>
          </p:cNvSpPr>
          <p:nvPr/>
        </p:nvSpPr>
        <p:spPr>
          <a:xfrm>
            <a:off x="6099048" y="2734056"/>
            <a:ext cx="402336"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20" b="1" i="0" u="none" strike="noStrike" kern="1200" cap="none" spc="0" baseline="0">
                <a:solidFill>
                  <a:srgbClr val="FFFFFF"/>
                </a:solidFill>
                <a:latin typeface="Lato" charset="0"/>
                <a:ea typeface="Lato" charset="0"/>
                <a:cs typeface="Lato" charset="0"/>
              </a:rPr>
              <a:t>03</a:t>
            </a:r>
            <a:endParaRPr lang="zh-CN" altLang="en-US" sz="1120" b="0" i="0" u="none" strike="noStrike" kern="1200" cap="none" spc="0" baseline="0">
              <a:solidFill>
                <a:schemeClr val="tx1"/>
              </a:solidFill>
              <a:latin typeface="Lato" charset="0"/>
              <a:ea typeface="等线" charset="0"/>
              <a:cs typeface="Lato" charset="0"/>
            </a:endParaRPr>
          </a:p>
        </p:txBody>
      </p:sp>
      <p:sp>
        <p:nvSpPr>
          <p:cNvPr id="43" name="矩形"/>
          <p:cNvSpPr>
            <a:spLocks/>
          </p:cNvSpPr>
          <p:nvPr/>
        </p:nvSpPr>
        <p:spPr>
          <a:xfrm>
            <a:off x="7342632" y="2971799"/>
            <a:ext cx="2286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500" b="0" i="0" u="none" strike="noStrike" kern="1200" cap="none" spc="0" baseline="0">
                <a:solidFill>
                  <a:srgbClr val="CE8067"/>
                </a:solidFill>
                <a:latin typeface="Lato" charset="0"/>
                <a:ea typeface="Lato" charset="0"/>
                <a:cs typeface="Lato" charset="0"/>
              </a:rPr>
              <a:t>→</a:t>
            </a:r>
            <a:endParaRPr lang="zh-CN" altLang="en-US" sz="2500" b="0" i="0" u="none" strike="noStrike" kern="1200" cap="none" spc="0" baseline="0">
              <a:solidFill>
                <a:schemeClr val="tx1"/>
              </a:solidFill>
              <a:latin typeface="Lato" charset="0"/>
              <a:ea typeface="等线" charset="0"/>
              <a:cs typeface="Lato" charset="0"/>
            </a:endParaRPr>
          </a:p>
        </p:txBody>
      </p:sp>
      <p:sp>
        <p:nvSpPr>
          <p:cNvPr id="44" name="圆角矩形"/>
          <p:cNvSpPr>
            <a:spLocks/>
          </p:cNvSpPr>
          <p:nvPr/>
        </p:nvSpPr>
        <p:spPr>
          <a:xfrm>
            <a:off x="7589520" y="2286000"/>
            <a:ext cx="1993392" cy="1956815"/>
          </a:xfrm>
          <a:prstGeom prst="roundRect">
            <a:avLst>
              <a:gd name="adj" fmla="val 9347"/>
            </a:avLst>
          </a:prstGeom>
          <a:solidFill>
            <a:srgbClr val="F7E7DA"/>
          </a:solidFill>
          <a:ln w="12700" cap="flat" cmpd="sng">
            <a:solidFill>
              <a:srgbClr val="F7E7DA">
                <a:alpha val="0"/>
              </a:srgbClr>
            </a:solidFill>
            <a:prstDash val="solid"/>
            <a:round/>
          </a:ln>
        </p:spPr>
      </p:sp>
      <p:sp>
        <p:nvSpPr>
          <p:cNvPr id="45" name="椭圆"/>
          <p:cNvSpPr>
            <a:spLocks/>
          </p:cNvSpPr>
          <p:nvPr/>
        </p:nvSpPr>
        <p:spPr>
          <a:xfrm>
            <a:off x="8302752" y="2587752"/>
            <a:ext cx="548640" cy="548640"/>
          </a:xfrm>
          <a:prstGeom prst="ellipse">
            <a:avLst/>
          </a:prstGeom>
          <a:solidFill>
            <a:srgbClr val="CE8067"/>
          </a:solidFill>
          <a:ln w="12700" cap="flat" cmpd="sng">
            <a:solidFill>
              <a:srgbClr val="CE8067">
                <a:alpha val="0"/>
              </a:srgbClr>
            </a:solidFill>
            <a:prstDash val="solid"/>
            <a:round/>
          </a:ln>
        </p:spPr>
      </p:sp>
      <p:sp>
        <p:nvSpPr>
          <p:cNvPr id="46" name="矩形"/>
          <p:cNvSpPr>
            <a:spLocks/>
          </p:cNvSpPr>
          <p:nvPr/>
        </p:nvSpPr>
        <p:spPr>
          <a:xfrm>
            <a:off x="8375904" y="2734056"/>
            <a:ext cx="402336"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20" b="1" i="0" u="none" strike="noStrike" kern="1200" cap="none" spc="0" baseline="0">
                <a:solidFill>
                  <a:srgbClr val="FFFFFF"/>
                </a:solidFill>
                <a:latin typeface="Lato" charset="0"/>
                <a:ea typeface="Lato" charset="0"/>
                <a:cs typeface="Lato" charset="0"/>
              </a:rPr>
              <a:t>04</a:t>
            </a:r>
            <a:endParaRPr lang="zh-CN" altLang="en-US" sz="1120" b="0" i="0" u="none" strike="noStrike" kern="1200" cap="none" spc="0" baseline="0">
              <a:solidFill>
                <a:schemeClr val="tx1"/>
              </a:solidFill>
              <a:latin typeface="Lato" charset="0"/>
              <a:ea typeface="等线" charset="0"/>
              <a:cs typeface="Lato" charset="0"/>
            </a:endParaRPr>
          </a:p>
        </p:txBody>
      </p:sp>
      <p:sp>
        <p:nvSpPr>
          <p:cNvPr id="47" name="矩形"/>
          <p:cNvSpPr>
            <a:spLocks/>
          </p:cNvSpPr>
          <p:nvPr/>
        </p:nvSpPr>
        <p:spPr>
          <a:xfrm>
            <a:off x="5487196" y="3429000"/>
            <a:ext cx="164592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1200" cap="none" spc="0" baseline="0">
                <a:solidFill>
                  <a:srgbClr val="37443B"/>
                </a:solidFill>
                <a:latin typeface="Lato" charset="0"/>
                <a:ea typeface="Lato" charset="0"/>
                <a:cs typeface="Lato" charset="0"/>
              </a:rPr>
              <a:t>The JEBO idea</a:t>
            </a:r>
            <a:endParaRPr lang="zh-CN" altLang="en-US" sz="1700" b="0" i="0" u="none" strike="noStrike" kern="1200" cap="none" spc="0" baseline="0">
              <a:solidFill>
                <a:schemeClr val="tx1"/>
              </a:solidFill>
              <a:latin typeface="Lato" charset="0"/>
              <a:ea typeface="等线" charset="0"/>
              <a:cs typeface="Lato" charset="0"/>
            </a:endParaRPr>
          </a:p>
        </p:txBody>
      </p:sp>
      <p:sp>
        <p:nvSpPr>
          <p:cNvPr id="48" name="矩形"/>
          <p:cNvSpPr>
            <a:spLocks/>
          </p:cNvSpPr>
          <p:nvPr/>
        </p:nvSpPr>
        <p:spPr>
          <a:xfrm>
            <a:off x="9619488" y="2971799"/>
            <a:ext cx="2286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500" b="0" i="0" u="none" strike="noStrike" kern="1200" cap="none" spc="0" baseline="0">
                <a:solidFill>
                  <a:srgbClr val="CE8067"/>
                </a:solidFill>
                <a:latin typeface="Lato" charset="0"/>
                <a:ea typeface="Lato" charset="0"/>
                <a:cs typeface="Lato" charset="0"/>
              </a:rPr>
              <a:t>→</a:t>
            </a:r>
            <a:endParaRPr lang="zh-CN" altLang="en-US" sz="2500" b="0" i="0" u="none" strike="noStrike" kern="1200" cap="none" spc="0" baseline="0">
              <a:solidFill>
                <a:schemeClr val="tx1"/>
              </a:solidFill>
              <a:latin typeface="Lato" charset="0"/>
              <a:ea typeface="等线" charset="0"/>
              <a:cs typeface="Lato" charset="0"/>
            </a:endParaRPr>
          </a:p>
        </p:txBody>
      </p:sp>
      <p:sp>
        <p:nvSpPr>
          <p:cNvPr id="49" name="圆角矩形"/>
          <p:cNvSpPr>
            <a:spLocks/>
          </p:cNvSpPr>
          <p:nvPr/>
        </p:nvSpPr>
        <p:spPr>
          <a:xfrm>
            <a:off x="9866376" y="2286000"/>
            <a:ext cx="1993392" cy="1956815"/>
          </a:xfrm>
          <a:prstGeom prst="roundRect">
            <a:avLst>
              <a:gd name="adj" fmla="val 9347"/>
            </a:avLst>
          </a:prstGeom>
          <a:solidFill>
            <a:srgbClr val="EBF0E7"/>
          </a:solidFill>
          <a:ln w="12700" cap="flat" cmpd="sng">
            <a:solidFill>
              <a:srgbClr val="EBF0E7">
                <a:alpha val="0"/>
              </a:srgbClr>
            </a:solidFill>
            <a:prstDash val="solid"/>
            <a:round/>
          </a:ln>
        </p:spPr>
      </p:sp>
      <p:sp>
        <p:nvSpPr>
          <p:cNvPr id="50" name="椭圆"/>
          <p:cNvSpPr>
            <a:spLocks/>
          </p:cNvSpPr>
          <p:nvPr/>
        </p:nvSpPr>
        <p:spPr>
          <a:xfrm>
            <a:off x="10579608" y="2587752"/>
            <a:ext cx="548639" cy="548640"/>
          </a:xfrm>
          <a:prstGeom prst="ellipse">
            <a:avLst/>
          </a:prstGeom>
          <a:solidFill>
            <a:srgbClr val="526F5F"/>
          </a:solidFill>
          <a:ln w="12700" cap="flat" cmpd="sng">
            <a:solidFill>
              <a:srgbClr val="526F5F">
                <a:alpha val="0"/>
              </a:srgbClr>
            </a:solidFill>
            <a:prstDash val="solid"/>
            <a:round/>
          </a:ln>
        </p:spPr>
      </p:sp>
      <p:sp>
        <p:nvSpPr>
          <p:cNvPr id="51" name="矩形"/>
          <p:cNvSpPr>
            <a:spLocks/>
          </p:cNvSpPr>
          <p:nvPr/>
        </p:nvSpPr>
        <p:spPr>
          <a:xfrm>
            <a:off x="10652760" y="2734056"/>
            <a:ext cx="402334"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20" b="1" i="0" u="none" strike="noStrike" kern="1200" cap="none" spc="0" baseline="0">
                <a:solidFill>
                  <a:srgbClr val="FFFFFF"/>
                </a:solidFill>
                <a:latin typeface="Lato" charset="0"/>
                <a:ea typeface="Lato" charset="0"/>
                <a:cs typeface="Lato" charset="0"/>
              </a:rPr>
              <a:t>05</a:t>
            </a:r>
            <a:endParaRPr lang="zh-CN" altLang="en-US" sz="1120" b="0" i="0" u="none" strike="noStrike" kern="1200" cap="none" spc="0" baseline="0">
              <a:solidFill>
                <a:schemeClr val="tx1"/>
              </a:solidFill>
              <a:latin typeface="Lato" charset="0"/>
              <a:ea typeface="等线" charset="0"/>
              <a:cs typeface="Lato" charset="0"/>
            </a:endParaRPr>
          </a:p>
        </p:txBody>
      </p:sp>
      <p:sp>
        <p:nvSpPr>
          <p:cNvPr id="52" name="矩形"/>
          <p:cNvSpPr>
            <a:spLocks/>
          </p:cNvSpPr>
          <p:nvPr/>
        </p:nvSpPr>
        <p:spPr>
          <a:xfrm>
            <a:off x="10030969" y="3429000"/>
            <a:ext cx="164591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1200" cap="none" spc="0" baseline="0">
                <a:solidFill>
                  <a:srgbClr val="37443B"/>
                </a:solidFill>
                <a:latin typeface="Lato" charset="0"/>
                <a:ea typeface="Lato" charset="0"/>
                <a:cs typeface="Lato" charset="0"/>
              </a:rPr>
              <a:t>What comes next</a:t>
            </a:r>
            <a:endParaRPr lang="zh-CN" altLang="en-US" sz="1700" b="0" i="0" u="none" strike="noStrike" kern="1200" cap="none" spc="0" baseline="0">
              <a:solidFill>
                <a:schemeClr val="tx1"/>
              </a:solidFill>
              <a:latin typeface="Lato" charset="0"/>
              <a:ea typeface="等线" charset="0"/>
              <a:cs typeface="Lato" charset="0"/>
            </a:endParaRPr>
          </a:p>
        </p:txBody>
      </p:sp>
      <p:sp>
        <p:nvSpPr>
          <p:cNvPr id="53" name="圆角矩形"/>
          <p:cNvSpPr>
            <a:spLocks/>
          </p:cNvSpPr>
          <p:nvPr/>
        </p:nvSpPr>
        <p:spPr>
          <a:xfrm>
            <a:off x="2359152" y="4882895"/>
            <a:ext cx="7498080"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54" name="矩形"/>
          <p:cNvSpPr>
            <a:spLocks/>
          </p:cNvSpPr>
          <p:nvPr/>
        </p:nvSpPr>
        <p:spPr>
          <a:xfrm>
            <a:off x="2496311" y="4937760"/>
            <a:ext cx="7223761"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80" b="1" i="0" u="none" strike="noStrike" kern="1200" cap="none" spc="0" baseline="0">
                <a:solidFill>
                  <a:srgbClr val="526F5F"/>
                </a:solidFill>
                <a:latin typeface="Lato" charset="0"/>
                <a:ea typeface="Lato" charset="0"/>
                <a:cs typeface="Lato" charset="0"/>
              </a:rPr>
              <a:t>Our question: can we solve this better than informal arrangements?</a:t>
            </a:r>
            <a:endParaRPr lang="zh-CN" altLang="en-US" sz="1380" b="0" i="0" u="none" strike="noStrike" kern="1200" cap="none" spc="0" baseline="0">
              <a:solidFill>
                <a:schemeClr val="tx1"/>
              </a:solidFill>
              <a:latin typeface="Lato" charset="0"/>
              <a:ea typeface="等线" charset="0"/>
              <a:cs typeface="Lato" charset="0"/>
            </a:endParaRPr>
          </a:p>
        </p:txBody>
      </p:sp>
      <p:sp>
        <p:nvSpPr>
          <p:cNvPr id="55" name="矩形"/>
          <p:cNvSpPr>
            <a:spLocks/>
          </p:cNvSpPr>
          <p:nvPr/>
        </p:nvSpPr>
        <p:spPr>
          <a:xfrm>
            <a:off x="7763221" y="3429000"/>
            <a:ext cx="164592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1200" cap="none" spc="0" baseline="0">
                <a:solidFill>
                  <a:srgbClr val="37443B"/>
                </a:solidFill>
                <a:latin typeface="Lato" charset="0"/>
                <a:ea typeface="Lato" charset="0"/>
                <a:cs typeface="Lato" charset="0"/>
              </a:rPr>
              <a:t>The evidence</a:t>
            </a:r>
            <a:endParaRPr lang="zh-CN" altLang="en-US" sz="170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546808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61"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62"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OBSERVED PROBLEM</a:t>
            </a:r>
            <a:endParaRPr lang="zh-CN" altLang="en-US" sz="950" b="0" i="0" u="none" strike="noStrike" kern="1200" cap="none" spc="0" baseline="0">
              <a:solidFill>
                <a:schemeClr val="tx1"/>
              </a:solidFill>
              <a:latin typeface="Lato" charset="0"/>
              <a:ea typeface="等线" charset="0"/>
              <a:cs typeface="Lato" charset="0"/>
            </a:endParaRPr>
          </a:p>
        </p:txBody>
      </p:sp>
      <p:sp>
        <p:nvSpPr>
          <p:cNvPr id="63"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64"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65"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03  /  19</a:t>
            </a:r>
            <a:endParaRPr lang="zh-CN" altLang="en-US" sz="950" b="0" i="0" u="none" strike="noStrike" kern="1200" cap="none" spc="0" baseline="0">
              <a:solidFill>
                <a:schemeClr val="tx1"/>
              </a:solidFill>
              <a:latin typeface="Lato" charset="0"/>
              <a:ea typeface="等线" charset="0"/>
              <a:cs typeface="Lato" charset="0"/>
            </a:endParaRPr>
          </a:p>
        </p:txBody>
      </p:sp>
      <p:sp>
        <p:nvSpPr>
          <p:cNvPr id="66"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When the trash belongs to no one…</a:t>
            </a:r>
            <a:endParaRPr lang="zh-CN" altLang="en-US" sz="3050" b="0" i="0" u="none" strike="noStrike" kern="1200" cap="none" spc="0" baseline="0">
              <a:solidFill>
                <a:schemeClr val="tx1"/>
              </a:solidFill>
              <a:latin typeface="Lato" charset="0"/>
              <a:ea typeface="等线" charset="0"/>
              <a:cs typeface="Lato" charset="0"/>
            </a:endParaRPr>
          </a:p>
        </p:txBody>
      </p:sp>
      <p:sp>
        <p:nvSpPr>
          <p:cNvPr id="67"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A small household chore can turn into a shared-living conflict.</a:t>
            </a:r>
            <a:endParaRPr lang="zh-CN" altLang="en-US" sz="1550" b="0" i="0" u="none" strike="noStrike" kern="1200" cap="none" spc="0" baseline="0">
              <a:solidFill>
                <a:schemeClr val="tx1"/>
              </a:solidFill>
              <a:latin typeface="Lato" charset="0"/>
              <a:ea typeface="等线" charset="0"/>
              <a:cs typeface="Lato" charset="0"/>
            </a:endParaRPr>
          </a:p>
        </p:txBody>
      </p:sp>
      <p:pic>
        <p:nvPicPr>
          <p:cNvPr id="68" name="图片" descr="/mnt/data/jebo_assets/bin.png"/>
          <p:cNvPicPr>
            <a:picLocks noChangeAspect="1"/>
          </p:cNvPicPr>
          <p:nvPr/>
        </p:nvPicPr>
        <p:blipFill>
          <a:blip r:embed="rId4" cstate="print"/>
          <a:stretch>
            <a:fillRect/>
          </a:stretch>
        </p:blipFill>
        <p:spPr>
          <a:xfrm>
            <a:off x="630936" y="1847088"/>
            <a:ext cx="5303520" cy="4123943"/>
          </a:xfrm>
          <a:prstGeom prst="rect">
            <a:avLst/>
          </a:prstGeom>
          <a:noFill/>
          <a:ln w="12700" cap="flat" cmpd="sng">
            <a:noFill/>
            <a:prstDash val="solid"/>
            <a:miter/>
          </a:ln>
        </p:spPr>
      </p:pic>
      <p:sp>
        <p:nvSpPr>
          <p:cNvPr id="69" name="圆角矩形"/>
          <p:cNvSpPr>
            <a:spLocks/>
          </p:cNvSpPr>
          <p:nvPr/>
        </p:nvSpPr>
        <p:spPr>
          <a:xfrm>
            <a:off x="6089904" y="1901951"/>
            <a:ext cx="5221224" cy="1097279"/>
          </a:xfrm>
          <a:prstGeom prst="roundRect">
            <a:avLst>
              <a:gd name="adj" fmla="val 16666"/>
            </a:avLst>
          </a:prstGeom>
          <a:solidFill>
            <a:srgbClr val="FFFDF9"/>
          </a:solidFill>
          <a:ln w="12700" cap="flat" cmpd="sng">
            <a:solidFill>
              <a:srgbClr val="FFFDF9">
                <a:alpha val="0"/>
              </a:srgbClr>
            </a:solidFill>
            <a:prstDash val="solid"/>
            <a:round/>
          </a:ln>
        </p:spPr>
      </p:sp>
      <p:sp>
        <p:nvSpPr>
          <p:cNvPr id="70" name="圆角矩形"/>
          <p:cNvSpPr>
            <a:spLocks/>
          </p:cNvSpPr>
          <p:nvPr/>
        </p:nvSpPr>
        <p:spPr>
          <a:xfrm>
            <a:off x="6254496" y="2121408"/>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71" name="矩形"/>
          <p:cNvSpPr>
            <a:spLocks/>
          </p:cNvSpPr>
          <p:nvPr/>
        </p:nvSpPr>
        <p:spPr>
          <a:xfrm>
            <a:off x="6391656" y="2176272"/>
            <a:ext cx="25603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01</a:t>
            </a:r>
            <a:endParaRPr lang="zh-CN" altLang="en-US" sz="1000" b="0" i="0" u="none" strike="noStrike" kern="1200" cap="none" spc="0" baseline="0">
              <a:solidFill>
                <a:schemeClr val="tx1"/>
              </a:solidFill>
              <a:latin typeface="Lato" charset="0"/>
              <a:ea typeface="等线" charset="0"/>
              <a:cs typeface="Lato" charset="0"/>
            </a:endParaRPr>
          </a:p>
        </p:txBody>
      </p:sp>
      <p:sp>
        <p:nvSpPr>
          <p:cNvPr id="72" name="矩形"/>
          <p:cNvSpPr>
            <a:spLocks/>
          </p:cNvSpPr>
          <p:nvPr/>
        </p:nvSpPr>
        <p:spPr>
          <a:xfrm>
            <a:off x="6976872" y="2075688"/>
            <a:ext cx="4050792" cy="29260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Customer</a:t>
            </a:r>
            <a:endParaRPr lang="zh-CN" altLang="en-US" sz="1920" b="0" i="0" u="none" strike="noStrike" kern="1200" cap="none" spc="0" baseline="0">
              <a:solidFill>
                <a:schemeClr val="tx1"/>
              </a:solidFill>
              <a:latin typeface="Lato" charset="0"/>
              <a:ea typeface="等线" charset="0"/>
              <a:cs typeface="Lato" charset="0"/>
            </a:endParaRPr>
          </a:p>
        </p:txBody>
      </p:sp>
      <p:sp>
        <p:nvSpPr>
          <p:cNvPr id="73" name="矩形"/>
          <p:cNvSpPr>
            <a:spLocks/>
          </p:cNvSpPr>
          <p:nvPr/>
        </p:nvSpPr>
        <p:spPr>
          <a:xfrm>
            <a:off x="6976872" y="2450591"/>
            <a:ext cx="3931917"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30" b="0" i="0" u="none" strike="noStrike" kern="1200" cap="none" spc="0" baseline="0">
                <a:solidFill>
                  <a:schemeClr val="tx1"/>
                </a:solidFill>
                <a:latin typeface="Lato" charset="0"/>
                <a:ea typeface="等线" charset="0"/>
                <a:cs typeface="Lato" charset="0"/>
              </a:rPr>
              <a:t>Roommates who always end up cleaning</a:t>
            </a:r>
            <a:endParaRPr lang="zh-CN" altLang="en-US" sz="1330" b="0" i="0" u="none" strike="noStrike" kern="1200" cap="none" spc="0" baseline="0">
              <a:solidFill>
                <a:schemeClr val="tx1"/>
              </a:solidFill>
              <a:latin typeface="Lato" charset="0"/>
              <a:ea typeface="等线" charset="0"/>
              <a:cs typeface="Lato" charset="0"/>
            </a:endParaRPr>
          </a:p>
        </p:txBody>
      </p:sp>
      <p:sp>
        <p:nvSpPr>
          <p:cNvPr id="74" name="圆角矩形"/>
          <p:cNvSpPr>
            <a:spLocks/>
          </p:cNvSpPr>
          <p:nvPr/>
        </p:nvSpPr>
        <p:spPr>
          <a:xfrm>
            <a:off x="6089904" y="3200400"/>
            <a:ext cx="5221224" cy="1097280"/>
          </a:xfrm>
          <a:prstGeom prst="roundRect">
            <a:avLst>
              <a:gd name="adj" fmla="val 16666"/>
            </a:avLst>
          </a:prstGeom>
          <a:solidFill>
            <a:srgbClr val="F7E7DA"/>
          </a:solidFill>
          <a:ln w="12700" cap="flat" cmpd="sng">
            <a:solidFill>
              <a:srgbClr val="F7E7DA">
                <a:alpha val="0"/>
              </a:srgbClr>
            </a:solidFill>
            <a:prstDash val="solid"/>
            <a:round/>
          </a:ln>
        </p:spPr>
      </p:sp>
      <p:sp>
        <p:nvSpPr>
          <p:cNvPr id="75" name="圆角矩形"/>
          <p:cNvSpPr>
            <a:spLocks/>
          </p:cNvSpPr>
          <p:nvPr/>
        </p:nvSpPr>
        <p:spPr>
          <a:xfrm>
            <a:off x="6254496" y="3419856"/>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76" name="矩形"/>
          <p:cNvSpPr>
            <a:spLocks/>
          </p:cNvSpPr>
          <p:nvPr/>
        </p:nvSpPr>
        <p:spPr>
          <a:xfrm>
            <a:off x="6391656" y="3474720"/>
            <a:ext cx="25603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02</a:t>
            </a:r>
            <a:endParaRPr lang="zh-CN" altLang="en-US" sz="1000" b="0" i="0" u="none" strike="noStrike" kern="1200" cap="none" spc="0" baseline="0">
              <a:solidFill>
                <a:schemeClr val="tx1"/>
              </a:solidFill>
              <a:latin typeface="Lato" charset="0"/>
              <a:ea typeface="等线" charset="0"/>
              <a:cs typeface="Lato" charset="0"/>
            </a:endParaRPr>
          </a:p>
        </p:txBody>
      </p:sp>
      <p:sp>
        <p:nvSpPr>
          <p:cNvPr id="77" name="矩形"/>
          <p:cNvSpPr>
            <a:spLocks/>
          </p:cNvSpPr>
          <p:nvPr/>
        </p:nvSpPr>
        <p:spPr>
          <a:xfrm>
            <a:off x="6976872" y="3374136"/>
            <a:ext cx="4050792"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Scenario</a:t>
            </a:r>
            <a:endParaRPr lang="zh-CN" altLang="en-US" sz="1920" b="0" i="0" u="none" strike="noStrike" kern="1200" cap="none" spc="0" baseline="0">
              <a:solidFill>
                <a:schemeClr val="tx1"/>
              </a:solidFill>
              <a:latin typeface="Lato" charset="0"/>
              <a:ea typeface="等线" charset="0"/>
              <a:cs typeface="Lato" charset="0"/>
            </a:endParaRPr>
          </a:p>
        </p:txBody>
      </p:sp>
      <p:sp>
        <p:nvSpPr>
          <p:cNvPr id="78" name="矩形"/>
          <p:cNvSpPr>
            <a:spLocks/>
          </p:cNvSpPr>
          <p:nvPr/>
        </p:nvSpPr>
        <p:spPr>
          <a:xfrm>
            <a:off x="6976872" y="3749040"/>
            <a:ext cx="3931917"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30" b="0" i="0" u="none" strike="noStrike" kern="1200" cap="none" spc="0" baseline="0">
                <a:solidFill>
                  <a:schemeClr val="tx1"/>
                </a:solidFill>
                <a:latin typeface="Lato" charset="0"/>
                <a:ea typeface="等线" charset="0"/>
                <a:cs typeface="Lato" charset="0"/>
              </a:rPr>
              <a:t>In a dirty public areas of the dorm</a:t>
            </a:r>
            <a:endParaRPr lang="zh-CN" altLang="en-US" sz="1330" b="0" i="0" u="none" strike="noStrike" kern="1200" cap="none" spc="0" baseline="0">
              <a:solidFill>
                <a:schemeClr val="tx1"/>
              </a:solidFill>
              <a:latin typeface="Lato" charset="0"/>
              <a:ea typeface="等线" charset="0"/>
              <a:cs typeface="Lato" charset="0"/>
            </a:endParaRPr>
          </a:p>
        </p:txBody>
      </p:sp>
      <p:sp>
        <p:nvSpPr>
          <p:cNvPr id="79" name="圆角矩形"/>
          <p:cNvSpPr>
            <a:spLocks/>
          </p:cNvSpPr>
          <p:nvPr/>
        </p:nvSpPr>
        <p:spPr>
          <a:xfrm>
            <a:off x="6089904" y="4498848"/>
            <a:ext cx="5221224" cy="1097279"/>
          </a:xfrm>
          <a:prstGeom prst="roundRect">
            <a:avLst>
              <a:gd name="adj" fmla="val 16666"/>
            </a:avLst>
          </a:prstGeom>
          <a:solidFill>
            <a:srgbClr val="FFFDF9"/>
          </a:solidFill>
          <a:ln w="12700" cap="flat" cmpd="sng">
            <a:solidFill>
              <a:srgbClr val="FFFDF9">
                <a:alpha val="0"/>
              </a:srgbClr>
            </a:solidFill>
            <a:prstDash val="solid"/>
            <a:round/>
          </a:ln>
        </p:spPr>
      </p:sp>
      <p:sp>
        <p:nvSpPr>
          <p:cNvPr id="80" name="圆角矩形"/>
          <p:cNvSpPr>
            <a:spLocks/>
          </p:cNvSpPr>
          <p:nvPr/>
        </p:nvSpPr>
        <p:spPr>
          <a:xfrm>
            <a:off x="6254496" y="4718304"/>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81" name="矩形"/>
          <p:cNvSpPr>
            <a:spLocks/>
          </p:cNvSpPr>
          <p:nvPr/>
        </p:nvSpPr>
        <p:spPr>
          <a:xfrm>
            <a:off x="6391656" y="4773168"/>
            <a:ext cx="25603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03</a:t>
            </a:r>
            <a:endParaRPr lang="zh-CN" altLang="en-US" sz="1000" b="0" i="0" u="none" strike="noStrike" kern="1200" cap="none" spc="0" baseline="0">
              <a:solidFill>
                <a:schemeClr val="tx1"/>
              </a:solidFill>
              <a:latin typeface="Lato" charset="0"/>
              <a:ea typeface="等线" charset="0"/>
              <a:cs typeface="Lato" charset="0"/>
            </a:endParaRPr>
          </a:p>
        </p:txBody>
      </p:sp>
      <p:sp>
        <p:nvSpPr>
          <p:cNvPr id="82" name="矩形"/>
          <p:cNvSpPr>
            <a:spLocks/>
          </p:cNvSpPr>
          <p:nvPr/>
        </p:nvSpPr>
        <p:spPr>
          <a:xfrm>
            <a:off x="6976872" y="4672584"/>
            <a:ext cx="4050792" cy="29260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Problem</a:t>
            </a:r>
            <a:endParaRPr lang="zh-CN" altLang="en-US" sz="1920" b="0" i="0" u="none" strike="noStrike" kern="1200" cap="none" spc="0" baseline="0">
              <a:solidFill>
                <a:schemeClr val="tx1"/>
              </a:solidFill>
              <a:latin typeface="Lato" charset="0"/>
              <a:ea typeface="等线" charset="0"/>
              <a:cs typeface="Lato" charset="0"/>
            </a:endParaRPr>
          </a:p>
        </p:txBody>
      </p:sp>
      <p:sp>
        <p:nvSpPr>
          <p:cNvPr id="83" name="矩形"/>
          <p:cNvSpPr>
            <a:spLocks/>
          </p:cNvSpPr>
          <p:nvPr/>
        </p:nvSpPr>
        <p:spPr>
          <a:xfrm>
            <a:off x="6976872" y="5047488"/>
            <a:ext cx="3931917"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30" b="0" i="0" u="none" strike="noStrike" kern="1200" cap="none" spc="0" baseline="0">
                <a:solidFill>
                  <a:schemeClr val="tx1"/>
                </a:solidFill>
                <a:latin typeface="Lato" charset="0"/>
                <a:ea typeface="等线" charset="0"/>
                <a:cs typeface="Lato" charset="0"/>
              </a:rPr>
              <a:t>Take the responsibility to clean</a:t>
            </a:r>
            <a:endParaRPr lang="zh-CN" altLang="en-US" sz="13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174715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89"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90"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OBSERVED PROBLEM</a:t>
            </a:r>
            <a:endParaRPr lang="zh-CN" altLang="en-US" sz="950" b="0" i="0" u="none" strike="noStrike" kern="1200" cap="none" spc="0" baseline="0">
              <a:solidFill>
                <a:schemeClr val="tx1"/>
              </a:solidFill>
              <a:latin typeface="Lato" charset="0"/>
              <a:ea typeface="等线" charset="0"/>
              <a:cs typeface="Lato" charset="0"/>
            </a:endParaRPr>
          </a:p>
        </p:txBody>
      </p:sp>
      <p:sp>
        <p:nvSpPr>
          <p:cNvPr id="91"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92"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93"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04  /  19</a:t>
            </a:r>
            <a:endParaRPr lang="zh-CN" altLang="en-US" sz="950" b="0" i="0" u="none" strike="noStrike" kern="1200" cap="none" spc="0" baseline="0">
              <a:solidFill>
                <a:schemeClr val="tx1"/>
              </a:solidFill>
              <a:latin typeface="Lato" charset="0"/>
              <a:ea typeface="等线" charset="0"/>
              <a:cs typeface="Lato" charset="0"/>
            </a:endParaRPr>
          </a:p>
        </p:txBody>
      </p:sp>
      <p:sp>
        <p:nvSpPr>
          <p:cNvPr id="94"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chemeClr val="tx1"/>
                </a:solidFill>
                <a:latin typeface="Lato" charset="0"/>
                <a:ea typeface="等线" charset="0"/>
                <a:cs typeface="Lato" charset="0"/>
              </a:rPr>
              <a:t>Find the reason behind the phenomenon</a:t>
            </a:r>
            <a:endParaRPr lang="zh-CN" altLang="en-US" sz="3050" b="0" i="0" u="none" strike="noStrike" kern="1200" cap="none" spc="0" baseline="0">
              <a:solidFill>
                <a:schemeClr val="tx1"/>
              </a:solidFill>
              <a:latin typeface="Lato" charset="0"/>
              <a:ea typeface="等线" charset="0"/>
              <a:cs typeface="Lato" charset="0"/>
            </a:endParaRPr>
          </a:p>
        </p:txBody>
      </p:sp>
      <p:sp>
        <p:nvSpPr>
          <p:cNvPr id="95"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chemeClr val="tx1"/>
                </a:solidFill>
                <a:latin typeface="Lato" charset="0"/>
                <a:ea typeface="等线" charset="0"/>
                <a:cs typeface="Lato" charset="0"/>
              </a:rPr>
              <a:t>Why do dormitory common areas remain dirty?</a:t>
            </a:r>
            <a:endParaRPr lang="zh-CN" altLang="en-US" sz="1550" b="0" i="0" u="none" strike="noStrike" kern="1200" cap="none" spc="0" baseline="0">
              <a:solidFill>
                <a:schemeClr val="tx1"/>
              </a:solidFill>
              <a:latin typeface="Lato" charset="0"/>
              <a:ea typeface="等线" charset="0"/>
              <a:cs typeface="Lato" charset="0"/>
            </a:endParaRPr>
          </a:p>
        </p:txBody>
      </p:sp>
      <p:pic>
        <p:nvPicPr>
          <p:cNvPr id="96" name="图片" descr="/mnt/data/jebo_assets/bin.png"/>
          <p:cNvPicPr>
            <a:picLocks noChangeAspect="1"/>
          </p:cNvPicPr>
          <p:nvPr/>
        </p:nvPicPr>
        <p:blipFill>
          <a:blip r:embed="rId4" cstate="print"/>
          <a:stretch>
            <a:fillRect/>
          </a:stretch>
        </p:blipFill>
        <p:spPr>
          <a:xfrm>
            <a:off x="630936" y="1847088"/>
            <a:ext cx="5303520" cy="4123943"/>
          </a:xfrm>
          <a:prstGeom prst="rect">
            <a:avLst/>
          </a:prstGeom>
          <a:noFill/>
          <a:ln w="12700" cap="flat" cmpd="sng">
            <a:noFill/>
            <a:prstDash val="solid"/>
            <a:miter/>
          </a:ln>
        </p:spPr>
      </p:pic>
      <p:sp>
        <p:nvSpPr>
          <p:cNvPr id="97" name="圆角矩形"/>
          <p:cNvSpPr>
            <a:spLocks/>
          </p:cNvSpPr>
          <p:nvPr/>
        </p:nvSpPr>
        <p:spPr>
          <a:xfrm>
            <a:off x="6089904" y="1901951"/>
            <a:ext cx="5221224" cy="1097279"/>
          </a:xfrm>
          <a:prstGeom prst="roundRect">
            <a:avLst>
              <a:gd name="adj" fmla="val 16666"/>
            </a:avLst>
          </a:prstGeom>
          <a:solidFill>
            <a:srgbClr val="FFFDF9"/>
          </a:solidFill>
          <a:ln w="12700" cap="flat" cmpd="sng">
            <a:solidFill>
              <a:srgbClr val="FFFDF9">
                <a:alpha val="0"/>
              </a:srgbClr>
            </a:solidFill>
            <a:prstDash val="solid"/>
            <a:round/>
          </a:ln>
        </p:spPr>
      </p:sp>
      <p:sp>
        <p:nvSpPr>
          <p:cNvPr id="98" name="圆角矩形"/>
          <p:cNvSpPr>
            <a:spLocks/>
          </p:cNvSpPr>
          <p:nvPr/>
        </p:nvSpPr>
        <p:spPr>
          <a:xfrm>
            <a:off x="6254496" y="2121408"/>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99" name="矩形"/>
          <p:cNvSpPr>
            <a:spLocks/>
          </p:cNvSpPr>
          <p:nvPr/>
        </p:nvSpPr>
        <p:spPr>
          <a:xfrm>
            <a:off x="6391656" y="2176272"/>
            <a:ext cx="25603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01</a:t>
            </a:r>
            <a:endParaRPr lang="zh-CN" altLang="en-US" sz="1000" b="0" i="0" u="none" strike="noStrike" kern="1200" cap="none" spc="0" baseline="0">
              <a:solidFill>
                <a:schemeClr val="tx1"/>
              </a:solidFill>
              <a:latin typeface="Lato" charset="0"/>
              <a:ea typeface="等线" charset="0"/>
              <a:cs typeface="Lato" charset="0"/>
            </a:endParaRPr>
          </a:p>
        </p:txBody>
      </p:sp>
      <p:sp>
        <p:nvSpPr>
          <p:cNvPr id="100" name="矩形"/>
          <p:cNvSpPr>
            <a:spLocks/>
          </p:cNvSpPr>
          <p:nvPr/>
        </p:nvSpPr>
        <p:spPr>
          <a:xfrm>
            <a:off x="6976872" y="2075688"/>
            <a:ext cx="4334255" cy="74980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Lack of responsibility</a:t>
            </a:r>
            <a:endParaRPr lang="zh-CN" altLang="en-US" sz="1920" b="0" i="0" u="none" strike="noStrike" kern="1200" cap="none" spc="0" baseline="0">
              <a:solidFill>
                <a:schemeClr val="tx1"/>
              </a:solidFill>
              <a:latin typeface="Lato" charset="0"/>
              <a:ea typeface="等线" charset="0"/>
              <a:cs typeface="Lato" charset="0"/>
            </a:endParaRPr>
          </a:p>
        </p:txBody>
      </p:sp>
      <p:sp>
        <p:nvSpPr>
          <p:cNvPr id="101" name="圆角矩形"/>
          <p:cNvSpPr>
            <a:spLocks/>
          </p:cNvSpPr>
          <p:nvPr/>
        </p:nvSpPr>
        <p:spPr>
          <a:xfrm>
            <a:off x="6089904" y="3200400"/>
            <a:ext cx="5221224" cy="1097280"/>
          </a:xfrm>
          <a:prstGeom prst="roundRect">
            <a:avLst>
              <a:gd name="adj" fmla="val 16666"/>
            </a:avLst>
          </a:prstGeom>
          <a:solidFill>
            <a:srgbClr val="F7E7DA"/>
          </a:solidFill>
          <a:ln w="12700" cap="flat" cmpd="sng">
            <a:solidFill>
              <a:srgbClr val="F7E7DA">
                <a:alpha val="0"/>
              </a:srgbClr>
            </a:solidFill>
            <a:prstDash val="solid"/>
            <a:round/>
          </a:ln>
        </p:spPr>
      </p:sp>
      <p:sp>
        <p:nvSpPr>
          <p:cNvPr id="102" name="圆角矩形"/>
          <p:cNvSpPr>
            <a:spLocks/>
          </p:cNvSpPr>
          <p:nvPr/>
        </p:nvSpPr>
        <p:spPr>
          <a:xfrm>
            <a:off x="6254496" y="3419856"/>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103" name="矩形"/>
          <p:cNvSpPr>
            <a:spLocks/>
          </p:cNvSpPr>
          <p:nvPr/>
        </p:nvSpPr>
        <p:spPr>
          <a:xfrm>
            <a:off x="6391656" y="3474720"/>
            <a:ext cx="25603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02</a:t>
            </a:r>
            <a:endParaRPr lang="zh-CN" altLang="en-US" sz="1000" b="0" i="0" u="none" strike="noStrike" kern="1200" cap="none" spc="0" baseline="0">
              <a:solidFill>
                <a:schemeClr val="tx1"/>
              </a:solidFill>
              <a:latin typeface="Lato" charset="0"/>
              <a:ea typeface="等线" charset="0"/>
              <a:cs typeface="Lato" charset="0"/>
            </a:endParaRPr>
          </a:p>
        </p:txBody>
      </p:sp>
      <p:sp>
        <p:nvSpPr>
          <p:cNvPr id="104" name="矩形"/>
          <p:cNvSpPr>
            <a:spLocks/>
          </p:cNvSpPr>
          <p:nvPr/>
        </p:nvSpPr>
        <p:spPr>
          <a:xfrm>
            <a:off x="6976872" y="3451363"/>
            <a:ext cx="4105654" cy="4834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No habit of keeping clean</a:t>
            </a:r>
            <a:endParaRPr lang="zh-CN" altLang="en-US" sz="1920" b="0" i="0" u="none" strike="noStrike" kern="1200" cap="none" spc="0" baseline="0">
              <a:solidFill>
                <a:schemeClr val="tx1"/>
              </a:solidFill>
              <a:latin typeface="Lato" charset="0"/>
              <a:ea typeface="等线" charset="0"/>
              <a:cs typeface="Lato" charset="0"/>
            </a:endParaRPr>
          </a:p>
        </p:txBody>
      </p:sp>
      <p:sp>
        <p:nvSpPr>
          <p:cNvPr id="105" name="圆角矩形"/>
          <p:cNvSpPr>
            <a:spLocks/>
          </p:cNvSpPr>
          <p:nvPr/>
        </p:nvSpPr>
        <p:spPr>
          <a:xfrm>
            <a:off x="6089904" y="4498848"/>
            <a:ext cx="5221224" cy="1097279"/>
          </a:xfrm>
          <a:prstGeom prst="roundRect">
            <a:avLst>
              <a:gd name="adj" fmla="val 16666"/>
            </a:avLst>
          </a:prstGeom>
          <a:solidFill>
            <a:srgbClr val="FFFDF9"/>
          </a:solidFill>
          <a:ln w="12700" cap="flat" cmpd="sng">
            <a:solidFill>
              <a:srgbClr val="FFFDF9">
                <a:alpha val="0"/>
              </a:srgbClr>
            </a:solidFill>
            <a:prstDash val="solid"/>
            <a:round/>
          </a:ln>
        </p:spPr>
      </p:sp>
      <p:sp>
        <p:nvSpPr>
          <p:cNvPr id="106" name="圆角矩形"/>
          <p:cNvSpPr>
            <a:spLocks/>
          </p:cNvSpPr>
          <p:nvPr/>
        </p:nvSpPr>
        <p:spPr>
          <a:xfrm>
            <a:off x="6254496" y="4718304"/>
            <a:ext cx="53035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107" name="矩形"/>
          <p:cNvSpPr>
            <a:spLocks/>
          </p:cNvSpPr>
          <p:nvPr/>
        </p:nvSpPr>
        <p:spPr>
          <a:xfrm>
            <a:off x="6391656" y="4773168"/>
            <a:ext cx="25603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526F5F"/>
                </a:solidFill>
                <a:latin typeface="Lato" charset="0"/>
                <a:ea typeface="Lato" charset="0"/>
                <a:cs typeface="Lato" charset="0"/>
              </a:rPr>
              <a:t>03</a:t>
            </a:r>
            <a:endParaRPr lang="zh-CN" altLang="en-US" sz="1000" b="0" i="0" u="none" strike="noStrike" kern="1200" cap="none" spc="0" baseline="0">
              <a:solidFill>
                <a:schemeClr val="tx1"/>
              </a:solidFill>
              <a:latin typeface="Lato" charset="0"/>
              <a:ea typeface="等线" charset="0"/>
              <a:cs typeface="Lato" charset="0"/>
            </a:endParaRPr>
          </a:p>
        </p:txBody>
      </p:sp>
      <p:sp>
        <p:nvSpPr>
          <p:cNvPr id="108" name="矩形"/>
          <p:cNvSpPr>
            <a:spLocks/>
          </p:cNvSpPr>
          <p:nvPr/>
        </p:nvSpPr>
        <p:spPr>
          <a:xfrm>
            <a:off x="6976872" y="4801298"/>
            <a:ext cx="4050792" cy="29260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20" b="1" i="0" u="none" strike="noStrike" kern="1200" cap="none" spc="0" baseline="0">
                <a:solidFill>
                  <a:srgbClr val="37443B"/>
                </a:solidFill>
                <a:latin typeface="Lato" charset="0"/>
                <a:ea typeface="Lato" charset="0"/>
                <a:cs typeface="Lato" charset="0"/>
              </a:rPr>
              <a:t>Lack of time for cleaning</a:t>
            </a:r>
            <a:endParaRPr lang="zh-CN" altLang="en-US" sz="192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40923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114"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115"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TARGET CUSTOMER</a:t>
            </a:r>
            <a:endParaRPr lang="zh-CN" altLang="en-US" sz="950" b="0" i="0" u="none" strike="noStrike" kern="1200" cap="none" spc="0" baseline="0">
              <a:solidFill>
                <a:schemeClr val="tx1"/>
              </a:solidFill>
              <a:latin typeface="Lato" charset="0"/>
              <a:ea typeface="等线" charset="0"/>
              <a:cs typeface="Lato" charset="0"/>
            </a:endParaRPr>
          </a:p>
        </p:txBody>
      </p:sp>
      <p:sp>
        <p:nvSpPr>
          <p:cNvPr id="116"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117"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118"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05  /  19</a:t>
            </a:r>
            <a:endParaRPr lang="zh-CN" altLang="en-US" sz="950" b="0" i="0" u="none" strike="noStrike" kern="1200" cap="none" spc="0" baseline="0">
              <a:solidFill>
                <a:schemeClr val="tx1"/>
              </a:solidFill>
              <a:latin typeface="Lato" charset="0"/>
              <a:ea typeface="等线" charset="0"/>
              <a:cs typeface="Lato" charset="0"/>
            </a:endParaRPr>
          </a:p>
        </p:txBody>
      </p:sp>
      <p:sp>
        <p:nvSpPr>
          <p:cNvPr id="119"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For the roommate who always ends up cleaning</a:t>
            </a:r>
            <a:endParaRPr lang="zh-CN" altLang="en-US" sz="3050" b="0" i="0" u="none" strike="noStrike" kern="1200" cap="none" spc="0" baseline="0">
              <a:solidFill>
                <a:schemeClr val="tx1"/>
              </a:solidFill>
              <a:latin typeface="Lato" charset="0"/>
              <a:ea typeface="等线" charset="0"/>
              <a:cs typeface="Lato" charset="0"/>
            </a:endParaRPr>
          </a:p>
        </p:txBody>
      </p:sp>
      <p:sp>
        <p:nvSpPr>
          <p:cNvPr id="120"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Our focus is not everyone in a dorm—at least not yet.</a:t>
            </a:r>
            <a:endParaRPr lang="zh-CN" altLang="en-US" sz="1550" b="0" i="0" u="none" strike="noStrike" kern="1200" cap="none" spc="0" baseline="0">
              <a:solidFill>
                <a:schemeClr val="tx1"/>
              </a:solidFill>
              <a:latin typeface="Lato" charset="0"/>
              <a:ea typeface="等线" charset="0"/>
              <a:cs typeface="Lato" charset="0"/>
            </a:endParaRPr>
          </a:p>
        </p:txBody>
      </p:sp>
      <p:sp>
        <p:nvSpPr>
          <p:cNvPr id="121" name="圆角矩形"/>
          <p:cNvSpPr>
            <a:spLocks/>
          </p:cNvSpPr>
          <p:nvPr/>
        </p:nvSpPr>
        <p:spPr>
          <a:xfrm>
            <a:off x="768096" y="2039112"/>
            <a:ext cx="3931920" cy="3355848"/>
          </a:xfrm>
          <a:prstGeom prst="roundRect">
            <a:avLst>
              <a:gd name="adj" fmla="val 5449"/>
            </a:avLst>
          </a:prstGeom>
          <a:solidFill>
            <a:srgbClr val="DDE8DD"/>
          </a:solidFill>
          <a:ln w="12700" cap="flat" cmpd="sng">
            <a:solidFill>
              <a:srgbClr val="DDE8DD">
                <a:alpha val="0"/>
              </a:srgbClr>
            </a:solidFill>
            <a:prstDash val="solid"/>
            <a:round/>
          </a:ln>
        </p:spPr>
      </p:sp>
      <p:sp>
        <p:nvSpPr>
          <p:cNvPr id="122" name="椭圆"/>
          <p:cNvSpPr>
            <a:spLocks/>
          </p:cNvSpPr>
          <p:nvPr/>
        </p:nvSpPr>
        <p:spPr>
          <a:xfrm>
            <a:off x="1042416" y="2331720"/>
            <a:ext cx="740664" cy="740664"/>
          </a:xfrm>
          <a:prstGeom prst="ellipse">
            <a:avLst/>
          </a:prstGeom>
          <a:solidFill>
            <a:srgbClr val="CE8067"/>
          </a:solidFill>
          <a:ln w="12700" cap="flat" cmpd="sng">
            <a:solidFill>
              <a:srgbClr val="CE8067">
                <a:alpha val="0"/>
              </a:srgbClr>
            </a:solidFill>
            <a:prstDash val="solid"/>
            <a:round/>
          </a:ln>
        </p:spPr>
      </p:sp>
      <p:sp>
        <p:nvSpPr>
          <p:cNvPr id="123" name="椭圆"/>
          <p:cNvSpPr>
            <a:spLocks/>
          </p:cNvSpPr>
          <p:nvPr/>
        </p:nvSpPr>
        <p:spPr>
          <a:xfrm>
            <a:off x="1278787" y="2487167"/>
            <a:ext cx="188821" cy="188823"/>
          </a:xfrm>
          <a:prstGeom prst="ellipse">
            <a:avLst/>
          </a:prstGeom>
          <a:solidFill>
            <a:srgbClr val="FFFFFF"/>
          </a:solidFill>
          <a:ln w="12700" cap="flat" cmpd="sng">
            <a:solidFill>
              <a:srgbClr val="FFFFFF">
                <a:alpha val="0"/>
              </a:srgbClr>
            </a:solidFill>
            <a:prstDash val="solid"/>
            <a:round/>
          </a:ln>
        </p:spPr>
      </p:sp>
      <p:sp>
        <p:nvSpPr>
          <p:cNvPr id="124" name="圆角矩形"/>
          <p:cNvSpPr>
            <a:spLocks/>
          </p:cNvSpPr>
          <p:nvPr/>
        </p:nvSpPr>
        <p:spPr>
          <a:xfrm>
            <a:off x="1230234" y="2702966"/>
            <a:ext cx="296723" cy="253562"/>
          </a:xfrm>
          <a:prstGeom prst="roundRect">
            <a:avLst>
              <a:gd name="adj" fmla="val 54092"/>
            </a:avLst>
          </a:prstGeom>
          <a:solidFill>
            <a:srgbClr val="FFFFFF"/>
          </a:solidFill>
          <a:ln w="12700" cap="flat" cmpd="sng">
            <a:solidFill>
              <a:srgbClr val="FFFFFF">
                <a:alpha val="0"/>
              </a:srgbClr>
            </a:solidFill>
            <a:prstDash val="solid"/>
            <a:round/>
          </a:ln>
        </p:spPr>
      </p:sp>
      <p:sp>
        <p:nvSpPr>
          <p:cNvPr id="125" name="矩形"/>
          <p:cNvSpPr>
            <a:spLocks/>
          </p:cNvSpPr>
          <p:nvPr/>
        </p:nvSpPr>
        <p:spPr>
          <a:xfrm>
            <a:off x="1097280" y="3273552"/>
            <a:ext cx="3364992" cy="9144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700" b="0" i="0" u="none" strike="noStrike" kern="1200" cap="none" spc="0" baseline="0">
                <a:solidFill>
                  <a:srgbClr val="40584C"/>
                </a:solidFill>
                <a:latin typeface="Georgia" charset="0"/>
                <a:ea typeface="Georgia" charset="0"/>
                <a:cs typeface="Georgia" charset="0"/>
              </a:rPr>
              <a:t>The hygiene-conscious</a:t>
            </a:r>
            <a:endParaRPr lang="en-US" altLang="zh-CN" sz="270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2700" b="0" i="0" u="none" strike="noStrike" kern="1200" cap="none" spc="0" baseline="0">
                <a:solidFill>
                  <a:srgbClr val="40584C"/>
                </a:solidFill>
                <a:latin typeface="Georgia" charset="0"/>
                <a:ea typeface="Georgia" charset="0"/>
                <a:cs typeface="Georgia" charset="0"/>
              </a:rPr>
              <a:t>roommate</a:t>
            </a:r>
            <a:endParaRPr lang="zh-CN" altLang="en-US" sz="2700" b="0" i="0" u="none" strike="noStrike" kern="1200" cap="none" spc="0" baseline="0">
              <a:solidFill>
                <a:schemeClr val="tx1"/>
              </a:solidFill>
              <a:latin typeface="Lato" charset="0"/>
              <a:ea typeface="等线" charset="0"/>
              <a:cs typeface="Lato" charset="0"/>
            </a:endParaRPr>
          </a:p>
        </p:txBody>
      </p:sp>
      <p:sp>
        <p:nvSpPr>
          <p:cNvPr id="126" name="矩形"/>
          <p:cNvSpPr>
            <a:spLocks/>
          </p:cNvSpPr>
          <p:nvPr/>
        </p:nvSpPr>
        <p:spPr>
          <a:xfrm>
            <a:off x="1097280" y="4590288"/>
            <a:ext cx="3273552" cy="51206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700" b="0" i="0" u="none" strike="noStrike" kern="1200" cap="none" spc="0" baseline="0">
                <a:solidFill>
                  <a:srgbClr val="40584C"/>
                </a:solidFill>
                <a:latin typeface="Lato" charset="0"/>
                <a:ea typeface="Lato" charset="0"/>
                <a:cs typeface="Lato" charset="0"/>
              </a:rPr>
              <a:t>Wants a clean space without having to confront friends.</a:t>
            </a:r>
            <a:endParaRPr lang="zh-CN" altLang="en-US" sz="1700" b="0" i="0" u="none" strike="noStrike" kern="1200" cap="none" spc="0" baseline="0">
              <a:solidFill>
                <a:schemeClr val="tx1"/>
              </a:solidFill>
              <a:latin typeface="Lato" charset="0"/>
              <a:ea typeface="等线" charset="0"/>
              <a:cs typeface="Lato" charset="0"/>
            </a:endParaRPr>
          </a:p>
        </p:txBody>
      </p:sp>
      <p:sp>
        <p:nvSpPr>
          <p:cNvPr id="127" name="圆角矩形"/>
          <p:cNvSpPr>
            <a:spLocks/>
          </p:cNvSpPr>
          <p:nvPr/>
        </p:nvSpPr>
        <p:spPr>
          <a:xfrm>
            <a:off x="4937760" y="2084832"/>
            <a:ext cx="2971799" cy="1481328"/>
          </a:xfrm>
          <a:prstGeom prst="roundRect">
            <a:avLst>
              <a:gd name="adj" fmla="val 12347"/>
            </a:avLst>
          </a:prstGeom>
          <a:solidFill>
            <a:srgbClr val="FFFDF9"/>
          </a:solidFill>
          <a:ln w="12700" cap="flat" cmpd="sng">
            <a:solidFill>
              <a:srgbClr val="FFFDF9">
                <a:alpha val="0"/>
              </a:srgbClr>
            </a:solidFill>
            <a:prstDash val="solid"/>
            <a:round/>
          </a:ln>
        </p:spPr>
      </p:sp>
      <p:sp>
        <p:nvSpPr>
          <p:cNvPr id="128" name="矩形"/>
          <p:cNvSpPr>
            <a:spLocks/>
          </p:cNvSpPr>
          <p:nvPr/>
        </p:nvSpPr>
        <p:spPr>
          <a:xfrm>
            <a:off x="5184648" y="2313432"/>
            <a:ext cx="2478024"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Lost time</a:t>
            </a:r>
            <a:endParaRPr lang="zh-CN" altLang="en-US" sz="2000" b="0" i="0" u="none" strike="noStrike" kern="1200" cap="none" spc="0" baseline="0">
              <a:solidFill>
                <a:schemeClr val="tx1"/>
              </a:solidFill>
              <a:latin typeface="Lato" charset="0"/>
              <a:ea typeface="等线" charset="0"/>
              <a:cs typeface="Lato" charset="0"/>
            </a:endParaRPr>
          </a:p>
        </p:txBody>
      </p:sp>
      <p:sp>
        <p:nvSpPr>
          <p:cNvPr id="129" name="矩形"/>
          <p:cNvSpPr>
            <a:spLocks/>
          </p:cNvSpPr>
          <p:nvPr/>
        </p:nvSpPr>
        <p:spPr>
          <a:xfrm>
            <a:off x="5184648" y="2816352"/>
            <a:ext cx="2478024" cy="52120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Cleaning replaces studying, resting or socializing.</a:t>
            </a:r>
            <a:endParaRPr lang="zh-CN" altLang="en-US" sz="1500" b="0" i="0" u="none" strike="noStrike" kern="1200" cap="none" spc="0" baseline="0">
              <a:solidFill>
                <a:schemeClr val="tx1"/>
              </a:solidFill>
              <a:latin typeface="Lato" charset="0"/>
              <a:ea typeface="等线" charset="0"/>
              <a:cs typeface="Lato" charset="0"/>
            </a:endParaRPr>
          </a:p>
        </p:txBody>
      </p:sp>
      <p:sp>
        <p:nvSpPr>
          <p:cNvPr id="130" name="圆角矩形"/>
          <p:cNvSpPr>
            <a:spLocks/>
          </p:cNvSpPr>
          <p:nvPr/>
        </p:nvSpPr>
        <p:spPr>
          <a:xfrm>
            <a:off x="8083296" y="2084832"/>
            <a:ext cx="3310128" cy="1481328"/>
          </a:xfrm>
          <a:prstGeom prst="roundRect">
            <a:avLst>
              <a:gd name="adj" fmla="val 12347"/>
            </a:avLst>
          </a:prstGeom>
          <a:solidFill>
            <a:srgbClr val="F7E7DA"/>
          </a:solidFill>
          <a:ln w="12700" cap="flat" cmpd="sng">
            <a:solidFill>
              <a:srgbClr val="F7E7DA">
                <a:alpha val="0"/>
              </a:srgbClr>
            </a:solidFill>
            <a:prstDash val="solid"/>
            <a:round/>
          </a:ln>
        </p:spPr>
      </p:sp>
      <p:sp>
        <p:nvSpPr>
          <p:cNvPr id="131" name="矩形"/>
          <p:cNvSpPr>
            <a:spLocks/>
          </p:cNvSpPr>
          <p:nvPr/>
        </p:nvSpPr>
        <p:spPr>
          <a:xfrm>
            <a:off x="8330184" y="2313432"/>
            <a:ext cx="2816352"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Unfair burden</a:t>
            </a:r>
            <a:endParaRPr lang="zh-CN" altLang="en-US" sz="2000" b="0" i="0" u="none" strike="noStrike" kern="1200" cap="none" spc="0" baseline="0">
              <a:solidFill>
                <a:schemeClr val="tx1"/>
              </a:solidFill>
              <a:latin typeface="Lato" charset="0"/>
              <a:ea typeface="等线" charset="0"/>
              <a:cs typeface="Lato" charset="0"/>
            </a:endParaRPr>
          </a:p>
        </p:txBody>
      </p:sp>
      <p:sp>
        <p:nvSpPr>
          <p:cNvPr id="132" name="矩形"/>
          <p:cNvSpPr>
            <a:spLocks/>
          </p:cNvSpPr>
          <p:nvPr/>
        </p:nvSpPr>
        <p:spPr>
          <a:xfrm>
            <a:off x="8330184" y="2816352"/>
            <a:ext cx="2816352" cy="52120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Shared mess, but responsibility falls on one person.</a:t>
            </a:r>
            <a:endParaRPr lang="zh-CN" altLang="en-US" sz="1500" b="0" i="0" u="none" strike="noStrike" kern="1200" cap="none" spc="0" baseline="0">
              <a:solidFill>
                <a:schemeClr val="tx1"/>
              </a:solidFill>
              <a:latin typeface="Lato" charset="0"/>
              <a:ea typeface="等线" charset="0"/>
              <a:cs typeface="Lato" charset="0"/>
            </a:endParaRPr>
          </a:p>
        </p:txBody>
      </p:sp>
      <p:sp>
        <p:nvSpPr>
          <p:cNvPr id="133" name="圆角矩形"/>
          <p:cNvSpPr>
            <a:spLocks/>
          </p:cNvSpPr>
          <p:nvPr/>
        </p:nvSpPr>
        <p:spPr>
          <a:xfrm>
            <a:off x="4937760" y="3803903"/>
            <a:ext cx="6455664" cy="1600199"/>
          </a:xfrm>
          <a:prstGeom prst="roundRect">
            <a:avLst>
              <a:gd name="adj" fmla="val 11430"/>
            </a:avLst>
          </a:prstGeom>
          <a:solidFill>
            <a:srgbClr val="FFFDF9"/>
          </a:solidFill>
          <a:ln w="12700" cap="flat" cmpd="sng">
            <a:solidFill>
              <a:srgbClr val="FFFDF9">
                <a:alpha val="0"/>
              </a:srgbClr>
            </a:solidFill>
            <a:prstDash val="solid"/>
            <a:round/>
          </a:ln>
        </p:spPr>
      </p:sp>
      <p:sp>
        <p:nvSpPr>
          <p:cNvPr id="134" name="矩形"/>
          <p:cNvSpPr>
            <a:spLocks/>
          </p:cNvSpPr>
          <p:nvPr/>
        </p:nvSpPr>
        <p:spPr>
          <a:xfrm>
            <a:off x="5184648" y="4032504"/>
            <a:ext cx="5961885"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Awkward conversations</a:t>
            </a:r>
            <a:endParaRPr lang="zh-CN" altLang="en-US" sz="2000" b="0" i="0" u="none" strike="noStrike" kern="1200" cap="none" spc="0" baseline="0">
              <a:solidFill>
                <a:schemeClr val="tx1"/>
              </a:solidFill>
              <a:latin typeface="Lato" charset="0"/>
              <a:ea typeface="等线" charset="0"/>
              <a:cs typeface="Lato" charset="0"/>
            </a:endParaRPr>
          </a:p>
        </p:txBody>
      </p:sp>
      <p:sp>
        <p:nvSpPr>
          <p:cNvPr id="135" name="矩形"/>
          <p:cNvSpPr>
            <a:spLocks/>
          </p:cNvSpPr>
          <p:nvPr/>
        </p:nvSpPr>
        <p:spPr>
          <a:xfrm>
            <a:off x="5184648" y="4535424"/>
            <a:ext cx="5961885" cy="64008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Requesting help can feel like starting a fight.</a:t>
            </a:r>
            <a:endParaRPr lang="zh-CN" altLang="en-US" sz="150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38492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141"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142"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JEBO  /  PROPOSED VALUE</a:t>
            </a:r>
            <a:endParaRPr lang="zh-CN" altLang="en-US" sz="950" b="0" i="0" u="none" strike="noStrike" kern="1200" cap="none" spc="0" baseline="0">
              <a:solidFill>
                <a:schemeClr val="tx1"/>
              </a:solidFill>
              <a:latin typeface="Lato" charset="0"/>
              <a:ea typeface="等线" charset="0"/>
              <a:cs typeface="Lato" charset="0"/>
            </a:endParaRPr>
          </a:p>
        </p:txBody>
      </p:sp>
      <p:sp>
        <p:nvSpPr>
          <p:cNvPr id="143"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144"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145"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6 /  19</a:t>
            </a:r>
            <a:endParaRPr lang="zh-CN" altLang="en-US" sz="950" b="0" i="0" u="none" strike="noStrike" kern="1200" cap="none" spc="0" baseline="0">
              <a:solidFill>
                <a:schemeClr val="tx1"/>
              </a:solidFill>
              <a:latin typeface="Lato" charset="0"/>
              <a:ea typeface="等线" charset="0"/>
              <a:cs typeface="Lato" charset="0"/>
            </a:endParaRPr>
          </a:p>
        </p:txBody>
      </p:sp>
      <p:sp>
        <p:nvSpPr>
          <p:cNvPr id="146"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One place to find trusted cleaning help</a:t>
            </a:r>
            <a:endParaRPr lang="zh-CN" altLang="en-US" sz="3050" b="0" i="0" u="none" strike="noStrike" kern="1200" cap="none" spc="0" baseline="0">
              <a:solidFill>
                <a:schemeClr val="tx1"/>
              </a:solidFill>
              <a:latin typeface="Lato" charset="0"/>
              <a:ea typeface="等线" charset="0"/>
              <a:cs typeface="Lato" charset="0"/>
            </a:endParaRPr>
          </a:p>
        </p:txBody>
      </p:sp>
      <p:sp>
        <p:nvSpPr>
          <p:cNvPr id="147"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A concept for making the process simple and transparent.</a:t>
            </a:r>
            <a:endParaRPr lang="zh-CN" altLang="en-US" sz="1550" b="0" i="0" u="none" strike="noStrike" kern="1200" cap="none" spc="0" baseline="0">
              <a:solidFill>
                <a:schemeClr val="tx1"/>
              </a:solidFill>
              <a:latin typeface="Lato" charset="0"/>
              <a:ea typeface="等线" charset="0"/>
              <a:cs typeface="Lato" charset="0"/>
            </a:endParaRPr>
          </a:p>
        </p:txBody>
      </p:sp>
      <p:pic>
        <p:nvPicPr>
          <p:cNvPr id="148" name="图片" descr="/mnt/data/jebo_assets/phone.png"/>
          <p:cNvPicPr>
            <a:picLocks noChangeAspect="1"/>
          </p:cNvPicPr>
          <p:nvPr/>
        </p:nvPicPr>
        <p:blipFill>
          <a:blip r:embed="rId4" cstate="print"/>
          <a:stretch>
            <a:fillRect/>
          </a:stretch>
        </p:blipFill>
        <p:spPr>
          <a:xfrm>
            <a:off x="694944" y="1764791"/>
            <a:ext cx="5303520" cy="4297680"/>
          </a:xfrm>
          <a:prstGeom prst="rect">
            <a:avLst/>
          </a:prstGeom>
          <a:noFill/>
          <a:ln w="12700" cap="flat" cmpd="sng">
            <a:noFill/>
            <a:prstDash val="solid"/>
            <a:miter/>
          </a:ln>
        </p:spPr>
      </p:pic>
      <p:sp>
        <p:nvSpPr>
          <p:cNvPr id="149" name="圆角矩形"/>
          <p:cNvSpPr>
            <a:spLocks/>
          </p:cNvSpPr>
          <p:nvPr/>
        </p:nvSpPr>
        <p:spPr>
          <a:xfrm>
            <a:off x="5907024" y="1828800"/>
            <a:ext cx="5385816" cy="886966"/>
          </a:xfrm>
          <a:prstGeom prst="roundRect">
            <a:avLst>
              <a:gd name="adj" fmla="val 20620"/>
            </a:avLst>
          </a:prstGeom>
          <a:solidFill>
            <a:srgbClr val="FFFDF9"/>
          </a:solidFill>
          <a:ln w="12700" cap="flat" cmpd="sng">
            <a:solidFill>
              <a:srgbClr val="FFFDF9">
                <a:alpha val="0"/>
              </a:srgbClr>
            </a:solidFill>
            <a:prstDash val="solid"/>
            <a:round/>
          </a:ln>
        </p:spPr>
      </p:sp>
      <p:sp>
        <p:nvSpPr>
          <p:cNvPr id="150" name="椭圆"/>
          <p:cNvSpPr>
            <a:spLocks/>
          </p:cNvSpPr>
          <p:nvPr/>
        </p:nvSpPr>
        <p:spPr>
          <a:xfrm>
            <a:off x="6135624" y="2093976"/>
            <a:ext cx="320040" cy="320038"/>
          </a:xfrm>
          <a:prstGeom prst="ellipse">
            <a:avLst/>
          </a:prstGeom>
          <a:solidFill>
            <a:srgbClr val="526F5F"/>
          </a:solidFill>
          <a:ln w="12700" cap="flat" cmpd="sng">
            <a:solidFill>
              <a:srgbClr val="526F5F">
                <a:alpha val="0"/>
              </a:srgbClr>
            </a:solidFill>
            <a:prstDash val="solid"/>
            <a:round/>
          </a:ln>
        </p:spPr>
      </p:sp>
      <p:sp>
        <p:nvSpPr>
          <p:cNvPr id="151" name="矩形"/>
          <p:cNvSpPr>
            <a:spLocks/>
          </p:cNvSpPr>
          <p:nvPr/>
        </p:nvSpPr>
        <p:spPr>
          <a:xfrm>
            <a:off x="6199631" y="2157984"/>
            <a:ext cx="182880" cy="1645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FFFFFF"/>
                </a:solidFill>
                <a:latin typeface="Lato" charset="0"/>
                <a:ea typeface="Lato" charset="0"/>
                <a:cs typeface="Lato" charset="0"/>
              </a:rPr>
              <a:t>1</a:t>
            </a:r>
            <a:endParaRPr lang="zh-CN" altLang="en-US" sz="1100" b="0" i="0" u="none" strike="noStrike" kern="1200" cap="none" spc="0" baseline="0">
              <a:solidFill>
                <a:schemeClr val="tx1"/>
              </a:solidFill>
              <a:latin typeface="Lato" charset="0"/>
              <a:ea typeface="等线" charset="0"/>
              <a:cs typeface="Lato" charset="0"/>
            </a:endParaRPr>
          </a:p>
        </p:txBody>
      </p:sp>
      <p:sp>
        <p:nvSpPr>
          <p:cNvPr id="152" name="矩形"/>
          <p:cNvSpPr>
            <a:spLocks/>
          </p:cNvSpPr>
          <p:nvPr/>
        </p:nvSpPr>
        <p:spPr>
          <a:xfrm>
            <a:off x="6693408" y="1993392"/>
            <a:ext cx="199339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10" b="1" i="0" u="none" strike="noStrike" kern="1200" cap="none" spc="0" baseline="0">
                <a:solidFill>
                  <a:srgbClr val="37443B"/>
                </a:solidFill>
                <a:latin typeface="Lato" charset="0"/>
                <a:ea typeface="Lato" charset="0"/>
                <a:cs typeface="Lato" charset="0"/>
              </a:rPr>
              <a:t>Discover</a:t>
            </a:r>
            <a:endParaRPr lang="zh-CN" altLang="en-US" sz="1810" b="0" i="0" u="none" strike="noStrike" kern="1200" cap="none" spc="0" baseline="0">
              <a:solidFill>
                <a:schemeClr val="tx1"/>
              </a:solidFill>
              <a:latin typeface="Lato" charset="0"/>
              <a:ea typeface="等线" charset="0"/>
              <a:cs typeface="Lato" charset="0"/>
            </a:endParaRPr>
          </a:p>
        </p:txBody>
      </p:sp>
      <p:sp>
        <p:nvSpPr>
          <p:cNvPr id="153" name="矩形"/>
          <p:cNvSpPr>
            <a:spLocks/>
          </p:cNvSpPr>
          <p:nvPr/>
        </p:nvSpPr>
        <p:spPr>
          <a:xfrm>
            <a:off x="6684264" y="2340864"/>
            <a:ext cx="4370832" cy="21945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60" b="0" i="0" u="none" strike="noStrike" kern="1200" cap="none" spc="0" baseline="0">
                <a:solidFill>
                  <a:srgbClr val="7D8478"/>
                </a:solidFill>
                <a:latin typeface="Lato" charset="0"/>
                <a:ea typeface="Lato" charset="0"/>
                <a:cs typeface="Lato" charset="0"/>
              </a:rPr>
              <a:t>See available campus cleaning staff.</a:t>
            </a:r>
            <a:endParaRPr lang="zh-CN" altLang="en-US" sz="1360" b="0" i="0" u="none" strike="noStrike" kern="1200" cap="none" spc="0" baseline="0">
              <a:solidFill>
                <a:schemeClr val="tx1"/>
              </a:solidFill>
              <a:latin typeface="Lato" charset="0"/>
              <a:ea typeface="等线" charset="0"/>
              <a:cs typeface="Lato" charset="0"/>
            </a:endParaRPr>
          </a:p>
        </p:txBody>
      </p:sp>
      <p:sp>
        <p:nvSpPr>
          <p:cNvPr id="154" name="圆角矩形"/>
          <p:cNvSpPr>
            <a:spLocks/>
          </p:cNvSpPr>
          <p:nvPr/>
        </p:nvSpPr>
        <p:spPr>
          <a:xfrm>
            <a:off x="5907024" y="2862072"/>
            <a:ext cx="5385816" cy="886966"/>
          </a:xfrm>
          <a:prstGeom prst="roundRect">
            <a:avLst>
              <a:gd name="adj" fmla="val 20620"/>
            </a:avLst>
          </a:prstGeom>
          <a:solidFill>
            <a:srgbClr val="F7E7DA"/>
          </a:solidFill>
          <a:ln w="12700" cap="flat" cmpd="sng">
            <a:solidFill>
              <a:srgbClr val="F7E7DA">
                <a:alpha val="0"/>
              </a:srgbClr>
            </a:solidFill>
            <a:prstDash val="solid"/>
            <a:round/>
          </a:ln>
        </p:spPr>
      </p:sp>
      <p:sp>
        <p:nvSpPr>
          <p:cNvPr id="155" name="椭圆"/>
          <p:cNvSpPr>
            <a:spLocks/>
          </p:cNvSpPr>
          <p:nvPr/>
        </p:nvSpPr>
        <p:spPr>
          <a:xfrm>
            <a:off x="6135624" y="3127248"/>
            <a:ext cx="320040" cy="320040"/>
          </a:xfrm>
          <a:prstGeom prst="ellipse">
            <a:avLst/>
          </a:prstGeom>
          <a:solidFill>
            <a:srgbClr val="CE8067"/>
          </a:solidFill>
          <a:ln w="12700" cap="flat" cmpd="sng">
            <a:solidFill>
              <a:srgbClr val="CE8067">
                <a:alpha val="0"/>
              </a:srgbClr>
            </a:solidFill>
            <a:prstDash val="solid"/>
            <a:round/>
          </a:ln>
        </p:spPr>
      </p:sp>
      <p:sp>
        <p:nvSpPr>
          <p:cNvPr id="156" name="矩形"/>
          <p:cNvSpPr>
            <a:spLocks/>
          </p:cNvSpPr>
          <p:nvPr/>
        </p:nvSpPr>
        <p:spPr>
          <a:xfrm>
            <a:off x="6199631" y="3191256"/>
            <a:ext cx="182880" cy="16459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FFFFFF"/>
                </a:solidFill>
                <a:latin typeface="Lato" charset="0"/>
                <a:ea typeface="Lato" charset="0"/>
                <a:cs typeface="Lato" charset="0"/>
              </a:rPr>
              <a:t>2</a:t>
            </a:r>
            <a:endParaRPr lang="zh-CN" altLang="en-US" sz="1100" b="0" i="0" u="none" strike="noStrike" kern="1200" cap="none" spc="0" baseline="0">
              <a:solidFill>
                <a:schemeClr val="tx1"/>
              </a:solidFill>
              <a:latin typeface="Lato" charset="0"/>
              <a:ea typeface="等线" charset="0"/>
              <a:cs typeface="Lato" charset="0"/>
            </a:endParaRPr>
          </a:p>
        </p:txBody>
      </p:sp>
      <p:sp>
        <p:nvSpPr>
          <p:cNvPr id="157" name="矩形"/>
          <p:cNvSpPr>
            <a:spLocks/>
          </p:cNvSpPr>
          <p:nvPr/>
        </p:nvSpPr>
        <p:spPr>
          <a:xfrm>
            <a:off x="6693408" y="3026662"/>
            <a:ext cx="199339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10" b="1" i="0" u="none" strike="noStrike" kern="1200" cap="none" spc="0" baseline="0">
                <a:solidFill>
                  <a:srgbClr val="37443B"/>
                </a:solidFill>
                <a:latin typeface="Lato" charset="0"/>
                <a:ea typeface="Lato" charset="0"/>
                <a:cs typeface="Lato" charset="0"/>
              </a:rPr>
              <a:t>Compare</a:t>
            </a:r>
            <a:endParaRPr lang="zh-CN" altLang="en-US" sz="1810" b="0" i="0" u="none" strike="noStrike" kern="1200" cap="none" spc="0" baseline="0">
              <a:solidFill>
                <a:schemeClr val="tx1"/>
              </a:solidFill>
              <a:latin typeface="Lato" charset="0"/>
              <a:ea typeface="等线" charset="0"/>
              <a:cs typeface="Lato" charset="0"/>
            </a:endParaRPr>
          </a:p>
        </p:txBody>
      </p:sp>
      <p:sp>
        <p:nvSpPr>
          <p:cNvPr id="158" name="矩形"/>
          <p:cNvSpPr>
            <a:spLocks/>
          </p:cNvSpPr>
          <p:nvPr/>
        </p:nvSpPr>
        <p:spPr>
          <a:xfrm>
            <a:off x="6684264" y="3374136"/>
            <a:ext cx="4370832" cy="21945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60" b="0" i="0" u="none" strike="noStrike" kern="1200" cap="none" spc="0" baseline="0">
                <a:solidFill>
                  <a:srgbClr val="7D8478"/>
                </a:solidFill>
                <a:latin typeface="Lato" charset="0"/>
                <a:ea typeface="Lato" charset="0"/>
                <a:cs typeface="Lato" charset="0"/>
              </a:rPr>
              <a:t>Understand price, scope and availability.</a:t>
            </a:r>
            <a:endParaRPr lang="zh-CN" altLang="en-US" sz="1360" b="0" i="0" u="none" strike="noStrike" kern="1200" cap="none" spc="0" baseline="0">
              <a:solidFill>
                <a:schemeClr val="tx1"/>
              </a:solidFill>
              <a:latin typeface="Lato" charset="0"/>
              <a:ea typeface="等线" charset="0"/>
              <a:cs typeface="Lato" charset="0"/>
            </a:endParaRPr>
          </a:p>
        </p:txBody>
      </p:sp>
      <p:sp>
        <p:nvSpPr>
          <p:cNvPr id="159" name="圆角矩形"/>
          <p:cNvSpPr>
            <a:spLocks/>
          </p:cNvSpPr>
          <p:nvPr/>
        </p:nvSpPr>
        <p:spPr>
          <a:xfrm>
            <a:off x="5907024" y="3895344"/>
            <a:ext cx="5385816" cy="886968"/>
          </a:xfrm>
          <a:prstGeom prst="roundRect">
            <a:avLst>
              <a:gd name="adj" fmla="val 20620"/>
            </a:avLst>
          </a:prstGeom>
          <a:solidFill>
            <a:srgbClr val="FFFDF9"/>
          </a:solidFill>
          <a:ln w="12700" cap="flat" cmpd="sng">
            <a:solidFill>
              <a:srgbClr val="FFFDF9">
                <a:alpha val="0"/>
              </a:srgbClr>
            </a:solidFill>
            <a:prstDash val="solid"/>
            <a:round/>
          </a:ln>
        </p:spPr>
      </p:sp>
      <p:sp>
        <p:nvSpPr>
          <p:cNvPr id="160" name="椭圆"/>
          <p:cNvSpPr>
            <a:spLocks/>
          </p:cNvSpPr>
          <p:nvPr/>
        </p:nvSpPr>
        <p:spPr>
          <a:xfrm>
            <a:off x="6135624" y="4160520"/>
            <a:ext cx="320040" cy="320040"/>
          </a:xfrm>
          <a:prstGeom prst="ellipse">
            <a:avLst/>
          </a:prstGeom>
          <a:solidFill>
            <a:srgbClr val="526F5F"/>
          </a:solidFill>
          <a:ln w="12700" cap="flat" cmpd="sng">
            <a:solidFill>
              <a:srgbClr val="526F5F">
                <a:alpha val="0"/>
              </a:srgbClr>
            </a:solidFill>
            <a:prstDash val="solid"/>
            <a:round/>
          </a:ln>
        </p:spPr>
      </p:sp>
      <p:sp>
        <p:nvSpPr>
          <p:cNvPr id="161" name="矩形"/>
          <p:cNvSpPr>
            <a:spLocks/>
          </p:cNvSpPr>
          <p:nvPr/>
        </p:nvSpPr>
        <p:spPr>
          <a:xfrm>
            <a:off x="6199631" y="4224528"/>
            <a:ext cx="182880" cy="16459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FFFFFF"/>
                </a:solidFill>
                <a:latin typeface="Lato" charset="0"/>
                <a:ea typeface="Lato" charset="0"/>
                <a:cs typeface="Lato" charset="0"/>
              </a:rPr>
              <a:t>3</a:t>
            </a:r>
            <a:endParaRPr lang="zh-CN" altLang="en-US" sz="1100" b="0" i="0" u="none" strike="noStrike" kern="1200" cap="none" spc="0" baseline="0">
              <a:solidFill>
                <a:schemeClr val="tx1"/>
              </a:solidFill>
              <a:latin typeface="Lato" charset="0"/>
              <a:ea typeface="等线" charset="0"/>
              <a:cs typeface="Lato" charset="0"/>
            </a:endParaRPr>
          </a:p>
        </p:txBody>
      </p:sp>
      <p:sp>
        <p:nvSpPr>
          <p:cNvPr id="162" name="矩形"/>
          <p:cNvSpPr>
            <a:spLocks/>
          </p:cNvSpPr>
          <p:nvPr/>
        </p:nvSpPr>
        <p:spPr>
          <a:xfrm>
            <a:off x="6693408" y="4059936"/>
            <a:ext cx="1993392"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10" b="1" i="0" u="none" strike="noStrike" kern="1200" cap="none" spc="0" baseline="0">
                <a:solidFill>
                  <a:srgbClr val="37443B"/>
                </a:solidFill>
                <a:latin typeface="Lato" charset="0"/>
                <a:ea typeface="Lato" charset="0"/>
                <a:cs typeface="Lato" charset="0"/>
              </a:rPr>
              <a:t>Coordinate</a:t>
            </a:r>
            <a:endParaRPr lang="zh-CN" altLang="en-US" sz="1810" b="0" i="0" u="none" strike="noStrike" kern="1200" cap="none" spc="0" baseline="0">
              <a:solidFill>
                <a:schemeClr val="tx1"/>
              </a:solidFill>
              <a:latin typeface="Lato" charset="0"/>
              <a:ea typeface="等线" charset="0"/>
              <a:cs typeface="Lato" charset="0"/>
            </a:endParaRPr>
          </a:p>
        </p:txBody>
      </p:sp>
      <p:sp>
        <p:nvSpPr>
          <p:cNvPr id="163" name="矩形"/>
          <p:cNvSpPr>
            <a:spLocks/>
          </p:cNvSpPr>
          <p:nvPr/>
        </p:nvSpPr>
        <p:spPr>
          <a:xfrm>
            <a:off x="6684264" y="4407408"/>
            <a:ext cx="4370832" cy="21945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60" b="0" i="0" u="none" strike="noStrike" kern="1200" cap="none" spc="0" baseline="0">
                <a:solidFill>
                  <a:srgbClr val="7D8478"/>
                </a:solidFill>
                <a:latin typeface="Lato" charset="0"/>
                <a:ea typeface="Lato" charset="0"/>
                <a:cs typeface="Lato" charset="0"/>
              </a:rPr>
              <a:t>Make a clear request with roommates.</a:t>
            </a:r>
            <a:endParaRPr lang="zh-CN" altLang="en-US" sz="1360" b="0" i="0" u="none" strike="noStrike" kern="1200" cap="none" spc="0" baseline="0">
              <a:solidFill>
                <a:schemeClr val="tx1"/>
              </a:solidFill>
              <a:latin typeface="Lato" charset="0"/>
              <a:ea typeface="等线" charset="0"/>
              <a:cs typeface="Lato" charset="0"/>
            </a:endParaRPr>
          </a:p>
        </p:txBody>
      </p:sp>
      <p:sp>
        <p:nvSpPr>
          <p:cNvPr id="164" name="圆角矩形"/>
          <p:cNvSpPr>
            <a:spLocks/>
          </p:cNvSpPr>
          <p:nvPr/>
        </p:nvSpPr>
        <p:spPr>
          <a:xfrm>
            <a:off x="5907024" y="4928616"/>
            <a:ext cx="5385816" cy="886967"/>
          </a:xfrm>
          <a:prstGeom prst="roundRect">
            <a:avLst>
              <a:gd name="adj" fmla="val 20620"/>
            </a:avLst>
          </a:prstGeom>
          <a:solidFill>
            <a:srgbClr val="FFFDF9"/>
          </a:solidFill>
          <a:ln w="12700" cap="flat" cmpd="sng">
            <a:solidFill>
              <a:srgbClr val="FFFDF9">
                <a:alpha val="0"/>
              </a:srgbClr>
            </a:solidFill>
            <a:prstDash val="solid"/>
            <a:round/>
          </a:ln>
        </p:spPr>
      </p:sp>
      <p:sp>
        <p:nvSpPr>
          <p:cNvPr id="165" name="椭圆"/>
          <p:cNvSpPr>
            <a:spLocks/>
          </p:cNvSpPr>
          <p:nvPr/>
        </p:nvSpPr>
        <p:spPr>
          <a:xfrm>
            <a:off x="6135624" y="5193792"/>
            <a:ext cx="320040" cy="320040"/>
          </a:xfrm>
          <a:prstGeom prst="ellipse">
            <a:avLst/>
          </a:prstGeom>
          <a:solidFill>
            <a:srgbClr val="CE8067"/>
          </a:solidFill>
          <a:ln w="12700" cap="flat" cmpd="sng">
            <a:solidFill>
              <a:srgbClr val="CE8067">
                <a:alpha val="0"/>
              </a:srgbClr>
            </a:solidFill>
            <a:prstDash val="solid"/>
            <a:round/>
          </a:ln>
        </p:spPr>
      </p:sp>
      <p:sp>
        <p:nvSpPr>
          <p:cNvPr id="166" name="矩形"/>
          <p:cNvSpPr>
            <a:spLocks/>
          </p:cNvSpPr>
          <p:nvPr/>
        </p:nvSpPr>
        <p:spPr>
          <a:xfrm>
            <a:off x="6199631" y="5257800"/>
            <a:ext cx="182880" cy="16459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FFFFFF"/>
                </a:solidFill>
                <a:latin typeface="Lato" charset="0"/>
                <a:ea typeface="Lato" charset="0"/>
                <a:cs typeface="Lato" charset="0"/>
              </a:rPr>
              <a:t>4</a:t>
            </a:r>
            <a:endParaRPr lang="zh-CN" altLang="en-US" sz="1100" b="0" i="0" u="none" strike="noStrike" kern="1200" cap="none" spc="0" baseline="0">
              <a:solidFill>
                <a:schemeClr val="tx1"/>
              </a:solidFill>
              <a:latin typeface="Lato" charset="0"/>
              <a:ea typeface="等线" charset="0"/>
              <a:cs typeface="Lato" charset="0"/>
            </a:endParaRPr>
          </a:p>
        </p:txBody>
      </p:sp>
      <p:sp>
        <p:nvSpPr>
          <p:cNvPr id="167" name="矩形"/>
          <p:cNvSpPr>
            <a:spLocks/>
          </p:cNvSpPr>
          <p:nvPr/>
        </p:nvSpPr>
        <p:spPr>
          <a:xfrm>
            <a:off x="6693408" y="5093208"/>
            <a:ext cx="199339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10" b="1" i="0" u="none" strike="noStrike" kern="1200" cap="none" spc="0" baseline="0">
                <a:solidFill>
                  <a:srgbClr val="37443B"/>
                </a:solidFill>
                <a:latin typeface="Lato" charset="0"/>
                <a:ea typeface="Lato" charset="0"/>
                <a:cs typeface="Lato" charset="0"/>
              </a:rPr>
              <a:t>Feel reassured</a:t>
            </a:r>
            <a:endParaRPr lang="zh-CN" altLang="en-US" sz="1810" b="0" i="0" u="none" strike="noStrike" kern="1200" cap="none" spc="0" baseline="0">
              <a:solidFill>
                <a:schemeClr val="tx1"/>
              </a:solidFill>
              <a:latin typeface="Lato" charset="0"/>
              <a:ea typeface="等线" charset="0"/>
              <a:cs typeface="Lato" charset="0"/>
            </a:endParaRPr>
          </a:p>
        </p:txBody>
      </p:sp>
      <p:sp>
        <p:nvSpPr>
          <p:cNvPr id="168" name="矩形"/>
          <p:cNvSpPr>
            <a:spLocks/>
          </p:cNvSpPr>
          <p:nvPr/>
        </p:nvSpPr>
        <p:spPr>
          <a:xfrm>
            <a:off x="6684264" y="5440678"/>
            <a:ext cx="4370832" cy="21945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60" b="0" i="0" u="none" strike="noStrike" kern="1200" cap="none" spc="0" baseline="0">
                <a:solidFill>
                  <a:srgbClr val="7D8478"/>
                </a:solidFill>
                <a:latin typeface="Lato" charset="0"/>
                <a:ea typeface="Lato" charset="0"/>
                <a:cs typeface="Lato" charset="0"/>
              </a:rPr>
              <a:t>Know who is coming and what to expect.</a:t>
            </a:r>
            <a:endParaRPr lang="zh-CN" altLang="en-US" sz="1360" b="0" i="0" u="none" strike="noStrike" kern="1200" cap="none" spc="0" baseline="0">
              <a:solidFill>
                <a:schemeClr val="tx1"/>
              </a:solidFill>
              <a:latin typeface="Lato" charset="0"/>
              <a:ea typeface="等线" charset="0"/>
              <a:cs typeface="Lato" charset="0"/>
            </a:endParaRPr>
          </a:p>
        </p:txBody>
      </p:sp>
      <p:sp>
        <p:nvSpPr>
          <p:cNvPr id="169"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Product concept, not yet launched. Core source: JEBO value proposition in CEM pre.docx.</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5025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175"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176"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PUBLISHED RESEARCH</a:t>
            </a:r>
            <a:endParaRPr lang="zh-CN" altLang="en-US" sz="950" b="0" i="0" u="none" strike="noStrike" kern="1200" cap="none" spc="0" baseline="0">
              <a:solidFill>
                <a:schemeClr val="tx1"/>
              </a:solidFill>
              <a:latin typeface="Lato" charset="0"/>
              <a:ea typeface="等线" charset="0"/>
              <a:cs typeface="Lato" charset="0"/>
            </a:endParaRPr>
          </a:p>
        </p:txBody>
      </p:sp>
      <p:sp>
        <p:nvSpPr>
          <p:cNvPr id="177"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178"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179"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07  /  19</a:t>
            </a:r>
            <a:endParaRPr lang="zh-CN" altLang="en-US" sz="950" b="0" i="0" u="none" strike="noStrike" kern="1200" cap="none" spc="0" baseline="0">
              <a:solidFill>
                <a:schemeClr val="tx1"/>
              </a:solidFill>
              <a:latin typeface="Lato" charset="0"/>
              <a:ea typeface="等线" charset="0"/>
              <a:cs typeface="Lato" charset="0"/>
            </a:endParaRPr>
          </a:p>
        </p:txBody>
      </p:sp>
      <p:sp>
        <p:nvSpPr>
          <p:cNvPr id="180"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The problem is bigger than our interviews</a:t>
            </a:r>
            <a:endParaRPr lang="zh-CN" altLang="en-US" sz="3050" b="0" i="0" u="none" strike="noStrike" kern="1200" cap="none" spc="0" baseline="0">
              <a:solidFill>
                <a:schemeClr val="tx1"/>
              </a:solidFill>
              <a:latin typeface="Lato" charset="0"/>
              <a:ea typeface="等线" charset="0"/>
              <a:cs typeface="Lato" charset="0"/>
            </a:endParaRPr>
          </a:p>
        </p:txBody>
      </p:sp>
      <p:sp>
        <p:nvSpPr>
          <p:cNvPr id="181"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Earlier studies highlight coordination and inconsistent routines.</a:t>
            </a:r>
            <a:endParaRPr lang="zh-CN" altLang="en-US" sz="1550" b="0" i="0" u="none" strike="noStrike" kern="1200" cap="none" spc="0" baseline="0">
              <a:solidFill>
                <a:schemeClr val="tx1"/>
              </a:solidFill>
              <a:latin typeface="Lato" charset="0"/>
              <a:ea typeface="等线" charset="0"/>
              <a:cs typeface="Lato" charset="0"/>
            </a:endParaRPr>
          </a:p>
        </p:txBody>
      </p:sp>
      <p:sp>
        <p:nvSpPr>
          <p:cNvPr id="182" name="圆角矩形"/>
          <p:cNvSpPr>
            <a:spLocks/>
          </p:cNvSpPr>
          <p:nvPr/>
        </p:nvSpPr>
        <p:spPr>
          <a:xfrm>
            <a:off x="777240" y="1901951"/>
            <a:ext cx="5120640" cy="3090671"/>
          </a:xfrm>
          <a:prstGeom prst="roundRect">
            <a:avLst>
              <a:gd name="adj" fmla="val 5916"/>
            </a:avLst>
          </a:prstGeom>
          <a:solidFill>
            <a:srgbClr val="FFFDF9"/>
          </a:solidFill>
          <a:ln w="12700" cap="flat" cmpd="sng">
            <a:solidFill>
              <a:srgbClr val="FFFDF9">
                <a:alpha val="0"/>
              </a:srgbClr>
            </a:solidFill>
            <a:prstDash val="solid"/>
            <a:round/>
          </a:ln>
        </p:spPr>
      </p:sp>
      <p:sp>
        <p:nvSpPr>
          <p:cNvPr id="183" name="矩形"/>
          <p:cNvSpPr>
            <a:spLocks/>
          </p:cNvSpPr>
          <p:nvPr/>
        </p:nvSpPr>
        <p:spPr>
          <a:xfrm>
            <a:off x="1078992" y="2139696"/>
            <a:ext cx="4526277"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70" b="1" i="0" u="none" strike="noStrike" kern="1200" cap="none" spc="0" baseline="0">
                <a:solidFill>
                  <a:srgbClr val="526F5F"/>
                </a:solidFill>
                <a:latin typeface="Lato" charset="0"/>
                <a:ea typeface="Lato" charset="0"/>
                <a:cs typeface="Lato" charset="0"/>
              </a:rPr>
              <a:t>2018  |  Student cleaning survey</a:t>
            </a:r>
            <a:endParaRPr lang="zh-CN" altLang="en-US" sz="1470" b="0" i="0" u="none" strike="noStrike" kern="1200" cap="none" spc="0" baseline="0">
              <a:solidFill>
                <a:schemeClr val="tx1"/>
              </a:solidFill>
              <a:latin typeface="Lato" charset="0"/>
              <a:ea typeface="等线" charset="0"/>
              <a:cs typeface="Lato" charset="0"/>
            </a:endParaRPr>
          </a:p>
        </p:txBody>
      </p:sp>
      <p:sp>
        <p:nvSpPr>
          <p:cNvPr id="184" name="矩形"/>
          <p:cNvSpPr>
            <a:spLocks/>
          </p:cNvSpPr>
          <p:nvPr/>
        </p:nvSpPr>
        <p:spPr>
          <a:xfrm>
            <a:off x="1078992" y="2615184"/>
            <a:ext cx="1956816" cy="88696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800" b="0" i="0" u="none" strike="noStrike" kern="1200" cap="none" spc="0" baseline="0">
                <a:solidFill>
                  <a:srgbClr val="CE8067"/>
                </a:solidFill>
                <a:latin typeface="Georgia" charset="0"/>
                <a:ea typeface="Georgia" charset="0"/>
                <a:cs typeface="Georgia" charset="0"/>
              </a:rPr>
              <a:t>35%</a:t>
            </a:r>
            <a:endParaRPr lang="zh-CN" altLang="en-US" sz="4800" b="0" i="0" u="none" strike="noStrike" kern="1200" cap="none" spc="0" baseline="0">
              <a:solidFill>
                <a:schemeClr val="tx1"/>
              </a:solidFill>
              <a:latin typeface="Lato" charset="0"/>
              <a:ea typeface="等线" charset="0"/>
              <a:cs typeface="Lato" charset="0"/>
            </a:endParaRPr>
          </a:p>
        </p:txBody>
      </p:sp>
      <p:sp>
        <p:nvSpPr>
          <p:cNvPr id="185" name="矩形"/>
          <p:cNvSpPr>
            <a:spLocks/>
          </p:cNvSpPr>
          <p:nvPr/>
        </p:nvSpPr>
        <p:spPr>
          <a:xfrm>
            <a:off x="2926080" y="2743200"/>
            <a:ext cx="2642616" cy="76809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00" b="0" i="0" u="none" strike="noStrike" kern="1200" cap="none" spc="0" baseline="0">
                <a:solidFill>
                  <a:srgbClr val="37443B"/>
                </a:solidFill>
                <a:latin typeface="Lato" charset="0"/>
                <a:ea typeface="Lato" charset="0"/>
                <a:cs typeface="Lato" charset="0"/>
              </a:rPr>
              <a:t>struggled to coordinate</a:t>
            </a:r>
            <a:endParaRPr lang="en-US" altLang="zh-CN" sz="190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900" b="0" i="0" u="none" strike="noStrike" kern="1200" cap="none" spc="0" baseline="0">
                <a:solidFill>
                  <a:srgbClr val="37443B"/>
                </a:solidFill>
                <a:latin typeface="Lato" charset="0"/>
                <a:ea typeface="Lato" charset="0"/>
                <a:cs typeface="Lato" charset="0"/>
              </a:rPr>
              <a:t>with roommates</a:t>
            </a:r>
            <a:endParaRPr lang="zh-CN" altLang="en-US" sz="1900" b="0" i="0" u="none" strike="noStrike" kern="1200" cap="none" spc="0" baseline="0">
              <a:solidFill>
                <a:schemeClr val="tx1"/>
              </a:solidFill>
              <a:latin typeface="Lato" charset="0"/>
              <a:ea typeface="等线" charset="0"/>
              <a:cs typeface="Lato" charset="0"/>
            </a:endParaRPr>
          </a:p>
        </p:txBody>
      </p:sp>
      <p:sp>
        <p:nvSpPr>
          <p:cNvPr id="186" name="矩形"/>
          <p:cNvSpPr>
            <a:spLocks/>
          </p:cNvSpPr>
          <p:nvPr/>
        </p:nvSpPr>
        <p:spPr>
          <a:xfrm>
            <a:off x="1078992" y="3685032"/>
            <a:ext cx="1417320" cy="6858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800" b="0" i="0" u="none" strike="noStrike" kern="1200" cap="none" spc="0" baseline="0">
                <a:solidFill>
                  <a:srgbClr val="526F5F"/>
                </a:solidFill>
                <a:latin typeface="Georgia" charset="0"/>
                <a:ea typeface="Georgia" charset="0"/>
                <a:cs typeface="Georgia" charset="0"/>
              </a:rPr>
              <a:t>32%</a:t>
            </a:r>
            <a:endParaRPr lang="zh-CN" altLang="en-US" sz="3800" b="0" i="0" u="none" strike="noStrike" kern="1200" cap="none" spc="0" baseline="0">
              <a:solidFill>
                <a:schemeClr val="tx1"/>
              </a:solidFill>
              <a:latin typeface="Lato" charset="0"/>
              <a:ea typeface="等线" charset="0"/>
              <a:cs typeface="Lato" charset="0"/>
            </a:endParaRPr>
          </a:p>
        </p:txBody>
      </p:sp>
      <p:sp>
        <p:nvSpPr>
          <p:cNvPr id="187" name="矩形"/>
          <p:cNvSpPr>
            <a:spLocks/>
          </p:cNvSpPr>
          <p:nvPr/>
        </p:nvSpPr>
        <p:spPr>
          <a:xfrm>
            <a:off x="2788920" y="3831336"/>
            <a:ext cx="2651760" cy="3200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70" b="0" i="0" u="none" strike="noStrike" kern="1200" cap="none" spc="0" baseline="0">
                <a:solidFill>
                  <a:srgbClr val="37443B"/>
                </a:solidFill>
                <a:latin typeface="Lato" charset="0"/>
                <a:ea typeface="Lato" charset="0"/>
                <a:cs typeface="Lato" charset="0"/>
              </a:rPr>
              <a:t>were too busy to clean</a:t>
            </a:r>
            <a:endParaRPr lang="zh-CN" altLang="en-US" sz="1570" b="0" i="0" u="none" strike="noStrike" kern="1200" cap="none" spc="0" baseline="0">
              <a:solidFill>
                <a:schemeClr val="tx1"/>
              </a:solidFill>
              <a:latin typeface="Lato" charset="0"/>
              <a:ea typeface="等线" charset="0"/>
              <a:cs typeface="Lato" charset="0"/>
            </a:endParaRPr>
          </a:p>
        </p:txBody>
      </p:sp>
      <p:sp>
        <p:nvSpPr>
          <p:cNvPr id="188" name="圆角矩形"/>
          <p:cNvSpPr>
            <a:spLocks/>
          </p:cNvSpPr>
          <p:nvPr/>
        </p:nvSpPr>
        <p:spPr>
          <a:xfrm>
            <a:off x="6144768" y="1901951"/>
            <a:ext cx="5166360" cy="3090671"/>
          </a:xfrm>
          <a:prstGeom prst="roundRect">
            <a:avLst>
              <a:gd name="adj" fmla="val 5916"/>
            </a:avLst>
          </a:prstGeom>
          <a:solidFill>
            <a:srgbClr val="EBF0E7"/>
          </a:solidFill>
          <a:ln w="12700" cap="flat" cmpd="sng">
            <a:solidFill>
              <a:srgbClr val="EBF0E7">
                <a:alpha val="0"/>
              </a:srgbClr>
            </a:solidFill>
            <a:prstDash val="solid"/>
            <a:round/>
          </a:ln>
        </p:spPr>
      </p:sp>
      <p:sp>
        <p:nvSpPr>
          <p:cNvPr id="189" name="矩形"/>
          <p:cNvSpPr>
            <a:spLocks/>
          </p:cNvSpPr>
          <p:nvPr/>
        </p:nvSpPr>
        <p:spPr>
          <a:xfrm>
            <a:off x="6419087" y="2139696"/>
            <a:ext cx="457199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60" b="1" i="0" u="none" strike="noStrike" kern="1200" cap="none" spc="0" baseline="0">
                <a:solidFill>
                  <a:srgbClr val="526F5F"/>
                </a:solidFill>
                <a:latin typeface="Lato" charset="0"/>
                <a:ea typeface="Lato" charset="0"/>
                <a:cs typeface="Lato" charset="0"/>
              </a:rPr>
              <a:t>2014  |  Dormitory duty routines</a:t>
            </a:r>
            <a:endParaRPr lang="zh-CN" altLang="en-US" sz="1460" b="0" i="0" u="none" strike="noStrike" kern="1200" cap="none" spc="0" baseline="0">
              <a:solidFill>
                <a:schemeClr val="tx1"/>
              </a:solidFill>
              <a:latin typeface="Lato" charset="0"/>
              <a:ea typeface="等线" charset="0"/>
              <a:cs typeface="Lato" charset="0"/>
            </a:endParaRPr>
          </a:p>
        </p:txBody>
      </p:sp>
      <p:sp>
        <p:nvSpPr>
          <p:cNvPr id="190" name="矩形"/>
          <p:cNvSpPr>
            <a:spLocks/>
          </p:cNvSpPr>
          <p:nvPr/>
        </p:nvSpPr>
        <p:spPr>
          <a:xfrm>
            <a:off x="6428232" y="2651760"/>
            <a:ext cx="2926078" cy="8778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100" b="0" i="0" u="none" strike="noStrike" kern="1200" cap="none" spc="0" baseline="0">
                <a:solidFill>
                  <a:srgbClr val="40584C"/>
                </a:solidFill>
                <a:latin typeface="Georgia" charset="0"/>
                <a:ea typeface="Georgia" charset="0"/>
                <a:cs typeface="Georgia" charset="0"/>
              </a:rPr>
              <a:t>≈33%</a:t>
            </a:r>
            <a:endParaRPr lang="zh-CN" altLang="en-US" sz="5100" b="0" i="0" u="none" strike="noStrike" kern="1200" cap="none" spc="0" baseline="0">
              <a:solidFill>
                <a:schemeClr val="tx1"/>
              </a:solidFill>
              <a:latin typeface="Lato" charset="0"/>
              <a:ea typeface="等线" charset="0"/>
              <a:cs typeface="Lato" charset="0"/>
            </a:endParaRPr>
          </a:p>
        </p:txBody>
      </p:sp>
      <p:sp>
        <p:nvSpPr>
          <p:cNvPr id="191" name="矩形"/>
          <p:cNvSpPr>
            <a:spLocks/>
          </p:cNvSpPr>
          <p:nvPr/>
        </p:nvSpPr>
        <p:spPr>
          <a:xfrm>
            <a:off x="6455664" y="3739896"/>
            <a:ext cx="4389120" cy="8595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00" b="0" i="0" u="none" strike="noStrike" kern="1200" cap="none" spc="0" baseline="0">
                <a:solidFill>
                  <a:srgbClr val="37443B"/>
                </a:solidFill>
                <a:latin typeface="Lato" charset="0"/>
                <a:ea typeface="Lato" charset="0"/>
                <a:cs typeface="Lato" charset="0"/>
              </a:rPr>
              <a:t>of all dorms both had</a:t>
            </a:r>
            <a:endParaRPr lang="en-US" altLang="zh-CN" sz="180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800" b="0" i="0" u="none" strike="noStrike" kern="1200" cap="none" spc="0" baseline="0">
                <a:solidFill>
                  <a:srgbClr val="37443B"/>
                </a:solidFill>
                <a:latin typeface="Lato" charset="0"/>
                <a:ea typeface="Lato" charset="0"/>
                <a:cs typeface="Lato" charset="0"/>
              </a:rPr>
              <a:t>and strictly followed a duty roster</a:t>
            </a:r>
            <a:endParaRPr lang="zh-CN" altLang="en-US" sz="1800" b="0" i="0" u="none" strike="noStrike" kern="1200" cap="none" spc="0" baseline="0">
              <a:solidFill>
                <a:schemeClr val="tx1"/>
              </a:solidFill>
              <a:latin typeface="Lato" charset="0"/>
              <a:ea typeface="等线" charset="0"/>
              <a:cs typeface="Lato" charset="0"/>
            </a:endParaRPr>
          </a:p>
        </p:txBody>
      </p:sp>
      <p:sp>
        <p:nvSpPr>
          <p:cNvPr id="192" name="圆角矩形"/>
          <p:cNvSpPr>
            <a:spLocks/>
          </p:cNvSpPr>
          <p:nvPr/>
        </p:nvSpPr>
        <p:spPr>
          <a:xfrm>
            <a:off x="2011679" y="5330951"/>
            <a:ext cx="8129016" cy="384048"/>
          </a:xfrm>
          <a:prstGeom prst="roundRect">
            <a:avLst>
              <a:gd name="adj" fmla="val 35712"/>
            </a:avLst>
          </a:prstGeom>
          <a:solidFill>
            <a:srgbClr val="F7E7DA"/>
          </a:solidFill>
          <a:ln w="12700" cap="flat" cmpd="sng">
            <a:solidFill>
              <a:srgbClr val="F7E7DA">
                <a:alpha val="0"/>
              </a:srgbClr>
            </a:solidFill>
            <a:prstDash val="solid"/>
            <a:round/>
          </a:ln>
        </p:spPr>
      </p:sp>
      <p:sp>
        <p:nvSpPr>
          <p:cNvPr id="193" name="矩形"/>
          <p:cNvSpPr>
            <a:spLocks/>
          </p:cNvSpPr>
          <p:nvPr/>
        </p:nvSpPr>
        <p:spPr>
          <a:xfrm>
            <a:off x="2148840" y="5385816"/>
            <a:ext cx="7854695"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30" b="1" i="0" u="none" strike="noStrike" kern="1200" cap="none" spc="0" baseline="0">
                <a:solidFill>
                  <a:srgbClr val="CE8067"/>
                </a:solidFill>
                <a:latin typeface="Lato" charset="0"/>
                <a:ea typeface="Lato" charset="0"/>
                <a:cs typeface="Lato" charset="0"/>
              </a:rPr>
              <a:t>Different campuses, years and samples—not population estimates.</a:t>
            </a:r>
            <a:endParaRPr lang="zh-CN" altLang="en-US" sz="1230" b="0" i="0" u="none" strike="noStrike" kern="1200" cap="none" spc="0" baseline="0">
              <a:solidFill>
                <a:schemeClr val="tx1"/>
              </a:solidFill>
              <a:latin typeface="Lato" charset="0"/>
              <a:ea typeface="等线" charset="0"/>
              <a:cs typeface="Lato" charset="0"/>
            </a:endParaRPr>
          </a:p>
        </p:txBody>
      </p:sp>
      <p:sp>
        <p:nvSpPr>
          <p:cNvPr id="194"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Sources: Ying et al. (2018), n=165; Long et al. (2014), calculated as 55.6% × 58.9%.</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642357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200"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01"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CUSTOMER DISCOVERY</a:t>
            </a:r>
            <a:endParaRPr lang="zh-CN" altLang="en-US" sz="950" b="0" i="0" u="none" strike="noStrike" kern="1200" cap="none" spc="0" baseline="0">
              <a:solidFill>
                <a:schemeClr val="tx1"/>
              </a:solidFill>
              <a:latin typeface="Lato" charset="0"/>
              <a:ea typeface="等线" charset="0"/>
              <a:cs typeface="Lato" charset="0"/>
            </a:endParaRPr>
          </a:p>
        </p:txBody>
      </p:sp>
      <p:sp>
        <p:nvSpPr>
          <p:cNvPr id="202"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203"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204"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08  /  19</a:t>
            </a:r>
            <a:endParaRPr lang="zh-CN" altLang="en-US" sz="950" b="0" i="0" u="none" strike="noStrike" kern="1200" cap="none" spc="0" baseline="0">
              <a:solidFill>
                <a:schemeClr val="tx1"/>
              </a:solidFill>
              <a:latin typeface="Lato" charset="0"/>
              <a:ea typeface="等线" charset="0"/>
              <a:cs typeface="Lato" charset="0"/>
            </a:endParaRPr>
          </a:p>
        </p:txBody>
      </p:sp>
      <p:sp>
        <p:nvSpPr>
          <p:cNvPr id="205"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We listened before building</a:t>
            </a:r>
            <a:endParaRPr lang="zh-CN" altLang="en-US" sz="3050" b="0" i="0" u="none" strike="noStrike" kern="1200" cap="none" spc="0" baseline="0">
              <a:solidFill>
                <a:schemeClr val="tx1"/>
              </a:solidFill>
              <a:latin typeface="Lato" charset="0"/>
              <a:ea typeface="等线" charset="0"/>
              <a:cs typeface="Lato" charset="0"/>
            </a:endParaRPr>
          </a:p>
        </p:txBody>
      </p:sp>
      <p:sp>
        <p:nvSpPr>
          <p:cNvPr id="206"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Different sources answer different questions.</a:t>
            </a:r>
            <a:endParaRPr lang="zh-CN" altLang="en-US" sz="1550" b="0" i="0" u="none" strike="noStrike" kern="1200" cap="none" spc="0" baseline="0">
              <a:solidFill>
                <a:schemeClr val="tx1"/>
              </a:solidFill>
              <a:latin typeface="Lato" charset="0"/>
              <a:ea typeface="等线" charset="0"/>
              <a:cs typeface="Lato" charset="0"/>
            </a:endParaRPr>
          </a:p>
        </p:txBody>
      </p:sp>
      <p:sp>
        <p:nvSpPr>
          <p:cNvPr id="207" name="圆角矩形"/>
          <p:cNvSpPr>
            <a:spLocks/>
          </p:cNvSpPr>
          <p:nvPr/>
        </p:nvSpPr>
        <p:spPr>
          <a:xfrm>
            <a:off x="768096" y="2103120"/>
            <a:ext cx="3575304" cy="2743200"/>
          </a:xfrm>
          <a:prstGeom prst="roundRect">
            <a:avLst>
              <a:gd name="adj" fmla="val 6666"/>
            </a:avLst>
          </a:prstGeom>
          <a:solidFill>
            <a:srgbClr val="FFFDF9"/>
          </a:solidFill>
          <a:ln w="12700" cap="flat" cmpd="sng">
            <a:solidFill>
              <a:srgbClr val="FFFDF9">
                <a:alpha val="0"/>
              </a:srgbClr>
            </a:solidFill>
            <a:prstDash val="solid"/>
            <a:round/>
          </a:ln>
        </p:spPr>
      </p:sp>
      <p:sp>
        <p:nvSpPr>
          <p:cNvPr id="208" name="矩形"/>
          <p:cNvSpPr>
            <a:spLocks/>
          </p:cNvSpPr>
          <p:nvPr/>
        </p:nvSpPr>
        <p:spPr>
          <a:xfrm>
            <a:off x="1024127" y="2340864"/>
            <a:ext cx="1371600" cy="7772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100" b="0" i="0" u="none" strike="noStrike" kern="1200" cap="none" spc="0" baseline="0">
                <a:solidFill>
                  <a:srgbClr val="526F5F"/>
                </a:solidFill>
                <a:latin typeface="Georgia" charset="0"/>
                <a:ea typeface="Georgia" charset="0"/>
                <a:cs typeface="Georgia" charset="0"/>
              </a:rPr>
              <a:t>37</a:t>
            </a:r>
            <a:endParaRPr lang="zh-CN" altLang="en-US" sz="5100" b="0" i="0" u="none" strike="noStrike" kern="1200" cap="none" spc="0" baseline="0">
              <a:solidFill>
                <a:schemeClr val="tx1"/>
              </a:solidFill>
              <a:latin typeface="Lato" charset="0"/>
              <a:ea typeface="等线" charset="0"/>
              <a:cs typeface="Lato" charset="0"/>
            </a:endParaRPr>
          </a:p>
        </p:txBody>
      </p:sp>
      <p:sp>
        <p:nvSpPr>
          <p:cNvPr id="209" name="矩形"/>
          <p:cNvSpPr>
            <a:spLocks/>
          </p:cNvSpPr>
          <p:nvPr/>
        </p:nvSpPr>
        <p:spPr>
          <a:xfrm>
            <a:off x="1024127" y="3182112"/>
            <a:ext cx="32004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100" b="1" i="0" u="none" strike="noStrike" kern="1200" cap="none" spc="0" baseline="0">
                <a:solidFill>
                  <a:srgbClr val="37443B"/>
                </a:solidFill>
                <a:latin typeface="Lato" charset="0"/>
                <a:ea typeface="Lato" charset="0"/>
                <a:cs typeface="Lato" charset="0"/>
              </a:rPr>
              <a:t>survey responses</a:t>
            </a:r>
            <a:endParaRPr lang="zh-CN" altLang="en-US" sz="2100" b="0" i="0" u="none" strike="noStrike" kern="1200" cap="none" spc="0" baseline="0">
              <a:solidFill>
                <a:schemeClr val="tx1"/>
              </a:solidFill>
              <a:latin typeface="Lato" charset="0"/>
              <a:ea typeface="等线" charset="0"/>
              <a:cs typeface="Lato" charset="0"/>
            </a:endParaRPr>
          </a:p>
        </p:txBody>
      </p:sp>
      <p:sp>
        <p:nvSpPr>
          <p:cNvPr id="210" name="矩形"/>
          <p:cNvSpPr>
            <a:spLocks/>
          </p:cNvSpPr>
          <p:nvPr/>
        </p:nvSpPr>
        <p:spPr>
          <a:xfrm>
            <a:off x="1024127" y="3685032"/>
            <a:ext cx="31089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60" b="0" i="0" u="none" strike="noStrike" kern="1200" cap="none" spc="0" baseline="0">
                <a:solidFill>
                  <a:srgbClr val="7D8478"/>
                </a:solidFill>
                <a:latin typeface="Lato" charset="0"/>
                <a:ea typeface="Lato" charset="0"/>
                <a:cs typeface="Lato" charset="0"/>
              </a:rPr>
              <a:t>Our own dorm cleaning questionnaire</a:t>
            </a:r>
            <a:endParaRPr lang="zh-CN" altLang="en-US" sz="1560" b="0" i="0" u="none" strike="noStrike" kern="1200" cap="none" spc="0" baseline="0">
              <a:solidFill>
                <a:schemeClr val="tx1"/>
              </a:solidFill>
              <a:latin typeface="Lato" charset="0"/>
              <a:ea typeface="等线" charset="0"/>
              <a:cs typeface="Lato" charset="0"/>
            </a:endParaRPr>
          </a:p>
        </p:txBody>
      </p:sp>
      <p:sp>
        <p:nvSpPr>
          <p:cNvPr id="211" name="圆角矩形"/>
          <p:cNvSpPr>
            <a:spLocks/>
          </p:cNvSpPr>
          <p:nvPr/>
        </p:nvSpPr>
        <p:spPr>
          <a:xfrm>
            <a:off x="996696" y="4370832"/>
            <a:ext cx="1874519" cy="384048"/>
          </a:xfrm>
          <a:prstGeom prst="roundRect">
            <a:avLst>
              <a:gd name="adj" fmla="val 35712"/>
            </a:avLst>
          </a:prstGeom>
          <a:solidFill>
            <a:srgbClr val="EBF0E7"/>
          </a:solidFill>
          <a:ln w="12700" cap="flat" cmpd="sng">
            <a:solidFill>
              <a:srgbClr val="EBF0E7">
                <a:alpha val="0"/>
              </a:srgbClr>
            </a:solidFill>
            <a:prstDash val="solid"/>
            <a:round/>
          </a:ln>
        </p:spPr>
      </p:sp>
      <p:sp>
        <p:nvSpPr>
          <p:cNvPr id="212" name="矩形"/>
          <p:cNvSpPr>
            <a:spLocks/>
          </p:cNvSpPr>
          <p:nvPr/>
        </p:nvSpPr>
        <p:spPr>
          <a:xfrm>
            <a:off x="1133856" y="4425696"/>
            <a:ext cx="16002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526F5F"/>
                </a:solidFill>
                <a:latin typeface="Lato" charset="0"/>
                <a:ea typeface="Lato" charset="0"/>
                <a:cs typeface="Lato" charset="0"/>
              </a:rPr>
              <a:t>Questionnaire</a:t>
            </a:r>
            <a:endParaRPr lang="zh-CN" altLang="en-US" sz="1150" b="0" i="0" u="none" strike="noStrike" kern="1200" cap="none" spc="0" baseline="0">
              <a:solidFill>
                <a:schemeClr val="tx1"/>
              </a:solidFill>
              <a:latin typeface="Lato" charset="0"/>
              <a:ea typeface="等线" charset="0"/>
              <a:cs typeface="Lato" charset="0"/>
            </a:endParaRPr>
          </a:p>
        </p:txBody>
      </p:sp>
      <p:sp>
        <p:nvSpPr>
          <p:cNvPr id="213" name="圆角矩形"/>
          <p:cNvSpPr>
            <a:spLocks/>
          </p:cNvSpPr>
          <p:nvPr/>
        </p:nvSpPr>
        <p:spPr>
          <a:xfrm>
            <a:off x="4608576" y="2103120"/>
            <a:ext cx="3575304" cy="2743200"/>
          </a:xfrm>
          <a:prstGeom prst="roundRect">
            <a:avLst>
              <a:gd name="adj" fmla="val 6666"/>
            </a:avLst>
          </a:prstGeom>
          <a:solidFill>
            <a:srgbClr val="F7E7DA"/>
          </a:solidFill>
          <a:ln w="12700" cap="flat" cmpd="sng">
            <a:solidFill>
              <a:srgbClr val="F7E7DA">
                <a:alpha val="0"/>
              </a:srgbClr>
            </a:solidFill>
            <a:prstDash val="solid"/>
            <a:round/>
          </a:ln>
        </p:spPr>
      </p:sp>
      <p:sp>
        <p:nvSpPr>
          <p:cNvPr id="214" name="矩形"/>
          <p:cNvSpPr>
            <a:spLocks/>
          </p:cNvSpPr>
          <p:nvPr/>
        </p:nvSpPr>
        <p:spPr>
          <a:xfrm>
            <a:off x="4864608" y="2340864"/>
            <a:ext cx="1371600" cy="7772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100" b="0" i="0" u="none" strike="noStrike" kern="1200" cap="none" spc="0" baseline="0">
                <a:solidFill>
                  <a:srgbClr val="CE8067"/>
                </a:solidFill>
                <a:latin typeface="Georgia" charset="0"/>
                <a:ea typeface="Georgia" charset="0"/>
                <a:cs typeface="Georgia" charset="0"/>
              </a:rPr>
              <a:t>26</a:t>
            </a:r>
            <a:endParaRPr lang="zh-CN" altLang="en-US" sz="5100" b="0" i="0" u="none" strike="noStrike" kern="1200" cap="none" spc="0" baseline="0">
              <a:solidFill>
                <a:schemeClr val="tx1"/>
              </a:solidFill>
              <a:latin typeface="Lato" charset="0"/>
              <a:ea typeface="等线" charset="0"/>
              <a:cs typeface="Lato" charset="0"/>
            </a:endParaRPr>
          </a:p>
        </p:txBody>
      </p:sp>
      <p:sp>
        <p:nvSpPr>
          <p:cNvPr id="215" name="矩形"/>
          <p:cNvSpPr>
            <a:spLocks/>
          </p:cNvSpPr>
          <p:nvPr/>
        </p:nvSpPr>
        <p:spPr>
          <a:xfrm>
            <a:off x="4864608" y="3182112"/>
            <a:ext cx="32004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100" b="1" i="0" u="none" strike="noStrike" kern="1200" cap="none" spc="0" baseline="0">
                <a:solidFill>
                  <a:srgbClr val="37443B"/>
                </a:solidFill>
                <a:latin typeface="Lato" charset="0"/>
                <a:ea typeface="Lato" charset="0"/>
                <a:cs typeface="Lato" charset="0"/>
              </a:rPr>
              <a:t>interviews</a:t>
            </a:r>
            <a:endParaRPr lang="zh-CN" altLang="en-US" sz="2100" b="0" i="0" u="none" strike="noStrike" kern="1200" cap="none" spc="0" baseline="0">
              <a:solidFill>
                <a:schemeClr val="tx1"/>
              </a:solidFill>
              <a:latin typeface="Lato" charset="0"/>
              <a:ea typeface="等线" charset="0"/>
              <a:cs typeface="Lato" charset="0"/>
            </a:endParaRPr>
          </a:p>
        </p:txBody>
      </p:sp>
      <p:sp>
        <p:nvSpPr>
          <p:cNvPr id="216" name="矩形"/>
          <p:cNvSpPr>
            <a:spLocks/>
          </p:cNvSpPr>
          <p:nvPr/>
        </p:nvSpPr>
        <p:spPr>
          <a:xfrm>
            <a:off x="4864608" y="3685032"/>
            <a:ext cx="31089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60" b="0" i="0" u="none" strike="noStrike" kern="1200" cap="none" spc="0" baseline="0">
                <a:solidFill>
                  <a:srgbClr val="7D8478"/>
                </a:solidFill>
                <a:latin typeface="Lato" charset="0"/>
                <a:ea typeface="Lato" charset="0"/>
                <a:cs typeface="Lato" charset="0"/>
              </a:rPr>
              <a:t>Small qualitative interview set</a:t>
            </a:r>
            <a:endParaRPr lang="zh-CN" altLang="en-US" sz="1560" b="0" i="0" u="none" strike="noStrike" kern="1200" cap="none" spc="0" baseline="0">
              <a:solidFill>
                <a:schemeClr val="tx1"/>
              </a:solidFill>
              <a:latin typeface="Lato" charset="0"/>
              <a:ea typeface="等线" charset="0"/>
              <a:cs typeface="Lato" charset="0"/>
            </a:endParaRPr>
          </a:p>
        </p:txBody>
      </p:sp>
      <p:sp>
        <p:nvSpPr>
          <p:cNvPr id="217" name="圆角矩形"/>
          <p:cNvSpPr>
            <a:spLocks/>
          </p:cNvSpPr>
          <p:nvPr/>
        </p:nvSpPr>
        <p:spPr>
          <a:xfrm>
            <a:off x="4837176" y="4370832"/>
            <a:ext cx="1874519" cy="384048"/>
          </a:xfrm>
          <a:prstGeom prst="roundRect">
            <a:avLst>
              <a:gd name="adj" fmla="val 35712"/>
            </a:avLst>
          </a:prstGeom>
          <a:solidFill>
            <a:srgbClr val="EBF0E7"/>
          </a:solidFill>
          <a:ln w="12700" cap="flat" cmpd="sng">
            <a:solidFill>
              <a:srgbClr val="EBF0E7">
                <a:alpha val="0"/>
              </a:srgbClr>
            </a:solidFill>
            <a:prstDash val="solid"/>
            <a:round/>
          </a:ln>
        </p:spPr>
      </p:sp>
      <p:sp>
        <p:nvSpPr>
          <p:cNvPr id="218" name="矩形"/>
          <p:cNvSpPr>
            <a:spLocks/>
          </p:cNvSpPr>
          <p:nvPr/>
        </p:nvSpPr>
        <p:spPr>
          <a:xfrm>
            <a:off x="4974335" y="4425696"/>
            <a:ext cx="16002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526F5F"/>
                </a:solidFill>
                <a:latin typeface="Lato" charset="0"/>
                <a:ea typeface="Lato" charset="0"/>
                <a:cs typeface="Lato" charset="0"/>
              </a:rPr>
              <a:t>Interviews</a:t>
            </a:r>
            <a:endParaRPr lang="zh-CN" altLang="en-US" sz="1150" b="0" i="0" u="none" strike="noStrike" kern="1200" cap="none" spc="0" baseline="0">
              <a:solidFill>
                <a:schemeClr val="tx1"/>
              </a:solidFill>
              <a:latin typeface="Lato" charset="0"/>
              <a:ea typeface="等线" charset="0"/>
              <a:cs typeface="Lato" charset="0"/>
            </a:endParaRPr>
          </a:p>
        </p:txBody>
      </p:sp>
      <p:sp>
        <p:nvSpPr>
          <p:cNvPr id="219" name="圆角矩形"/>
          <p:cNvSpPr>
            <a:spLocks/>
          </p:cNvSpPr>
          <p:nvPr/>
        </p:nvSpPr>
        <p:spPr>
          <a:xfrm>
            <a:off x="8449056" y="2103120"/>
            <a:ext cx="3575303" cy="2743200"/>
          </a:xfrm>
          <a:prstGeom prst="roundRect">
            <a:avLst>
              <a:gd name="adj" fmla="val 6666"/>
            </a:avLst>
          </a:prstGeom>
          <a:solidFill>
            <a:srgbClr val="FFFDF9"/>
          </a:solidFill>
          <a:ln w="12700" cap="flat" cmpd="sng">
            <a:solidFill>
              <a:srgbClr val="FFFDF9">
                <a:alpha val="0"/>
              </a:srgbClr>
            </a:solidFill>
            <a:prstDash val="solid"/>
            <a:round/>
          </a:ln>
        </p:spPr>
      </p:sp>
      <p:sp>
        <p:nvSpPr>
          <p:cNvPr id="220" name="矩形"/>
          <p:cNvSpPr>
            <a:spLocks/>
          </p:cNvSpPr>
          <p:nvPr/>
        </p:nvSpPr>
        <p:spPr>
          <a:xfrm>
            <a:off x="8705088" y="2340864"/>
            <a:ext cx="1371600" cy="7772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100" b="0" i="0" u="none" strike="noStrike" kern="1200" cap="none" spc="0" baseline="0">
                <a:solidFill>
                  <a:srgbClr val="526F5F"/>
                </a:solidFill>
                <a:latin typeface="Georgia" charset="0"/>
                <a:ea typeface="Georgia" charset="0"/>
                <a:cs typeface="Georgia" charset="0"/>
              </a:rPr>
              <a:t>3</a:t>
            </a:r>
            <a:endParaRPr lang="zh-CN" altLang="en-US" sz="5100" b="0" i="0" u="none" strike="noStrike" kern="1200" cap="none" spc="0" baseline="0">
              <a:solidFill>
                <a:schemeClr val="tx1"/>
              </a:solidFill>
              <a:latin typeface="Lato" charset="0"/>
              <a:ea typeface="等线" charset="0"/>
              <a:cs typeface="Lato" charset="0"/>
            </a:endParaRPr>
          </a:p>
        </p:txBody>
      </p:sp>
      <p:sp>
        <p:nvSpPr>
          <p:cNvPr id="221" name="矩形"/>
          <p:cNvSpPr>
            <a:spLocks/>
          </p:cNvSpPr>
          <p:nvPr/>
        </p:nvSpPr>
        <p:spPr>
          <a:xfrm>
            <a:off x="8705088" y="3182112"/>
            <a:ext cx="320040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100" b="1" i="0" u="none" strike="noStrike" kern="1200" cap="none" spc="0" baseline="0">
                <a:solidFill>
                  <a:srgbClr val="37443B"/>
                </a:solidFill>
                <a:latin typeface="Lato" charset="0"/>
                <a:ea typeface="Lato" charset="0"/>
                <a:cs typeface="Lato" charset="0"/>
              </a:rPr>
              <a:t>paid-cleaner cases</a:t>
            </a:r>
            <a:endParaRPr lang="zh-CN" altLang="en-US" sz="2100" b="0" i="0" u="none" strike="noStrike" kern="1200" cap="none" spc="0" baseline="0">
              <a:solidFill>
                <a:schemeClr val="tx1"/>
              </a:solidFill>
              <a:latin typeface="Lato" charset="0"/>
              <a:ea typeface="等线" charset="0"/>
              <a:cs typeface="Lato" charset="0"/>
            </a:endParaRPr>
          </a:p>
        </p:txBody>
      </p:sp>
      <p:sp>
        <p:nvSpPr>
          <p:cNvPr id="222" name="矩形"/>
          <p:cNvSpPr>
            <a:spLocks/>
          </p:cNvSpPr>
          <p:nvPr/>
        </p:nvSpPr>
        <p:spPr>
          <a:xfrm>
            <a:off x="8705088" y="3685032"/>
            <a:ext cx="3108959"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60" b="0" i="0" u="none" strike="noStrike" kern="1200" cap="none" spc="0" baseline="0">
                <a:solidFill>
                  <a:srgbClr val="7D8478"/>
                </a:solidFill>
                <a:latin typeface="Lato" charset="0"/>
                <a:ea typeface="Lato" charset="0"/>
                <a:cs typeface="Lato" charset="0"/>
              </a:rPr>
              <a:t>Detailed records of existing paid use</a:t>
            </a:r>
            <a:endParaRPr lang="zh-CN" altLang="en-US" sz="1560" b="0" i="0" u="none" strike="noStrike" kern="1200" cap="none" spc="0" baseline="0">
              <a:solidFill>
                <a:schemeClr val="tx1"/>
              </a:solidFill>
              <a:latin typeface="Lato" charset="0"/>
              <a:ea typeface="等线" charset="0"/>
              <a:cs typeface="Lato" charset="0"/>
            </a:endParaRPr>
          </a:p>
        </p:txBody>
      </p:sp>
      <p:sp>
        <p:nvSpPr>
          <p:cNvPr id="223" name="圆角矩形"/>
          <p:cNvSpPr>
            <a:spLocks/>
          </p:cNvSpPr>
          <p:nvPr/>
        </p:nvSpPr>
        <p:spPr>
          <a:xfrm>
            <a:off x="8677656" y="4370832"/>
            <a:ext cx="1874518" cy="384048"/>
          </a:xfrm>
          <a:prstGeom prst="roundRect">
            <a:avLst>
              <a:gd name="adj" fmla="val 35712"/>
            </a:avLst>
          </a:prstGeom>
          <a:solidFill>
            <a:srgbClr val="EBF0E7"/>
          </a:solidFill>
          <a:ln w="12700" cap="flat" cmpd="sng">
            <a:solidFill>
              <a:srgbClr val="EBF0E7">
                <a:alpha val="0"/>
              </a:srgbClr>
            </a:solidFill>
            <a:prstDash val="solid"/>
            <a:round/>
          </a:ln>
        </p:spPr>
      </p:sp>
      <p:sp>
        <p:nvSpPr>
          <p:cNvPr id="224" name="矩形"/>
          <p:cNvSpPr>
            <a:spLocks/>
          </p:cNvSpPr>
          <p:nvPr/>
        </p:nvSpPr>
        <p:spPr>
          <a:xfrm>
            <a:off x="8814816" y="4425696"/>
            <a:ext cx="16002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526F5F"/>
                </a:solidFill>
                <a:latin typeface="Lato" charset="0"/>
                <a:ea typeface="Lato" charset="0"/>
                <a:cs typeface="Lato" charset="0"/>
              </a:rPr>
              <a:t>Behavioral cases</a:t>
            </a:r>
            <a:endParaRPr lang="zh-CN" altLang="en-US" sz="1150" b="0" i="0" u="none" strike="noStrike" kern="1200" cap="none" spc="0" baseline="0">
              <a:solidFill>
                <a:schemeClr val="tx1"/>
              </a:solidFill>
              <a:latin typeface="Lato" charset="0"/>
              <a:ea typeface="等线" charset="0"/>
              <a:cs typeface="Lato" charset="0"/>
            </a:endParaRPr>
          </a:p>
        </p:txBody>
      </p:sp>
      <p:sp>
        <p:nvSpPr>
          <p:cNvPr id="225" name="矩形"/>
          <p:cNvSpPr>
            <a:spLocks/>
          </p:cNvSpPr>
          <p:nvPr/>
        </p:nvSpPr>
        <p:spPr>
          <a:xfrm>
            <a:off x="877824" y="5422391"/>
            <a:ext cx="9692641" cy="3383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800" b="0" i="0" u="none" strike="noStrike" kern="1200" cap="none" spc="0" baseline="0">
                <a:solidFill>
                  <a:srgbClr val="7D8478"/>
                </a:solidFill>
                <a:latin typeface="Lato" charset="0"/>
                <a:ea typeface="Lato" charset="0"/>
                <a:cs typeface="Lato" charset="0"/>
              </a:rPr>
              <a:t>We also reviewed published research to compare our observations.</a:t>
            </a:r>
            <a:endParaRPr lang="zh-CN" altLang="en-US" sz="1800" b="0" i="0" u="none" strike="noStrike" kern="1200" cap="none" spc="0" baseline="0">
              <a:solidFill>
                <a:schemeClr val="tx1"/>
              </a:solidFill>
              <a:latin typeface="Lato" charset="0"/>
              <a:ea typeface="等线" charset="0"/>
              <a:cs typeface="Lato" charset="0"/>
            </a:endParaRPr>
          </a:p>
        </p:txBody>
      </p:sp>
      <p:sp>
        <p:nvSpPr>
          <p:cNvPr id="226"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Source: CEM pre.docx and embedded questionnaire results (n=16). Cases overlap with the interview work.</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509028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232"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33"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SURVEY FINDING  /  N = 16</a:t>
            </a:r>
            <a:endParaRPr lang="zh-CN" altLang="en-US" sz="950" b="0" i="0" u="none" strike="noStrike" kern="1200" cap="none" spc="0" baseline="0">
              <a:solidFill>
                <a:schemeClr val="tx1"/>
              </a:solidFill>
              <a:latin typeface="Lato" charset="0"/>
              <a:ea typeface="等线" charset="0"/>
              <a:cs typeface="Lato" charset="0"/>
            </a:endParaRPr>
          </a:p>
        </p:txBody>
      </p:sp>
      <p:sp>
        <p:nvSpPr>
          <p:cNvPr id="234"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235"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236"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09  /  19</a:t>
            </a:r>
            <a:endParaRPr lang="zh-CN" altLang="en-US" sz="950" b="0" i="0" u="none" strike="noStrike" kern="1200" cap="none" spc="0" baseline="0">
              <a:solidFill>
                <a:schemeClr val="tx1"/>
              </a:solidFill>
              <a:latin typeface="Lato" charset="0"/>
              <a:ea typeface="等线" charset="0"/>
              <a:cs typeface="Lato" charset="0"/>
            </a:endParaRPr>
          </a:p>
        </p:txBody>
      </p:sp>
      <p:sp>
        <p:nvSpPr>
          <p:cNvPr id="237"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How do dorms currently get cleaned?</a:t>
            </a:r>
            <a:endParaRPr lang="zh-CN" altLang="en-US" sz="3050" b="0" i="0" u="none" strike="noStrike" kern="1200" cap="none" spc="0" baseline="0">
              <a:solidFill>
                <a:schemeClr val="tx1"/>
              </a:solidFill>
              <a:latin typeface="Lato" charset="0"/>
              <a:ea typeface="等线" charset="0"/>
              <a:cs typeface="Lato" charset="0"/>
            </a:endParaRPr>
          </a:p>
        </p:txBody>
      </p:sp>
      <p:sp>
        <p:nvSpPr>
          <p:cNvPr id="238"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Paid help exists. So does the “whoever gives in” pattern.</a:t>
            </a:r>
            <a:endParaRPr lang="zh-CN" altLang="en-US" sz="1550" b="0" i="0" u="none" strike="noStrike" kern="1200" cap="none" spc="0" baseline="0">
              <a:solidFill>
                <a:schemeClr val="tx1"/>
              </a:solidFill>
              <a:latin typeface="Lato" charset="0"/>
              <a:ea typeface="等线" charset="0"/>
              <a:cs typeface="Lato" charset="0"/>
            </a:endParaRPr>
          </a:p>
        </p:txBody>
      </p:sp>
      <p:sp>
        <p:nvSpPr>
          <p:cNvPr id="239" name="圆角矩形"/>
          <p:cNvSpPr>
            <a:spLocks/>
          </p:cNvSpPr>
          <p:nvPr/>
        </p:nvSpPr>
        <p:spPr>
          <a:xfrm>
            <a:off x="777240" y="1984248"/>
            <a:ext cx="10607040" cy="3493008"/>
          </a:xfrm>
          <a:prstGeom prst="roundRect">
            <a:avLst>
              <a:gd name="adj" fmla="val 5236"/>
            </a:avLst>
          </a:prstGeom>
          <a:solidFill>
            <a:srgbClr val="FFFDF9"/>
          </a:solidFill>
          <a:ln w="12700" cap="flat" cmpd="sng">
            <a:solidFill>
              <a:srgbClr val="FFFDF9">
                <a:alpha val="0"/>
              </a:srgbClr>
            </a:solidFill>
            <a:prstDash val="solid"/>
            <a:round/>
          </a:ln>
        </p:spPr>
      </p:sp>
      <p:sp>
        <p:nvSpPr>
          <p:cNvPr id="240" name="矩形"/>
          <p:cNvSpPr>
            <a:spLocks/>
          </p:cNvSpPr>
          <p:nvPr/>
        </p:nvSpPr>
        <p:spPr>
          <a:xfrm>
            <a:off x="1133856" y="2432304"/>
            <a:ext cx="3977640"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50" b="0" i="0" u="none" strike="noStrike" kern="1200" cap="none" spc="0" baseline="0">
                <a:solidFill>
                  <a:srgbClr val="37443B"/>
                </a:solidFill>
                <a:latin typeface="Lato" charset="0"/>
                <a:ea typeface="Lato" charset="0"/>
                <a:cs typeface="Lato" charset="0"/>
              </a:rPr>
              <a:t>Regular paid cleaners</a:t>
            </a:r>
            <a:endParaRPr lang="zh-CN" altLang="en-US" sz="1650" b="0" i="0" u="none" strike="noStrike" kern="1200" cap="none" spc="0" baseline="0">
              <a:solidFill>
                <a:schemeClr val="tx1"/>
              </a:solidFill>
              <a:latin typeface="Lato" charset="0"/>
              <a:ea typeface="等线" charset="0"/>
              <a:cs typeface="Lato" charset="0"/>
            </a:endParaRPr>
          </a:p>
        </p:txBody>
      </p:sp>
      <p:sp>
        <p:nvSpPr>
          <p:cNvPr id="241" name="圆角矩形"/>
          <p:cNvSpPr>
            <a:spLocks/>
          </p:cNvSpPr>
          <p:nvPr/>
        </p:nvSpPr>
        <p:spPr>
          <a:xfrm>
            <a:off x="5202936" y="2496311"/>
            <a:ext cx="4123943" cy="192024"/>
          </a:xfrm>
          <a:prstGeom prst="roundRect">
            <a:avLst>
              <a:gd name="adj" fmla="val 42856"/>
            </a:avLst>
          </a:prstGeom>
          <a:solidFill>
            <a:srgbClr val="EBE9DE"/>
          </a:solidFill>
          <a:ln w="12700" cap="flat" cmpd="sng">
            <a:solidFill>
              <a:srgbClr val="EBE9DE">
                <a:alpha val="0"/>
              </a:srgbClr>
            </a:solidFill>
            <a:prstDash val="solid"/>
            <a:round/>
          </a:ln>
        </p:spPr>
      </p:sp>
      <p:sp>
        <p:nvSpPr>
          <p:cNvPr id="242" name="圆角矩形"/>
          <p:cNvSpPr>
            <a:spLocks/>
          </p:cNvSpPr>
          <p:nvPr/>
        </p:nvSpPr>
        <p:spPr>
          <a:xfrm>
            <a:off x="5202936" y="2496311"/>
            <a:ext cx="2061970" cy="192024"/>
          </a:xfrm>
          <a:prstGeom prst="roundRect">
            <a:avLst>
              <a:gd name="adj" fmla="val 42856"/>
            </a:avLst>
          </a:prstGeom>
          <a:solidFill>
            <a:srgbClr val="526F5F"/>
          </a:solidFill>
          <a:ln w="12700" cap="flat" cmpd="sng">
            <a:solidFill>
              <a:srgbClr val="526F5F">
                <a:alpha val="0"/>
              </a:srgbClr>
            </a:solidFill>
            <a:prstDash val="solid"/>
            <a:round/>
          </a:ln>
        </p:spPr>
      </p:sp>
      <p:sp>
        <p:nvSpPr>
          <p:cNvPr id="243" name="矩形"/>
          <p:cNvSpPr>
            <a:spLocks/>
          </p:cNvSpPr>
          <p:nvPr/>
        </p:nvSpPr>
        <p:spPr>
          <a:xfrm>
            <a:off x="9464040" y="2432304"/>
            <a:ext cx="576072"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70" b="1" i="0" u="none" strike="noStrike" kern="1200" cap="none" spc="0" baseline="0">
                <a:solidFill>
                  <a:srgbClr val="526F5F"/>
                </a:solidFill>
                <a:latin typeface="Lato" charset="0"/>
                <a:ea typeface="Lato" charset="0"/>
                <a:cs typeface="Lato" charset="0"/>
              </a:rPr>
              <a:t>48.65%</a:t>
            </a:r>
            <a:endParaRPr lang="zh-CN" altLang="en-US" sz="1570" b="0" i="0" u="none" strike="noStrike" kern="1200" cap="none" spc="0" baseline="0">
              <a:solidFill>
                <a:schemeClr val="tx1"/>
              </a:solidFill>
              <a:latin typeface="Lato" charset="0"/>
              <a:ea typeface="等线" charset="0"/>
              <a:cs typeface="Lato" charset="0"/>
            </a:endParaRPr>
          </a:p>
        </p:txBody>
      </p:sp>
      <p:sp>
        <p:nvSpPr>
          <p:cNvPr id="244" name="矩形"/>
          <p:cNvSpPr>
            <a:spLocks/>
          </p:cNvSpPr>
          <p:nvPr/>
        </p:nvSpPr>
        <p:spPr>
          <a:xfrm>
            <a:off x="1133856" y="3145536"/>
            <a:ext cx="3977640"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50" b="0" i="0" u="none" strike="noStrike" kern="1200" cap="none" spc="0" baseline="0">
                <a:solidFill>
                  <a:srgbClr val="37443B"/>
                </a:solidFill>
                <a:latin typeface="Lato" charset="0"/>
                <a:ea typeface="Lato" charset="0"/>
                <a:cs typeface="Lato" charset="0"/>
              </a:rPr>
              <a:t>Whoever cannot bear the mess</a:t>
            </a:r>
            <a:endParaRPr lang="zh-CN" altLang="en-US" sz="1650" b="0" i="0" u="none" strike="noStrike" kern="1200" cap="none" spc="0" baseline="0">
              <a:solidFill>
                <a:schemeClr val="tx1"/>
              </a:solidFill>
              <a:latin typeface="Lato" charset="0"/>
              <a:ea typeface="等线" charset="0"/>
              <a:cs typeface="Lato" charset="0"/>
            </a:endParaRPr>
          </a:p>
        </p:txBody>
      </p:sp>
      <p:sp>
        <p:nvSpPr>
          <p:cNvPr id="245" name="圆角矩形"/>
          <p:cNvSpPr>
            <a:spLocks/>
          </p:cNvSpPr>
          <p:nvPr/>
        </p:nvSpPr>
        <p:spPr>
          <a:xfrm>
            <a:off x="5202936" y="3209543"/>
            <a:ext cx="4123943" cy="192024"/>
          </a:xfrm>
          <a:prstGeom prst="roundRect">
            <a:avLst>
              <a:gd name="adj" fmla="val 42856"/>
            </a:avLst>
          </a:prstGeom>
          <a:solidFill>
            <a:srgbClr val="EBE9DE"/>
          </a:solidFill>
          <a:ln w="12700" cap="flat" cmpd="sng">
            <a:solidFill>
              <a:srgbClr val="EBE9DE">
                <a:alpha val="0"/>
              </a:srgbClr>
            </a:solidFill>
            <a:prstDash val="solid"/>
            <a:round/>
          </a:ln>
        </p:spPr>
      </p:sp>
      <p:sp>
        <p:nvSpPr>
          <p:cNvPr id="246" name="圆角矩形"/>
          <p:cNvSpPr>
            <a:spLocks/>
          </p:cNvSpPr>
          <p:nvPr/>
        </p:nvSpPr>
        <p:spPr>
          <a:xfrm>
            <a:off x="5202936" y="3209543"/>
            <a:ext cx="1288733" cy="192024"/>
          </a:xfrm>
          <a:prstGeom prst="roundRect">
            <a:avLst>
              <a:gd name="adj" fmla="val 42856"/>
            </a:avLst>
          </a:prstGeom>
          <a:solidFill>
            <a:srgbClr val="CE8067"/>
          </a:solidFill>
          <a:ln w="12700" cap="flat" cmpd="sng">
            <a:solidFill>
              <a:srgbClr val="CE8067">
                <a:alpha val="0"/>
              </a:srgbClr>
            </a:solidFill>
            <a:prstDash val="solid"/>
            <a:round/>
          </a:ln>
        </p:spPr>
      </p:sp>
      <p:sp>
        <p:nvSpPr>
          <p:cNvPr id="247" name="矩形"/>
          <p:cNvSpPr>
            <a:spLocks/>
          </p:cNvSpPr>
          <p:nvPr/>
        </p:nvSpPr>
        <p:spPr>
          <a:xfrm>
            <a:off x="9464040" y="3145536"/>
            <a:ext cx="576072"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70" b="1" i="0" u="none" strike="noStrike" kern="1200" cap="none" spc="0" baseline="0">
                <a:solidFill>
                  <a:srgbClr val="CE8067"/>
                </a:solidFill>
                <a:latin typeface="Lato" charset="0"/>
                <a:ea typeface="Lato" charset="0"/>
                <a:cs typeface="Lato" charset="0"/>
              </a:rPr>
              <a:t>29.73%</a:t>
            </a:r>
            <a:endParaRPr lang="zh-CN" altLang="en-US" sz="1570" b="0" i="0" u="none" strike="noStrike" kern="1200" cap="none" spc="0" baseline="0">
              <a:solidFill>
                <a:schemeClr val="tx1"/>
              </a:solidFill>
              <a:latin typeface="Lato" charset="0"/>
              <a:ea typeface="等线" charset="0"/>
              <a:cs typeface="Lato" charset="0"/>
            </a:endParaRPr>
          </a:p>
        </p:txBody>
      </p:sp>
      <p:sp>
        <p:nvSpPr>
          <p:cNvPr id="248" name="矩形"/>
          <p:cNvSpPr>
            <a:spLocks/>
          </p:cNvSpPr>
          <p:nvPr/>
        </p:nvSpPr>
        <p:spPr>
          <a:xfrm>
            <a:off x="1133856" y="3858768"/>
            <a:ext cx="3977640"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50" b="0" i="0" u="none" strike="noStrike" kern="1200" cap="none" spc="0" baseline="0">
                <a:solidFill>
                  <a:srgbClr val="37443B"/>
                </a:solidFill>
                <a:latin typeface="Lato" charset="0"/>
                <a:ea typeface="Lato" charset="0"/>
                <a:cs typeface="Lato" charset="0"/>
              </a:rPr>
              <a:t>Rotating duty</a:t>
            </a:r>
            <a:endParaRPr lang="zh-CN" altLang="en-US" sz="1650" b="0" i="0" u="none" strike="noStrike" kern="1200" cap="none" spc="0" baseline="0">
              <a:solidFill>
                <a:schemeClr val="tx1"/>
              </a:solidFill>
              <a:latin typeface="Lato" charset="0"/>
              <a:ea typeface="等线" charset="0"/>
              <a:cs typeface="Lato" charset="0"/>
            </a:endParaRPr>
          </a:p>
        </p:txBody>
      </p:sp>
      <p:sp>
        <p:nvSpPr>
          <p:cNvPr id="249" name="圆角矩形"/>
          <p:cNvSpPr>
            <a:spLocks/>
          </p:cNvSpPr>
          <p:nvPr/>
        </p:nvSpPr>
        <p:spPr>
          <a:xfrm>
            <a:off x="5202936" y="3922776"/>
            <a:ext cx="4123943" cy="192024"/>
          </a:xfrm>
          <a:prstGeom prst="roundRect">
            <a:avLst>
              <a:gd name="adj" fmla="val 42856"/>
            </a:avLst>
          </a:prstGeom>
          <a:solidFill>
            <a:srgbClr val="EBE9DE"/>
          </a:solidFill>
          <a:ln w="12700" cap="flat" cmpd="sng">
            <a:solidFill>
              <a:srgbClr val="EBE9DE">
                <a:alpha val="0"/>
              </a:srgbClr>
            </a:solidFill>
            <a:prstDash val="solid"/>
            <a:round/>
          </a:ln>
        </p:spPr>
      </p:sp>
      <p:sp>
        <p:nvSpPr>
          <p:cNvPr id="250" name="圆角矩形"/>
          <p:cNvSpPr>
            <a:spLocks/>
          </p:cNvSpPr>
          <p:nvPr/>
        </p:nvSpPr>
        <p:spPr>
          <a:xfrm>
            <a:off x="5202936" y="3922776"/>
            <a:ext cx="515493" cy="192024"/>
          </a:xfrm>
          <a:prstGeom prst="roundRect">
            <a:avLst>
              <a:gd name="adj" fmla="val 42856"/>
            </a:avLst>
          </a:prstGeom>
          <a:solidFill>
            <a:srgbClr val="96B6B6"/>
          </a:solidFill>
          <a:ln w="12700" cap="flat" cmpd="sng">
            <a:solidFill>
              <a:srgbClr val="96B6B6">
                <a:alpha val="0"/>
              </a:srgbClr>
            </a:solidFill>
            <a:prstDash val="solid"/>
            <a:round/>
          </a:ln>
        </p:spPr>
      </p:sp>
      <p:sp>
        <p:nvSpPr>
          <p:cNvPr id="251" name="矩形"/>
          <p:cNvSpPr>
            <a:spLocks/>
          </p:cNvSpPr>
          <p:nvPr/>
        </p:nvSpPr>
        <p:spPr>
          <a:xfrm>
            <a:off x="9464040" y="3858768"/>
            <a:ext cx="576072"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70" b="1" i="0" u="none" strike="noStrike" kern="1200" cap="none" spc="0" baseline="0">
                <a:solidFill>
                  <a:srgbClr val="96B6B6"/>
                </a:solidFill>
                <a:latin typeface="Lato" charset="0"/>
                <a:ea typeface="Lato" charset="0"/>
                <a:cs typeface="Lato" charset="0"/>
              </a:rPr>
              <a:t>16.22%</a:t>
            </a:r>
            <a:endParaRPr lang="zh-CN" altLang="en-US" sz="1570" b="0" i="0" u="none" strike="noStrike" kern="1200" cap="none" spc="0" baseline="0">
              <a:solidFill>
                <a:schemeClr val="tx1"/>
              </a:solidFill>
              <a:latin typeface="Lato" charset="0"/>
              <a:ea typeface="等线" charset="0"/>
              <a:cs typeface="Lato" charset="0"/>
            </a:endParaRPr>
          </a:p>
        </p:txBody>
      </p:sp>
      <p:sp>
        <p:nvSpPr>
          <p:cNvPr id="252" name="矩形"/>
          <p:cNvSpPr>
            <a:spLocks/>
          </p:cNvSpPr>
          <p:nvPr/>
        </p:nvSpPr>
        <p:spPr>
          <a:xfrm>
            <a:off x="1133856" y="4572000"/>
            <a:ext cx="3977640"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50" b="0" i="0" u="none" strike="noStrike" kern="1200" cap="none" spc="0" baseline="0">
                <a:solidFill>
                  <a:srgbClr val="37443B"/>
                </a:solidFill>
                <a:latin typeface="Lato" charset="0"/>
                <a:ea typeface="Lato" charset="0"/>
                <a:cs typeface="Lato" charset="0"/>
              </a:rPr>
              <a:t>Other arrangement</a:t>
            </a:r>
            <a:endParaRPr lang="zh-CN" altLang="en-US" sz="1650" b="0" i="0" u="none" strike="noStrike" kern="1200" cap="none" spc="0" baseline="0">
              <a:solidFill>
                <a:schemeClr val="tx1"/>
              </a:solidFill>
              <a:latin typeface="Lato" charset="0"/>
              <a:ea typeface="等线" charset="0"/>
              <a:cs typeface="Lato" charset="0"/>
            </a:endParaRPr>
          </a:p>
        </p:txBody>
      </p:sp>
      <p:sp>
        <p:nvSpPr>
          <p:cNvPr id="253" name="圆角矩形"/>
          <p:cNvSpPr>
            <a:spLocks/>
          </p:cNvSpPr>
          <p:nvPr/>
        </p:nvSpPr>
        <p:spPr>
          <a:xfrm>
            <a:off x="5202936" y="4636008"/>
            <a:ext cx="4123943" cy="192024"/>
          </a:xfrm>
          <a:prstGeom prst="roundRect">
            <a:avLst>
              <a:gd name="adj" fmla="val 42856"/>
            </a:avLst>
          </a:prstGeom>
          <a:solidFill>
            <a:srgbClr val="EBE9DE"/>
          </a:solidFill>
          <a:ln w="12700" cap="flat" cmpd="sng">
            <a:solidFill>
              <a:srgbClr val="EBE9DE">
                <a:alpha val="0"/>
              </a:srgbClr>
            </a:solidFill>
            <a:prstDash val="solid"/>
            <a:round/>
          </a:ln>
        </p:spPr>
      </p:sp>
      <p:sp>
        <p:nvSpPr>
          <p:cNvPr id="254" name="圆角矩形"/>
          <p:cNvSpPr>
            <a:spLocks/>
          </p:cNvSpPr>
          <p:nvPr/>
        </p:nvSpPr>
        <p:spPr>
          <a:xfrm>
            <a:off x="5202936" y="4636008"/>
            <a:ext cx="257747" cy="192024"/>
          </a:xfrm>
          <a:prstGeom prst="roundRect">
            <a:avLst>
              <a:gd name="adj" fmla="val 42856"/>
            </a:avLst>
          </a:prstGeom>
          <a:solidFill>
            <a:srgbClr val="E6BD76"/>
          </a:solidFill>
          <a:ln w="12700" cap="flat" cmpd="sng">
            <a:solidFill>
              <a:srgbClr val="E6BD76">
                <a:alpha val="0"/>
              </a:srgbClr>
            </a:solidFill>
            <a:prstDash val="solid"/>
            <a:round/>
          </a:ln>
        </p:spPr>
      </p:sp>
      <p:sp>
        <p:nvSpPr>
          <p:cNvPr id="255" name="矩形"/>
          <p:cNvSpPr>
            <a:spLocks/>
          </p:cNvSpPr>
          <p:nvPr/>
        </p:nvSpPr>
        <p:spPr>
          <a:xfrm>
            <a:off x="9464040" y="4572000"/>
            <a:ext cx="576072" cy="30175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70" b="1" i="0" u="none" strike="noStrike" kern="1200" cap="none" spc="0" baseline="0">
                <a:solidFill>
                  <a:srgbClr val="E6BD76"/>
                </a:solidFill>
                <a:latin typeface="Lato" charset="0"/>
                <a:ea typeface="Lato" charset="0"/>
                <a:cs typeface="Lato" charset="0"/>
              </a:rPr>
              <a:t>5.4%</a:t>
            </a:r>
            <a:endParaRPr lang="zh-CN" altLang="en-US" sz="1570" b="0" i="0" u="none" strike="noStrike" kern="1200" cap="none" spc="0" baseline="0">
              <a:solidFill>
                <a:schemeClr val="tx1"/>
              </a:solidFill>
              <a:latin typeface="Lato" charset="0"/>
              <a:ea typeface="等线" charset="0"/>
              <a:cs typeface="Lato" charset="0"/>
            </a:endParaRPr>
          </a:p>
        </p:txBody>
      </p:sp>
      <p:sp>
        <p:nvSpPr>
          <p:cNvPr id="256" name="圆角矩形"/>
          <p:cNvSpPr>
            <a:spLocks/>
          </p:cNvSpPr>
          <p:nvPr/>
        </p:nvSpPr>
        <p:spPr>
          <a:xfrm>
            <a:off x="1280160" y="5696712"/>
            <a:ext cx="9528048"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257" name="矩形"/>
          <p:cNvSpPr>
            <a:spLocks/>
          </p:cNvSpPr>
          <p:nvPr/>
        </p:nvSpPr>
        <p:spPr>
          <a:xfrm>
            <a:off x="1417320" y="5751576"/>
            <a:ext cx="9253728"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80" b="1" i="0" u="none" strike="noStrike" kern="1200" cap="none" spc="0" baseline="0">
                <a:solidFill>
                  <a:srgbClr val="526F5F"/>
                </a:solidFill>
                <a:latin typeface="Lato" charset="0"/>
                <a:ea typeface="Lato" charset="0"/>
                <a:cs typeface="Lato" charset="0"/>
              </a:rPr>
              <a:t>Half already hire cleaners; almost one-third rely on individual tolerance.</a:t>
            </a:r>
            <a:endParaRPr lang="zh-CN" altLang="en-US" sz="1280" b="0" i="0" u="none" strike="noStrike" kern="1200" cap="none" spc="0" baseline="0">
              <a:solidFill>
                <a:schemeClr val="tx1"/>
              </a:solidFill>
              <a:latin typeface="Lato" charset="0"/>
              <a:ea typeface="等线" charset="0"/>
              <a:cs typeface="Lato" charset="0"/>
            </a:endParaRPr>
          </a:p>
        </p:txBody>
      </p:sp>
      <p:sp>
        <p:nvSpPr>
          <p:cNvPr id="258" name="矩形"/>
          <p:cNvSpPr>
            <a:spLocks/>
          </p:cNvSpPr>
          <p:nvPr/>
        </p:nvSpPr>
        <p:spPr>
          <a:xfrm>
            <a:off x="822960" y="6199631"/>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Our dorm cleaning questionnaire, Q3; 16 valid responses. Categories are mutually exclusive.</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8782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264"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65"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SURVEY FINDING  /  N = 16</a:t>
            </a:r>
            <a:endParaRPr lang="zh-CN" altLang="en-US" sz="950" b="0" i="0" u="none" strike="noStrike" kern="1200" cap="none" spc="0" baseline="0">
              <a:solidFill>
                <a:schemeClr val="tx1"/>
              </a:solidFill>
              <a:latin typeface="Lato" charset="0"/>
              <a:ea typeface="等线" charset="0"/>
              <a:cs typeface="Lato" charset="0"/>
            </a:endParaRPr>
          </a:p>
        </p:txBody>
      </p:sp>
      <p:sp>
        <p:nvSpPr>
          <p:cNvPr id="266"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267"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268"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10  /  19</a:t>
            </a:r>
            <a:endParaRPr lang="zh-CN" altLang="en-US" sz="950" b="0" i="0" u="none" strike="noStrike" kern="1200" cap="none" spc="0" baseline="0">
              <a:solidFill>
                <a:schemeClr val="tx1"/>
              </a:solidFill>
              <a:latin typeface="Lato" charset="0"/>
              <a:ea typeface="等线" charset="0"/>
              <a:cs typeface="Lato" charset="0"/>
            </a:endParaRPr>
          </a:p>
        </p:txBody>
      </p:sp>
      <p:sp>
        <p:nvSpPr>
          <p:cNvPr id="269"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Three major cleaning difficulties</a:t>
            </a:r>
            <a:endParaRPr lang="zh-CN" altLang="en-US" sz="3050" b="0" i="0" u="none" strike="noStrike" kern="1200" cap="none" spc="0" baseline="0">
              <a:solidFill>
                <a:schemeClr val="tx1"/>
              </a:solidFill>
              <a:latin typeface="Lato" charset="0"/>
              <a:ea typeface="等线" charset="0"/>
              <a:cs typeface="Lato" charset="0"/>
            </a:endParaRPr>
          </a:p>
        </p:txBody>
      </p:sp>
      <p:sp>
        <p:nvSpPr>
          <p:cNvPr id="270"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The survey points to workload, coordination and hard-to-clean spaces.</a:t>
            </a:r>
            <a:endParaRPr lang="zh-CN" altLang="en-US" sz="1550" b="0" i="0" u="none" strike="noStrike" kern="1200" cap="none" spc="0" baseline="0">
              <a:solidFill>
                <a:schemeClr val="tx1"/>
              </a:solidFill>
              <a:latin typeface="Lato" charset="0"/>
              <a:ea typeface="等线" charset="0"/>
              <a:cs typeface="Lato" charset="0"/>
            </a:endParaRPr>
          </a:p>
        </p:txBody>
      </p:sp>
      <p:sp>
        <p:nvSpPr>
          <p:cNvPr id="271" name="圆角矩形"/>
          <p:cNvSpPr>
            <a:spLocks/>
          </p:cNvSpPr>
          <p:nvPr/>
        </p:nvSpPr>
        <p:spPr>
          <a:xfrm>
            <a:off x="786384" y="2157984"/>
            <a:ext cx="3593592" cy="2944367"/>
          </a:xfrm>
          <a:prstGeom prst="roundRect">
            <a:avLst>
              <a:gd name="adj" fmla="val 6212"/>
            </a:avLst>
          </a:prstGeom>
          <a:solidFill>
            <a:srgbClr val="EBF0E7"/>
          </a:solidFill>
          <a:ln w="12700" cap="flat" cmpd="sng">
            <a:solidFill>
              <a:srgbClr val="EBF0E7">
                <a:alpha val="0"/>
              </a:srgbClr>
            </a:solidFill>
            <a:prstDash val="solid"/>
            <a:round/>
          </a:ln>
        </p:spPr>
      </p:sp>
      <p:sp>
        <p:nvSpPr>
          <p:cNvPr id="272" name="矩形"/>
          <p:cNvSpPr>
            <a:spLocks/>
          </p:cNvSpPr>
          <p:nvPr/>
        </p:nvSpPr>
        <p:spPr>
          <a:xfrm>
            <a:off x="1014984" y="2468880"/>
            <a:ext cx="3026662" cy="75895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200" b="0" i="0" u="none" strike="noStrike" kern="1200" cap="none" spc="0" baseline="0">
                <a:solidFill>
                  <a:srgbClr val="526F5F"/>
                </a:solidFill>
                <a:latin typeface="Georgia" charset="0"/>
                <a:ea typeface="Georgia" charset="0"/>
                <a:cs typeface="Georgia" charset="0"/>
              </a:rPr>
              <a:t>54.05%</a:t>
            </a:r>
            <a:endParaRPr lang="zh-CN" altLang="en-US" sz="4200" b="0" i="0" u="none" strike="noStrike" kern="1200" cap="none" spc="0" baseline="0">
              <a:solidFill>
                <a:schemeClr val="tx1"/>
              </a:solidFill>
              <a:latin typeface="Lato" charset="0"/>
              <a:ea typeface="等线" charset="0"/>
              <a:cs typeface="Lato" charset="0"/>
            </a:endParaRPr>
          </a:p>
        </p:txBody>
      </p:sp>
      <p:sp>
        <p:nvSpPr>
          <p:cNvPr id="273" name="矩形"/>
          <p:cNvSpPr>
            <a:spLocks/>
          </p:cNvSpPr>
          <p:nvPr/>
        </p:nvSpPr>
        <p:spPr>
          <a:xfrm>
            <a:off x="1024127" y="3410712"/>
            <a:ext cx="310896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1" i="0" u="none" strike="noStrike" kern="1200" cap="none" spc="0" baseline="0">
                <a:solidFill>
                  <a:srgbClr val="37443B"/>
                </a:solidFill>
                <a:latin typeface="Lato" charset="0"/>
                <a:ea typeface="Lato" charset="0"/>
                <a:cs typeface="Lato" charset="0"/>
              </a:rPr>
              <a:t>Hard-to-clean areas</a:t>
            </a:r>
            <a:endParaRPr lang="zh-CN" altLang="en-US" sz="2000" b="0" i="0" u="none" strike="noStrike" kern="1200" cap="none" spc="0" baseline="0">
              <a:solidFill>
                <a:schemeClr val="tx1"/>
              </a:solidFill>
              <a:latin typeface="Lato" charset="0"/>
              <a:ea typeface="等线" charset="0"/>
              <a:cs typeface="Lato" charset="0"/>
            </a:endParaRPr>
          </a:p>
        </p:txBody>
      </p:sp>
      <p:sp>
        <p:nvSpPr>
          <p:cNvPr id="274" name="矩形"/>
          <p:cNvSpPr>
            <a:spLocks/>
          </p:cNvSpPr>
          <p:nvPr/>
        </p:nvSpPr>
        <p:spPr>
          <a:xfrm>
            <a:off x="1024127" y="3877055"/>
            <a:ext cx="3072384" cy="68580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40" b="0" i="0" u="none" strike="noStrike" kern="1200" cap="none" spc="0" baseline="0">
                <a:solidFill>
                  <a:srgbClr val="7D8478"/>
                </a:solidFill>
                <a:latin typeface="Lato" charset="0"/>
                <a:ea typeface="Lato" charset="0"/>
                <a:cs typeface="Lato" charset="0"/>
              </a:rPr>
              <a:t>Bathrooms, toilets and other difficult spots.</a:t>
            </a:r>
            <a:endParaRPr lang="zh-CN" altLang="en-US" sz="1540" b="0" i="0" u="none" strike="noStrike" kern="1200" cap="none" spc="0" baseline="0">
              <a:solidFill>
                <a:schemeClr val="tx1"/>
              </a:solidFill>
              <a:latin typeface="Lato" charset="0"/>
              <a:ea typeface="等线" charset="0"/>
              <a:cs typeface="Lato" charset="0"/>
            </a:endParaRPr>
          </a:p>
        </p:txBody>
      </p:sp>
      <p:sp>
        <p:nvSpPr>
          <p:cNvPr id="275" name="圆角矩形"/>
          <p:cNvSpPr>
            <a:spLocks/>
          </p:cNvSpPr>
          <p:nvPr/>
        </p:nvSpPr>
        <p:spPr>
          <a:xfrm>
            <a:off x="4617720" y="2157984"/>
            <a:ext cx="3593592" cy="2944367"/>
          </a:xfrm>
          <a:prstGeom prst="roundRect">
            <a:avLst>
              <a:gd name="adj" fmla="val 6212"/>
            </a:avLst>
          </a:prstGeom>
          <a:solidFill>
            <a:srgbClr val="F7E7DA"/>
          </a:solidFill>
          <a:ln w="12700" cap="flat" cmpd="sng">
            <a:solidFill>
              <a:srgbClr val="F7E7DA">
                <a:alpha val="0"/>
              </a:srgbClr>
            </a:solidFill>
            <a:prstDash val="solid"/>
            <a:round/>
          </a:ln>
        </p:spPr>
      </p:sp>
      <p:sp>
        <p:nvSpPr>
          <p:cNvPr id="276" name="矩形"/>
          <p:cNvSpPr>
            <a:spLocks/>
          </p:cNvSpPr>
          <p:nvPr/>
        </p:nvSpPr>
        <p:spPr>
          <a:xfrm>
            <a:off x="4846320" y="2468880"/>
            <a:ext cx="3026664" cy="75895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200" b="0" i="0" u="none" strike="noStrike" kern="1200" cap="none" spc="0" baseline="0">
                <a:solidFill>
                  <a:srgbClr val="CE8067"/>
                </a:solidFill>
                <a:latin typeface="Georgia" charset="0"/>
                <a:ea typeface="Georgia" charset="0"/>
                <a:cs typeface="Georgia" charset="0"/>
              </a:rPr>
              <a:t>64.86%</a:t>
            </a:r>
            <a:endParaRPr lang="zh-CN" altLang="en-US" sz="4200" b="0" i="0" u="none" strike="noStrike" kern="1200" cap="none" spc="0" baseline="0">
              <a:solidFill>
                <a:schemeClr val="tx1"/>
              </a:solidFill>
              <a:latin typeface="Lato" charset="0"/>
              <a:ea typeface="等线" charset="0"/>
              <a:cs typeface="Lato" charset="0"/>
            </a:endParaRPr>
          </a:p>
        </p:txBody>
      </p:sp>
      <p:sp>
        <p:nvSpPr>
          <p:cNvPr id="277" name="矩形"/>
          <p:cNvSpPr>
            <a:spLocks/>
          </p:cNvSpPr>
          <p:nvPr/>
        </p:nvSpPr>
        <p:spPr>
          <a:xfrm>
            <a:off x="4855464" y="3410712"/>
            <a:ext cx="310896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1" i="0" u="none" strike="noStrike" kern="1200" cap="none" spc="0" baseline="0">
                <a:solidFill>
                  <a:srgbClr val="37443B"/>
                </a:solidFill>
                <a:latin typeface="Lato" charset="0"/>
                <a:ea typeface="Lato" charset="0"/>
                <a:cs typeface="Lato" charset="0"/>
              </a:rPr>
              <a:t>Roommate coordination</a:t>
            </a:r>
            <a:endParaRPr lang="zh-CN" altLang="en-US" sz="2000" b="0" i="0" u="none" strike="noStrike" kern="1200" cap="none" spc="0" baseline="0">
              <a:solidFill>
                <a:schemeClr val="tx1"/>
              </a:solidFill>
              <a:latin typeface="Lato" charset="0"/>
              <a:ea typeface="等线" charset="0"/>
              <a:cs typeface="Lato" charset="0"/>
            </a:endParaRPr>
          </a:p>
        </p:txBody>
      </p:sp>
      <p:sp>
        <p:nvSpPr>
          <p:cNvPr id="278" name="矩形"/>
          <p:cNvSpPr>
            <a:spLocks/>
          </p:cNvSpPr>
          <p:nvPr/>
        </p:nvSpPr>
        <p:spPr>
          <a:xfrm>
            <a:off x="4855464" y="3877055"/>
            <a:ext cx="3072382" cy="68580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40" b="0" i="0" u="none" strike="noStrike" kern="1200" cap="none" spc="0" baseline="0">
                <a:solidFill>
                  <a:srgbClr val="7D8478"/>
                </a:solidFill>
                <a:latin typeface="Lato" charset="0"/>
                <a:ea typeface="Lato" charset="0"/>
                <a:cs typeface="Lato" charset="0"/>
              </a:rPr>
              <a:t>Different levels of motivation make planning hard.</a:t>
            </a:r>
            <a:endParaRPr lang="zh-CN" altLang="en-US" sz="1540" b="0" i="0" u="none" strike="noStrike" kern="1200" cap="none" spc="0" baseline="0">
              <a:solidFill>
                <a:schemeClr val="tx1"/>
              </a:solidFill>
              <a:latin typeface="Lato" charset="0"/>
              <a:ea typeface="等线" charset="0"/>
              <a:cs typeface="Lato" charset="0"/>
            </a:endParaRPr>
          </a:p>
        </p:txBody>
      </p:sp>
      <p:sp>
        <p:nvSpPr>
          <p:cNvPr id="279" name="圆角矩形"/>
          <p:cNvSpPr>
            <a:spLocks/>
          </p:cNvSpPr>
          <p:nvPr/>
        </p:nvSpPr>
        <p:spPr>
          <a:xfrm>
            <a:off x="8449056" y="2157984"/>
            <a:ext cx="3593590" cy="2944367"/>
          </a:xfrm>
          <a:prstGeom prst="roundRect">
            <a:avLst>
              <a:gd name="adj" fmla="val 6212"/>
            </a:avLst>
          </a:prstGeom>
          <a:solidFill>
            <a:srgbClr val="FFFDF9"/>
          </a:solidFill>
          <a:ln w="12700" cap="flat" cmpd="sng">
            <a:solidFill>
              <a:srgbClr val="FFFDF9">
                <a:alpha val="0"/>
              </a:srgbClr>
            </a:solidFill>
            <a:prstDash val="solid"/>
            <a:round/>
          </a:ln>
        </p:spPr>
      </p:sp>
      <p:sp>
        <p:nvSpPr>
          <p:cNvPr id="280" name="矩形"/>
          <p:cNvSpPr>
            <a:spLocks/>
          </p:cNvSpPr>
          <p:nvPr/>
        </p:nvSpPr>
        <p:spPr>
          <a:xfrm>
            <a:off x="8677656" y="2468880"/>
            <a:ext cx="3026663" cy="75895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200" b="0" i="0" u="none" strike="noStrike" kern="1200" cap="none" spc="0" baseline="0">
                <a:solidFill>
                  <a:srgbClr val="526F5F"/>
                </a:solidFill>
                <a:latin typeface="Georgia" charset="0"/>
                <a:ea typeface="Georgia" charset="0"/>
                <a:cs typeface="Georgia" charset="0"/>
              </a:rPr>
              <a:t>48.65%</a:t>
            </a:r>
            <a:endParaRPr lang="zh-CN" altLang="en-US" sz="4200" b="0" i="0" u="none" strike="noStrike" kern="1200" cap="none" spc="0" baseline="0">
              <a:solidFill>
                <a:schemeClr val="tx1"/>
              </a:solidFill>
              <a:latin typeface="Lato" charset="0"/>
              <a:ea typeface="等线" charset="0"/>
              <a:cs typeface="Lato" charset="0"/>
            </a:endParaRPr>
          </a:p>
        </p:txBody>
      </p:sp>
      <p:sp>
        <p:nvSpPr>
          <p:cNvPr id="281" name="矩形"/>
          <p:cNvSpPr>
            <a:spLocks/>
          </p:cNvSpPr>
          <p:nvPr/>
        </p:nvSpPr>
        <p:spPr>
          <a:xfrm>
            <a:off x="8686800" y="3410712"/>
            <a:ext cx="3108960"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1" i="0" u="none" strike="noStrike" kern="1200" cap="none" spc="0" baseline="0">
                <a:solidFill>
                  <a:srgbClr val="37443B"/>
                </a:solidFill>
                <a:latin typeface="Lato" charset="0"/>
                <a:ea typeface="Lato" charset="0"/>
                <a:cs typeface="Lato" charset="0"/>
              </a:rPr>
              <a:t>Academic workload</a:t>
            </a:r>
            <a:endParaRPr lang="zh-CN" altLang="en-US" sz="2000" b="0" i="0" u="none" strike="noStrike" kern="1200" cap="none" spc="0" baseline="0">
              <a:solidFill>
                <a:schemeClr val="tx1"/>
              </a:solidFill>
              <a:latin typeface="Lato" charset="0"/>
              <a:ea typeface="等线" charset="0"/>
              <a:cs typeface="Lato" charset="0"/>
            </a:endParaRPr>
          </a:p>
        </p:txBody>
      </p:sp>
      <p:sp>
        <p:nvSpPr>
          <p:cNvPr id="282" name="矩形"/>
          <p:cNvSpPr>
            <a:spLocks/>
          </p:cNvSpPr>
          <p:nvPr/>
        </p:nvSpPr>
        <p:spPr>
          <a:xfrm>
            <a:off x="8686800" y="3877055"/>
            <a:ext cx="3072382" cy="68580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40" b="0" i="0" u="none" strike="noStrike" kern="1200" cap="none" spc="0" baseline="0">
                <a:solidFill>
                  <a:srgbClr val="7D8478"/>
                </a:solidFill>
                <a:latin typeface="Lato" charset="0"/>
                <a:ea typeface="Lato" charset="0"/>
                <a:cs typeface="Lato" charset="0"/>
              </a:rPr>
              <a:t>Students lack enough time to clean regularly.</a:t>
            </a:r>
            <a:endParaRPr lang="zh-CN" altLang="en-US" sz="1540" b="0" i="0" u="none" strike="noStrike" kern="1200" cap="none" spc="0" baseline="0">
              <a:solidFill>
                <a:schemeClr val="tx1"/>
              </a:solidFill>
              <a:latin typeface="Lato" charset="0"/>
              <a:ea typeface="等线" charset="0"/>
              <a:cs typeface="Lato" charset="0"/>
            </a:endParaRPr>
          </a:p>
        </p:txBody>
      </p:sp>
      <p:sp>
        <p:nvSpPr>
          <p:cNvPr id="283" name="矩形"/>
          <p:cNvSpPr>
            <a:spLocks/>
          </p:cNvSpPr>
          <p:nvPr/>
        </p:nvSpPr>
        <p:spPr>
          <a:xfrm>
            <a:off x="822960" y="6089904"/>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Our survey, Q4, n=37. Multiple responses were allowed; percentages do not add to 100%.</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69356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289"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90"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INTERVIEW INSIGHT  /  N = 6</a:t>
            </a:r>
            <a:endParaRPr lang="zh-CN" altLang="en-US" sz="950" b="0" i="0" u="none" strike="noStrike" kern="1200" cap="none" spc="0" baseline="0">
              <a:solidFill>
                <a:schemeClr val="tx1"/>
              </a:solidFill>
              <a:latin typeface="Lato" charset="0"/>
              <a:ea typeface="等线" charset="0"/>
              <a:cs typeface="Lato" charset="0"/>
            </a:endParaRPr>
          </a:p>
        </p:txBody>
      </p:sp>
      <p:sp>
        <p:nvSpPr>
          <p:cNvPr id="291"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292"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293"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11/  19</a:t>
            </a:r>
            <a:endParaRPr lang="zh-CN" altLang="en-US" sz="950" b="0" i="0" u="none" strike="noStrike" kern="1200" cap="none" spc="0" baseline="0">
              <a:solidFill>
                <a:schemeClr val="tx1"/>
              </a:solidFill>
              <a:latin typeface="Lato" charset="0"/>
              <a:ea typeface="等线" charset="0"/>
              <a:cs typeface="Lato" charset="0"/>
            </a:endParaRPr>
          </a:p>
        </p:txBody>
      </p:sp>
      <p:sp>
        <p:nvSpPr>
          <p:cNvPr id="294"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The access problem: cleaners can be hard to find</a:t>
            </a:r>
            <a:endParaRPr lang="zh-CN" altLang="en-US" sz="3050" b="0" i="0" u="none" strike="noStrike" kern="1200" cap="none" spc="0" baseline="0">
              <a:solidFill>
                <a:schemeClr val="tx1"/>
              </a:solidFill>
              <a:latin typeface="Lato" charset="0"/>
              <a:ea typeface="等线" charset="0"/>
              <a:cs typeface="Lato" charset="0"/>
            </a:endParaRPr>
          </a:p>
        </p:txBody>
      </p:sp>
      <p:sp>
        <p:nvSpPr>
          <p:cNvPr id="295"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A service can exist without being easy to reach.</a:t>
            </a:r>
            <a:endParaRPr lang="zh-CN" altLang="en-US" sz="1550" b="0" i="0" u="none" strike="noStrike" kern="1200" cap="none" spc="0" baseline="0">
              <a:solidFill>
                <a:schemeClr val="tx1"/>
              </a:solidFill>
              <a:latin typeface="Lato" charset="0"/>
              <a:ea typeface="等线" charset="0"/>
              <a:cs typeface="Lato" charset="0"/>
            </a:endParaRPr>
          </a:p>
        </p:txBody>
      </p:sp>
      <p:pic>
        <p:nvPicPr>
          <p:cNvPr id="296" name="图片" descr="/mnt/data/jebo_assets/cleaner.png"/>
          <p:cNvPicPr>
            <a:picLocks noChangeAspect="1"/>
          </p:cNvPicPr>
          <p:nvPr/>
        </p:nvPicPr>
        <p:blipFill>
          <a:blip r:embed="rId4" cstate="print"/>
          <a:stretch>
            <a:fillRect/>
          </a:stretch>
        </p:blipFill>
        <p:spPr>
          <a:xfrm>
            <a:off x="777240" y="1911096"/>
            <a:ext cx="5303520" cy="4041645"/>
          </a:xfrm>
          <a:prstGeom prst="rect">
            <a:avLst/>
          </a:prstGeom>
          <a:noFill/>
          <a:ln w="12700" cap="flat" cmpd="sng">
            <a:noFill/>
            <a:prstDash val="solid"/>
            <a:miter/>
          </a:ln>
        </p:spPr>
      </p:pic>
      <p:sp>
        <p:nvSpPr>
          <p:cNvPr id="297" name="圆角矩形"/>
          <p:cNvSpPr>
            <a:spLocks/>
          </p:cNvSpPr>
          <p:nvPr/>
        </p:nvSpPr>
        <p:spPr>
          <a:xfrm>
            <a:off x="5989320" y="2231136"/>
            <a:ext cx="5175504" cy="2926080"/>
          </a:xfrm>
          <a:prstGeom prst="roundRect">
            <a:avLst>
              <a:gd name="adj" fmla="val 6250"/>
            </a:avLst>
          </a:prstGeom>
          <a:solidFill>
            <a:srgbClr val="DDE8DD"/>
          </a:solidFill>
          <a:ln w="12700" cap="flat" cmpd="sng">
            <a:solidFill>
              <a:srgbClr val="DDE8DD">
                <a:alpha val="0"/>
              </a:srgbClr>
            </a:solidFill>
            <a:prstDash val="solid"/>
            <a:round/>
          </a:ln>
        </p:spPr>
      </p:sp>
      <p:sp>
        <p:nvSpPr>
          <p:cNvPr id="298" name="矩形"/>
          <p:cNvSpPr>
            <a:spLocks/>
          </p:cNvSpPr>
          <p:nvPr/>
        </p:nvSpPr>
        <p:spPr>
          <a:xfrm>
            <a:off x="6510528" y="2505456"/>
            <a:ext cx="4434838" cy="10241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900" dirty="0">
                <a:solidFill>
                  <a:srgbClr val="40584C"/>
                </a:solidFill>
                <a:latin typeface="Georgia" charset="0"/>
                <a:ea typeface="Georgia" charset="0"/>
                <a:cs typeface="Georgia" charset="0"/>
              </a:rPr>
              <a:t>4</a:t>
            </a:r>
            <a:r>
              <a:rPr lang="en-US" altLang="zh-CN" sz="5900" b="0" i="0" u="none" strike="noStrike" kern="1200" cap="none" spc="0" baseline="0" dirty="0">
                <a:solidFill>
                  <a:srgbClr val="40584C"/>
                </a:solidFill>
                <a:latin typeface="Georgia" charset="0"/>
                <a:ea typeface="Georgia" charset="0"/>
                <a:cs typeface="Georgia" charset="0"/>
              </a:rPr>
              <a:t> / 6</a:t>
            </a:r>
            <a:endParaRPr lang="zh-CN" altLang="en-US" sz="5900" b="0" i="0" u="none" strike="noStrike" kern="1200" cap="none" spc="0" baseline="0" dirty="0">
              <a:solidFill>
                <a:schemeClr val="tx1"/>
              </a:solidFill>
              <a:latin typeface="Lato" charset="0"/>
              <a:ea typeface="等线" charset="0"/>
              <a:cs typeface="Lato" charset="0"/>
            </a:endParaRPr>
          </a:p>
        </p:txBody>
      </p:sp>
      <p:sp>
        <p:nvSpPr>
          <p:cNvPr id="299" name="矩形"/>
          <p:cNvSpPr>
            <a:spLocks/>
          </p:cNvSpPr>
          <p:nvPr/>
        </p:nvSpPr>
        <p:spPr>
          <a:xfrm>
            <a:off x="6510528" y="3666744"/>
            <a:ext cx="4069079" cy="1078992"/>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840" b="0" i="0" u="none" strike="noStrike" kern="1200" cap="none" spc="0" baseline="0" dirty="0">
                <a:solidFill>
                  <a:srgbClr val="37443B"/>
                </a:solidFill>
                <a:latin typeface="Lato" charset="0"/>
                <a:ea typeface="Lato" charset="0"/>
                <a:cs typeface="Lato" charset="0"/>
              </a:rPr>
              <a:t>interviewees said their dormitory common areas had never been cleaned because they lacked a way to contact cleaning staff.</a:t>
            </a:r>
            <a:endParaRPr lang="zh-CN" altLang="en-US" sz="1840" b="0" i="0" u="none" strike="noStrike" kern="1200" cap="none" spc="0" baseline="0" dirty="0">
              <a:solidFill>
                <a:schemeClr val="tx1"/>
              </a:solidFill>
              <a:latin typeface="Lato" charset="0"/>
              <a:ea typeface="等线" charset="0"/>
              <a:cs typeface="Lato" charset="0"/>
            </a:endParaRPr>
          </a:p>
        </p:txBody>
      </p:sp>
      <p:sp>
        <p:nvSpPr>
          <p:cNvPr id="300"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Qualitative interview notes in CEM pre.docx; small, non-representative sample.</a:t>
            </a:r>
            <a:endParaRPr lang="zh-CN" altLang="en-US" sz="930" b="0" i="0" u="none" strike="noStrike" kern="1200" cap="none" spc="0" baseline="0">
              <a:solidFill>
                <a:schemeClr val="tx1"/>
              </a:solidFill>
              <a:latin typeface="Lato" charset="0"/>
              <a:ea typeface="等线" charset="0"/>
              <a:cs typeface="Lato" charset="0"/>
            </a:endParaRPr>
          </a:p>
        </p:txBody>
      </p:sp>
      <p:sp>
        <p:nvSpPr>
          <p:cNvPr id="2" name="文本框 1">
            <a:extLst>
              <a:ext uri="{FF2B5EF4-FFF2-40B4-BE49-F238E27FC236}">
                <a16:creationId xmlns:a16="http://schemas.microsoft.com/office/drawing/2014/main" id="{9788959E-E2A8-6D4D-F707-86F917C96731}"/>
              </a:ext>
            </a:extLst>
          </p:cNvPr>
          <p:cNvSpPr txBox="1"/>
          <p:nvPr/>
        </p:nvSpPr>
        <p:spPr>
          <a:xfrm>
            <a:off x="6071156" y="5411891"/>
            <a:ext cx="4947821" cy="923330"/>
          </a:xfrm>
          <a:prstGeom prst="rect">
            <a:avLst/>
          </a:prstGeom>
          <a:noFill/>
        </p:spPr>
        <p:txBody>
          <a:bodyPr wrap="square" rtlCol="0">
            <a:spAutoFit/>
          </a:bodyPr>
          <a:lstStyle/>
          <a:p>
            <a:r>
              <a:rPr lang="en-US" altLang="zh-CN" dirty="0"/>
              <a:t>Inspiration:</a:t>
            </a:r>
          </a:p>
          <a:p>
            <a:r>
              <a:rPr lang="en-US" altLang="zh-CN" dirty="0"/>
              <a:t>Provide a</a:t>
            </a:r>
            <a:r>
              <a:rPr lang="zh-CN" altLang="en-US" dirty="0"/>
              <a:t> </a:t>
            </a:r>
            <a:r>
              <a:rPr lang="en-US" altLang="zh-CN" dirty="0"/>
              <a:t>service that makes it easy for students to contact cleaners.</a:t>
            </a:r>
          </a:p>
        </p:txBody>
      </p:sp>
    </p:spTree>
    <p:extLst>
      <p:ext uri="{BB962C8B-B14F-4D97-AF65-F5344CB8AC3E}">
        <p14:creationId xmlns:p14="http://schemas.microsoft.com/office/powerpoint/2010/main" val="29194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306"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307"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EXISTING BEHAVIOR</a:t>
            </a:r>
            <a:endParaRPr lang="zh-CN" altLang="en-US" sz="950" b="0" i="0" u="none" strike="noStrike" kern="1200" cap="none" spc="0" baseline="0">
              <a:solidFill>
                <a:schemeClr val="tx1"/>
              </a:solidFill>
              <a:latin typeface="Lato" charset="0"/>
              <a:ea typeface="等线" charset="0"/>
              <a:cs typeface="Lato" charset="0"/>
            </a:endParaRPr>
          </a:p>
        </p:txBody>
      </p:sp>
      <p:sp>
        <p:nvSpPr>
          <p:cNvPr id="308"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309"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310"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12  /  19</a:t>
            </a:r>
            <a:endParaRPr lang="zh-CN" altLang="en-US" sz="950" b="0" i="0" u="none" strike="noStrike" kern="1200" cap="none" spc="0" baseline="0">
              <a:solidFill>
                <a:schemeClr val="tx1"/>
              </a:solidFill>
              <a:latin typeface="Lato" charset="0"/>
              <a:ea typeface="等线" charset="0"/>
              <a:cs typeface="Lato" charset="0"/>
            </a:endParaRPr>
          </a:p>
        </p:txBody>
      </p:sp>
      <p:sp>
        <p:nvSpPr>
          <p:cNvPr id="311"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Students already have a workaround</a:t>
            </a:r>
            <a:endParaRPr lang="zh-CN" altLang="en-US" sz="3050" b="0" i="0" u="none" strike="noStrike" kern="1200" cap="none" spc="0" baseline="0">
              <a:solidFill>
                <a:schemeClr val="tx1"/>
              </a:solidFill>
              <a:latin typeface="Lato" charset="0"/>
              <a:ea typeface="等线" charset="0"/>
              <a:cs typeface="Lato" charset="0"/>
            </a:endParaRPr>
          </a:p>
        </p:txBody>
      </p:sp>
      <p:sp>
        <p:nvSpPr>
          <p:cNvPr id="312"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Case A: a private WeChat cleaner, paid together.</a:t>
            </a:r>
            <a:endParaRPr lang="zh-CN" altLang="en-US" sz="1550" b="0" i="0" u="none" strike="noStrike" kern="1200" cap="none" spc="0" baseline="0">
              <a:solidFill>
                <a:schemeClr val="tx1"/>
              </a:solidFill>
              <a:latin typeface="Lato" charset="0"/>
              <a:ea typeface="等线" charset="0"/>
              <a:cs typeface="Lato" charset="0"/>
            </a:endParaRPr>
          </a:p>
        </p:txBody>
      </p:sp>
      <p:sp>
        <p:nvSpPr>
          <p:cNvPr id="313" name="圆角矩形"/>
          <p:cNvSpPr>
            <a:spLocks/>
          </p:cNvSpPr>
          <p:nvPr/>
        </p:nvSpPr>
        <p:spPr>
          <a:xfrm>
            <a:off x="786384" y="2002536"/>
            <a:ext cx="10643616" cy="3520437"/>
          </a:xfrm>
          <a:prstGeom prst="roundRect">
            <a:avLst>
              <a:gd name="adj" fmla="val 5194"/>
            </a:avLst>
          </a:prstGeom>
          <a:solidFill>
            <a:srgbClr val="FFFDF9"/>
          </a:solidFill>
          <a:ln w="12700" cap="flat" cmpd="sng">
            <a:solidFill>
              <a:srgbClr val="FFFDF9">
                <a:alpha val="0"/>
              </a:srgbClr>
            </a:solidFill>
            <a:prstDash val="solid"/>
            <a:round/>
          </a:ln>
        </p:spPr>
      </p:sp>
      <p:sp>
        <p:nvSpPr>
          <p:cNvPr id="314" name="圆角矩形"/>
          <p:cNvSpPr>
            <a:spLocks/>
          </p:cNvSpPr>
          <p:nvPr/>
        </p:nvSpPr>
        <p:spPr>
          <a:xfrm>
            <a:off x="1088136" y="2441447"/>
            <a:ext cx="2313431" cy="1993391"/>
          </a:xfrm>
          <a:prstGeom prst="roundRect">
            <a:avLst>
              <a:gd name="adj" fmla="val 9175"/>
            </a:avLst>
          </a:prstGeom>
          <a:solidFill>
            <a:srgbClr val="EBF0E7"/>
          </a:solidFill>
          <a:ln w="12700" cap="flat" cmpd="sng">
            <a:solidFill>
              <a:srgbClr val="EBF0E7">
                <a:alpha val="0"/>
              </a:srgbClr>
            </a:solidFill>
            <a:prstDash val="solid"/>
            <a:round/>
          </a:ln>
        </p:spPr>
      </p:sp>
      <p:sp>
        <p:nvSpPr>
          <p:cNvPr id="315" name="矩形"/>
          <p:cNvSpPr>
            <a:spLocks/>
          </p:cNvSpPr>
          <p:nvPr/>
        </p:nvSpPr>
        <p:spPr>
          <a:xfrm>
            <a:off x="1307592" y="2679192"/>
            <a:ext cx="1874520"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0" cap="none" spc="140" baseline="0">
                <a:solidFill>
                  <a:srgbClr val="7D8478"/>
                </a:solidFill>
                <a:latin typeface="Lato" charset="0"/>
                <a:ea typeface="Lato" charset="0"/>
                <a:cs typeface="Lato" charset="0"/>
              </a:rPr>
              <a:t>CONTACT</a:t>
            </a:r>
            <a:endParaRPr lang="zh-CN" altLang="en-US" sz="1050" b="0" i="0" u="none" strike="noStrike" kern="1200" cap="none" spc="0" baseline="0">
              <a:solidFill>
                <a:schemeClr val="tx1"/>
              </a:solidFill>
              <a:latin typeface="Lato" charset="0"/>
              <a:ea typeface="等线" charset="0"/>
              <a:cs typeface="Lato" charset="0"/>
            </a:endParaRPr>
          </a:p>
        </p:txBody>
      </p:sp>
      <p:sp>
        <p:nvSpPr>
          <p:cNvPr id="316" name="矩形"/>
          <p:cNvSpPr>
            <a:spLocks/>
          </p:cNvSpPr>
          <p:nvPr/>
        </p:nvSpPr>
        <p:spPr>
          <a:xfrm>
            <a:off x="1289304" y="3255264"/>
            <a:ext cx="1920240" cy="6675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0" i="0" u="none" strike="noStrike" kern="1200" cap="none" spc="0" baseline="0">
                <a:solidFill>
                  <a:srgbClr val="40584C"/>
                </a:solidFill>
                <a:latin typeface="Georgia" charset="0"/>
                <a:ea typeface="Georgia" charset="0"/>
                <a:cs typeface="Georgia" charset="0"/>
              </a:rPr>
              <a:t>Private WeChat</a:t>
            </a:r>
            <a:endParaRPr lang="zh-CN" altLang="en-US" sz="2200" b="0" i="0" u="none" strike="noStrike" kern="1200" cap="none" spc="0" baseline="0">
              <a:solidFill>
                <a:schemeClr val="tx1"/>
              </a:solidFill>
              <a:latin typeface="Lato" charset="0"/>
              <a:ea typeface="等线" charset="0"/>
              <a:cs typeface="Lato" charset="0"/>
            </a:endParaRPr>
          </a:p>
        </p:txBody>
      </p:sp>
      <p:sp>
        <p:nvSpPr>
          <p:cNvPr id="317" name="矩形"/>
          <p:cNvSpPr>
            <a:spLocks/>
          </p:cNvSpPr>
          <p:nvPr/>
        </p:nvSpPr>
        <p:spPr>
          <a:xfrm>
            <a:off x="3456431" y="3063239"/>
            <a:ext cx="246886" cy="4114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700" b="0" i="0" u="none" strike="noStrike" kern="1200" cap="none" spc="0" baseline="0">
                <a:solidFill>
                  <a:srgbClr val="CE8067"/>
                </a:solidFill>
                <a:latin typeface="Lato" charset="0"/>
                <a:ea typeface="Lato" charset="0"/>
                <a:cs typeface="Lato" charset="0"/>
              </a:rPr>
              <a:t>→</a:t>
            </a:r>
            <a:endParaRPr lang="zh-CN" altLang="en-US" sz="2700" b="0" i="0" u="none" strike="noStrike" kern="1200" cap="none" spc="0" baseline="0">
              <a:solidFill>
                <a:schemeClr val="tx1"/>
              </a:solidFill>
              <a:latin typeface="Lato" charset="0"/>
              <a:ea typeface="等线" charset="0"/>
              <a:cs typeface="Lato" charset="0"/>
            </a:endParaRPr>
          </a:p>
        </p:txBody>
      </p:sp>
      <p:sp>
        <p:nvSpPr>
          <p:cNvPr id="318" name="圆角矩形"/>
          <p:cNvSpPr>
            <a:spLocks/>
          </p:cNvSpPr>
          <p:nvPr/>
        </p:nvSpPr>
        <p:spPr>
          <a:xfrm>
            <a:off x="3739896" y="2441447"/>
            <a:ext cx="2313431" cy="1993391"/>
          </a:xfrm>
          <a:prstGeom prst="roundRect">
            <a:avLst>
              <a:gd name="adj" fmla="val 9175"/>
            </a:avLst>
          </a:prstGeom>
          <a:solidFill>
            <a:srgbClr val="F7E7DA"/>
          </a:solidFill>
          <a:ln w="12700" cap="flat" cmpd="sng">
            <a:solidFill>
              <a:srgbClr val="F7E7DA">
                <a:alpha val="0"/>
              </a:srgbClr>
            </a:solidFill>
            <a:prstDash val="solid"/>
            <a:round/>
          </a:ln>
        </p:spPr>
      </p:sp>
      <p:sp>
        <p:nvSpPr>
          <p:cNvPr id="319" name="矩形"/>
          <p:cNvSpPr>
            <a:spLocks/>
          </p:cNvSpPr>
          <p:nvPr/>
        </p:nvSpPr>
        <p:spPr>
          <a:xfrm>
            <a:off x="3959352" y="2679192"/>
            <a:ext cx="1874519"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0" cap="none" spc="140" baseline="0">
                <a:solidFill>
                  <a:srgbClr val="7D8478"/>
                </a:solidFill>
                <a:latin typeface="Lato" charset="0"/>
                <a:ea typeface="Lato" charset="0"/>
                <a:cs typeface="Lato" charset="0"/>
              </a:rPr>
              <a:t>SCHEDULE</a:t>
            </a:r>
            <a:endParaRPr lang="zh-CN" altLang="en-US" sz="1050" b="0" i="0" u="none" strike="noStrike" kern="1200" cap="none" spc="0" baseline="0">
              <a:solidFill>
                <a:schemeClr val="tx1"/>
              </a:solidFill>
              <a:latin typeface="Lato" charset="0"/>
              <a:ea typeface="等线" charset="0"/>
              <a:cs typeface="Lato" charset="0"/>
            </a:endParaRPr>
          </a:p>
        </p:txBody>
      </p:sp>
      <p:sp>
        <p:nvSpPr>
          <p:cNvPr id="320" name="矩形"/>
          <p:cNvSpPr>
            <a:spLocks/>
          </p:cNvSpPr>
          <p:nvPr/>
        </p:nvSpPr>
        <p:spPr>
          <a:xfrm>
            <a:off x="3941064" y="3255264"/>
            <a:ext cx="1920240" cy="6675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0" i="0" u="none" strike="noStrike" kern="1200" cap="none" spc="0" baseline="0">
                <a:solidFill>
                  <a:srgbClr val="CE8067"/>
                </a:solidFill>
                <a:latin typeface="Georgia" charset="0"/>
                <a:ea typeface="Georgia" charset="0"/>
                <a:cs typeface="Georgia" charset="0"/>
              </a:rPr>
              <a:t>Every 2–3 weeks</a:t>
            </a:r>
            <a:endParaRPr lang="zh-CN" altLang="en-US" sz="2200" b="0" i="0" u="none" strike="noStrike" kern="1200" cap="none" spc="0" baseline="0">
              <a:solidFill>
                <a:schemeClr val="tx1"/>
              </a:solidFill>
              <a:latin typeface="Lato" charset="0"/>
              <a:ea typeface="等线" charset="0"/>
              <a:cs typeface="Lato" charset="0"/>
            </a:endParaRPr>
          </a:p>
        </p:txBody>
      </p:sp>
      <p:sp>
        <p:nvSpPr>
          <p:cNvPr id="321" name="矩形"/>
          <p:cNvSpPr>
            <a:spLocks/>
          </p:cNvSpPr>
          <p:nvPr/>
        </p:nvSpPr>
        <p:spPr>
          <a:xfrm>
            <a:off x="6108191" y="3063239"/>
            <a:ext cx="246888" cy="4114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700" b="0" i="0" u="none" strike="noStrike" kern="1200" cap="none" spc="0" baseline="0">
                <a:solidFill>
                  <a:srgbClr val="CE8067"/>
                </a:solidFill>
                <a:latin typeface="Lato" charset="0"/>
                <a:ea typeface="Lato" charset="0"/>
                <a:cs typeface="Lato" charset="0"/>
              </a:rPr>
              <a:t>→</a:t>
            </a:r>
            <a:endParaRPr lang="zh-CN" altLang="en-US" sz="2700" b="0" i="0" u="none" strike="noStrike" kern="1200" cap="none" spc="0" baseline="0">
              <a:solidFill>
                <a:schemeClr val="tx1"/>
              </a:solidFill>
              <a:latin typeface="Lato" charset="0"/>
              <a:ea typeface="等线" charset="0"/>
              <a:cs typeface="Lato" charset="0"/>
            </a:endParaRPr>
          </a:p>
        </p:txBody>
      </p:sp>
      <p:sp>
        <p:nvSpPr>
          <p:cNvPr id="322" name="圆角矩形"/>
          <p:cNvSpPr>
            <a:spLocks/>
          </p:cNvSpPr>
          <p:nvPr/>
        </p:nvSpPr>
        <p:spPr>
          <a:xfrm>
            <a:off x="6391656" y="2441447"/>
            <a:ext cx="2313432" cy="1993391"/>
          </a:xfrm>
          <a:prstGeom prst="roundRect">
            <a:avLst>
              <a:gd name="adj" fmla="val 9175"/>
            </a:avLst>
          </a:prstGeom>
          <a:solidFill>
            <a:srgbClr val="EBF0E7"/>
          </a:solidFill>
          <a:ln w="12700" cap="flat" cmpd="sng">
            <a:solidFill>
              <a:srgbClr val="EBF0E7">
                <a:alpha val="0"/>
              </a:srgbClr>
            </a:solidFill>
            <a:prstDash val="solid"/>
            <a:round/>
          </a:ln>
        </p:spPr>
      </p:sp>
      <p:sp>
        <p:nvSpPr>
          <p:cNvPr id="323" name="矩形"/>
          <p:cNvSpPr>
            <a:spLocks/>
          </p:cNvSpPr>
          <p:nvPr/>
        </p:nvSpPr>
        <p:spPr>
          <a:xfrm>
            <a:off x="6611112" y="2679192"/>
            <a:ext cx="1874518"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0" cap="none" spc="140" baseline="0">
                <a:solidFill>
                  <a:srgbClr val="7D8478"/>
                </a:solidFill>
                <a:latin typeface="Lato" charset="0"/>
                <a:ea typeface="Lato" charset="0"/>
                <a:cs typeface="Lato" charset="0"/>
              </a:rPr>
              <a:t>TOTAL FEE</a:t>
            </a:r>
            <a:endParaRPr lang="zh-CN" altLang="en-US" sz="1050" b="0" i="0" u="none" strike="noStrike" kern="1200" cap="none" spc="0" baseline="0">
              <a:solidFill>
                <a:schemeClr val="tx1"/>
              </a:solidFill>
              <a:latin typeface="Lato" charset="0"/>
              <a:ea typeface="等线" charset="0"/>
              <a:cs typeface="Lato" charset="0"/>
            </a:endParaRPr>
          </a:p>
        </p:txBody>
      </p:sp>
      <p:sp>
        <p:nvSpPr>
          <p:cNvPr id="324" name="矩形"/>
          <p:cNvSpPr>
            <a:spLocks/>
          </p:cNvSpPr>
          <p:nvPr/>
        </p:nvSpPr>
        <p:spPr>
          <a:xfrm>
            <a:off x="6592824" y="3255264"/>
            <a:ext cx="1920240" cy="6675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0" i="0" u="none" strike="noStrike" kern="1200" cap="none" spc="0" baseline="0">
                <a:solidFill>
                  <a:srgbClr val="40584C"/>
                </a:solidFill>
                <a:latin typeface="Georgia" charset="0"/>
                <a:ea typeface="Georgia" charset="0"/>
                <a:cs typeface="Georgia" charset="0"/>
              </a:rPr>
              <a:t>¥80 / 2 hours</a:t>
            </a:r>
            <a:endParaRPr lang="zh-CN" altLang="en-US" sz="2200" b="0" i="0" u="none" strike="noStrike" kern="1200" cap="none" spc="0" baseline="0">
              <a:solidFill>
                <a:schemeClr val="tx1"/>
              </a:solidFill>
              <a:latin typeface="Lato" charset="0"/>
              <a:ea typeface="等线" charset="0"/>
              <a:cs typeface="Lato" charset="0"/>
            </a:endParaRPr>
          </a:p>
        </p:txBody>
      </p:sp>
      <p:sp>
        <p:nvSpPr>
          <p:cNvPr id="325" name="矩形"/>
          <p:cNvSpPr>
            <a:spLocks/>
          </p:cNvSpPr>
          <p:nvPr/>
        </p:nvSpPr>
        <p:spPr>
          <a:xfrm>
            <a:off x="8759952" y="3063239"/>
            <a:ext cx="246888" cy="4114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700" b="0" i="0" u="none" strike="noStrike" kern="1200" cap="none" spc="0" baseline="0">
                <a:solidFill>
                  <a:srgbClr val="CE8067"/>
                </a:solidFill>
                <a:latin typeface="Lato" charset="0"/>
                <a:ea typeface="Lato" charset="0"/>
                <a:cs typeface="Lato" charset="0"/>
              </a:rPr>
              <a:t>→</a:t>
            </a:r>
            <a:endParaRPr lang="zh-CN" altLang="en-US" sz="2700" b="0" i="0" u="none" strike="noStrike" kern="1200" cap="none" spc="0" baseline="0">
              <a:solidFill>
                <a:schemeClr val="tx1"/>
              </a:solidFill>
              <a:latin typeface="Lato" charset="0"/>
              <a:ea typeface="等线" charset="0"/>
              <a:cs typeface="Lato" charset="0"/>
            </a:endParaRPr>
          </a:p>
        </p:txBody>
      </p:sp>
      <p:sp>
        <p:nvSpPr>
          <p:cNvPr id="326" name="圆角矩形"/>
          <p:cNvSpPr>
            <a:spLocks/>
          </p:cNvSpPr>
          <p:nvPr/>
        </p:nvSpPr>
        <p:spPr>
          <a:xfrm>
            <a:off x="9043416" y="2441447"/>
            <a:ext cx="2313431" cy="1993391"/>
          </a:xfrm>
          <a:prstGeom prst="roundRect">
            <a:avLst>
              <a:gd name="adj" fmla="val 9175"/>
            </a:avLst>
          </a:prstGeom>
          <a:solidFill>
            <a:srgbClr val="F7E7DA"/>
          </a:solidFill>
          <a:ln w="12700" cap="flat" cmpd="sng">
            <a:solidFill>
              <a:srgbClr val="F7E7DA">
                <a:alpha val="0"/>
              </a:srgbClr>
            </a:solidFill>
            <a:prstDash val="solid"/>
            <a:round/>
          </a:ln>
        </p:spPr>
      </p:sp>
      <p:sp>
        <p:nvSpPr>
          <p:cNvPr id="327" name="矩形"/>
          <p:cNvSpPr>
            <a:spLocks/>
          </p:cNvSpPr>
          <p:nvPr/>
        </p:nvSpPr>
        <p:spPr>
          <a:xfrm>
            <a:off x="9262872" y="2679192"/>
            <a:ext cx="1874520" cy="2103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0" cap="none" spc="140" baseline="0">
                <a:solidFill>
                  <a:srgbClr val="7D8478"/>
                </a:solidFill>
                <a:latin typeface="Lato" charset="0"/>
                <a:ea typeface="Lato" charset="0"/>
                <a:cs typeface="Lato" charset="0"/>
              </a:rPr>
              <a:t>SHARED COST</a:t>
            </a:r>
            <a:endParaRPr lang="zh-CN" altLang="en-US" sz="1050" b="0" i="0" u="none" strike="noStrike" kern="1200" cap="none" spc="0" baseline="0">
              <a:solidFill>
                <a:schemeClr val="tx1"/>
              </a:solidFill>
              <a:latin typeface="Lato" charset="0"/>
              <a:ea typeface="等线" charset="0"/>
              <a:cs typeface="Lato" charset="0"/>
            </a:endParaRPr>
          </a:p>
        </p:txBody>
      </p:sp>
      <p:sp>
        <p:nvSpPr>
          <p:cNvPr id="328" name="矩形"/>
          <p:cNvSpPr>
            <a:spLocks/>
          </p:cNvSpPr>
          <p:nvPr/>
        </p:nvSpPr>
        <p:spPr>
          <a:xfrm>
            <a:off x="9244584" y="3255264"/>
            <a:ext cx="1920238" cy="66751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0" i="0" u="none" strike="noStrike" kern="1200" cap="none" spc="0" baseline="0">
                <a:solidFill>
                  <a:srgbClr val="CE8067"/>
                </a:solidFill>
                <a:latin typeface="Georgia" charset="0"/>
                <a:ea typeface="Georgia" charset="0"/>
                <a:cs typeface="Georgia" charset="0"/>
              </a:rPr>
              <a:t>¥10 each × 8</a:t>
            </a:r>
            <a:endParaRPr lang="zh-CN" altLang="en-US" sz="2200" b="0" i="0" u="none" strike="noStrike" kern="1200" cap="none" spc="0" baseline="0">
              <a:solidFill>
                <a:schemeClr val="tx1"/>
              </a:solidFill>
              <a:latin typeface="Lato" charset="0"/>
              <a:ea typeface="等线" charset="0"/>
              <a:cs typeface="Lato" charset="0"/>
            </a:endParaRPr>
          </a:p>
        </p:txBody>
      </p:sp>
      <p:sp>
        <p:nvSpPr>
          <p:cNvPr id="329" name="矩形"/>
          <p:cNvSpPr>
            <a:spLocks/>
          </p:cNvSpPr>
          <p:nvPr/>
        </p:nvSpPr>
        <p:spPr>
          <a:xfrm>
            <a:off x="1234440" y="4837176"/>
            <a:ext cx="9326880" cy="42976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500" b="0" i="0" u="none" strike="noStrike" kern="1200" cap="none" spc="0" baseline="0" dirty="0">
                <a:solidFill>
                  <a:srgbClr val="37443B"/>
                </a:solidFill>
                <a:latin typeface="Georgia" charset="0"/>
                <a:ea typeface="Georgia" charset="0"/>
                <a:cs typeface="Georgia" charset="0"/>
              </a:rPr>
              <a:t>This working alternative is our strongest competitor.</a:t>
            </a:r>
            <a:endParaRPr lang="zh-CN" altLang="en-US" sz="2500" b="0" i="0" u="none" strike="noStrike" kern="1200" cap="none" spc="0" baseline="0" dirty="0">
              <a:solidFill>
                <a:schemeClr val="tx1"/>
              </a:solidFill>
              <a:latin typeface="Lato" charset="0"/>
              <a:ea typeface="等线" charset="0"/>
              <a:cs typeface="Lato" charset="0"/>
            </a:endParaRPr>
          </a:p>
        </p:txBody>
      </p:sp>
      <p:sp>
        <p:nvSpPr>
          <p:cNvPr id="330"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Interview record A in CEM pre.docx. One illustrative paid-cleaning case, not a typical market price.</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977394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a:extLst>
            <a:ext uri="{FF2B5EF4-FFF2-40B4-BE49-F238E27FC236}">
              <a16:creationId xmlns:a16="http://schemas.microsoft.com/office/drawing/2014/main" id="{F86CC3AC-818A-4582-6EC2-E59F2D5442E7}"/>
            </a:ext>
          </a:extLst>
        </p:cNvPr>
        <p:cNvGrpSpPr/>
        <p:nvPr/>
      </p:nvGrpSpPr>
      <p:grpSpPr>
        <a:xfrm>
          <a:off x="0" y="0"/>
          <a:ext cx="0" cy="0"/>
          <a:chOff x="0" y="0"/>
          <a:chExt cx="0" cy="0"/>
        </a:xfrm>
      </p:grpSpPr>
      <p:pic>
        <p:nvPicPr>
          <p:cNvPr id="289" name="图片" descr="/mnt/data/jebo_assets/corners.png">
            <a:extLst>
              <a:ext uri="{FF2B5EF4-FFF2-40B4-BE49-F238E27FC236}">
                <a16:creationId xmlns:a16="http://schemas.microsoft.com/office/drawing/2014/main" id="{CC4DA873-2D02-CFFA-7A7D-AABA45C0B3F5}"/>
              </a:ext>
            </a:extLst>
          </p:cNvPr>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90" name="矩形">
            <a:extLst>
              <a:ext uri="{FF2B5EF4-FFF2-40B4-BE49-F238E27FC236}">
                <a16:creationId xmlns:a16="http://schemas.microsoft.com/office/drawing/2014/main" id="{893A8130-DCEB-627A-414F-E58D4A7CC85F}"/>
              </a:ext>
            </a:extLst>
          </p:cNvPr>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dirty="0">
                <a:solidFill>
                  <a:srgbClr val="CE8067"/>
                </a:solidFill>
                <a:latin typeface="Lato" charset="0"/>
                <a:ea typeface="Lato" charset="0"/>
                <a:cs typeface="Lato" charset="0"/>
              </a:rPr>
              <a:t>INTERVIEW INSIGHT  /  N = 6</a:t>
            </a:r>
            <a:endParaRPr lang="zh-CN" altLang="en-US" sz="950" b="0" i="0" u="none" strike="noStrike" kern="1200" cap="none" spc="0" baseline="0" dirty="0">
              <a:solidFill>
                <a:schemeClr val="tx1"/>
              </a:solidFill>
              <a:latin typeface="Lato" charset="0"/>
              <a:ea typeface="等线" charset="0"/>
              <a:cs typeface="Lato" charset="0"/>
            </a:endParaRPr>
          </a:p>
        </p:txBody>
      </p:sp>
      <p:sp>
        <p:nvSpPr>
          <p:cNvPr id="291" name="直线">
            <a:extLst>
              <a:ext uri="{FF2B5EF4-FFF2-40B4-BE49-F238E27FC236}">
                <a16:creationId xmlns:a16="http://schemas.microsoft.com/office/drawing/2014/main" id="{57AA07FD-287E-E9D2-AD8C-18DEF36EA672}"/>
              </a:ext>
            </a:extLst>
          </p:cNvPr>
          <p:cNvSpPr>
            <a:spLocks/>
          </p:cNvSpPr>
          <p:nvPr/>
        </p:nvSpPr>
        <p:spPr>
          <a:xfrm>
            <a:off x="731520" y="6455664"/>
            <a:ext cx="10771632" cy="0"/>
          </a:xfrm>
          <a:prstGeom prst="line">
            <a:avLst/>
          </a:prstGeom>
          <a:noFill/>
          <a:ln w="9525" cap="flat" cmpd="sng">
            <a:solidFill>
              <a:srgbClr val="DDDCD1"/>
            </a:solidFill>
            <a:prstDash val="solid"/>
            <a:round/>
          </a:ln>
        </p:spPr>
      </p:sp>
      <p:sp>
        <p:nvSpPr>
          <p:cNvPr id="292" name="矩形">
            <a:extLst>
              <a:ext uri="{FF2B5EF4-FFF2-40B4-BE49-F238E27FC236}">
                <a16:creationId xmlns:a16="http://schemas.microsoft.com/office/drawing/2014/main" id="{2A01F6CD-1A66-9B76-B442-73181D2CF7B2}"/>
              </a:ext>
            </a:extLst>
          </p:cNvPr>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dirty="0">
                <a:solidFill>
                  <a:srgbClr val="7D8478"/>
                </a:solidFill>
                <a:latin typeface="Lato" charset="0"/>
                <a:ea typeface="Lato" charset="0"/>
                <a:cs typeface="Lato" charset="0"/>
              </a:rPr>
              <a:t>JEBO  /  MIDTERM PRESENTATION</a:t>
            </a:r>
            <a:endParaRPr lang="zh-CN" altLang="en-US" sz="860" b="0" i="0" u="none" strike="noStrike" kern="1200" cap="none" spc="0" baseline="0" dirty="0">
              <a:solidFill>
                <a:schemeClr val="tx1"/>
              </a:solidFill>
              <a:latin typeface="Lato" charset="0"/>
              <a:ea typeface="等线" charset="0"/>
              <a:cs typeface="Lato" charset="0"/>
            </a:endParaRPr>
          </a:p>
        </p:txBody>
      </p:sp>
      <p:sp>
        <p:nvSpPr>
          <p:cNvPr id="300" name="矩形">
            <a:extLst>
              <a:ext uri="{FF2B5EF4-FFF2-40B4-BE49-F238E27FC236}">
                <a16:creationId xmlns:a16="http://schemas.microsoft.com/office/drawing/2014/main" id="{57B94DCE-6493-B7C4-9317-D66C9A3378AA}"/>
              </a:ext>
            </a:extLst>
          </p:cNvPr>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dirty="0">
                <a:solidFill>
                  <a:srgbClr val="7D8478"/>
                </a:solidFill>
                <a:latin typeface="Lato" charset="0"/>
                <a:ea typeface="Lato" charset="0"/>
                <a:cs typeface="Lato" charset="0"/>
              </a:rPr>
              <a:t>Qualitative interview notes in CEM pre.docx; small, non-representative sample.</a:t>
            </a:r>
            <a:endParaRPr lang="zh-CN" altLang="en-US" sz="930" b="0" i="0" u="none" strike="noStrike" kern="1200" cap="none" spc="0" baseline="0" dirty="0">
              <a:solidFill>
                <a:schemeClr val="tx1"/>
              </a:solidFill>
              <a:latin typeface="Lato" charset="0"/>
              <a:ea typeface="等线" charset="0"/>
              <a:cs typeface="Lato" charset="0"/>
            </a:endParaRPr>
          </a:p>
        </p:txBody>
      </p:sp>
      <p:sp>
        <p:nvSpPr>
          <p:cNvPr id="2" name="文本框 1">
            <a:extLst>
              <a:ext uri="{FF2B5EF4-FFF2-40B4-BE49-F238E27FC236}">
                <a16:creationId xmlns:a16="http://schemas.microsoft.com/office/drawing/2014/main" id="{F63FE0AE-867C-4024-2C0E-195600BCF945}"/>
              </a:ext>
            </a:extLst>
          </p:cNvPr>
          <p:cNvSpPr txBox="1"/>
          <p:nvPr/>
        </p:nvSpPr>
        <p:spPr>
          <a:xfrm>
            <a:off x="731520" y="941033"/>
            <a:ext cx="6654701" cy="369332"/>
          </a:xfrm>
          <a:prstGeom prst="rect">
            <a:avLst/>
          </a:prstGeom>
          <a:noFill/>
        </p:spPr>
        <p:txBody>
          <a:bodyPr wrap="square" rtlCol="0">
            <a:spAutoFit/>
          </a:bodyPr>
          <a:lstStyle/>
          <a:p>
            <a:r>
              <a:rPr lang="en-US" altLang="zh-CN" dirty="0"/>
              <a:t>3 Questions Raised</a:t>
            </a:r>
          </a:p>
        </p:txBody>
      </p:sp>
      <p:sp>
        <p:nvSpPr>
          <p:cNvPr id="3" name="文本框 2">
            <a:extLst>
              <a:ext uri="{FF2B5EF4-FFF2-40B4-BE49-F238E27FC236}">
                <a16:creationId xmlns:a16="http://schemas.microsoft.com/office/drawing/2014/main" id="{0423E80D-1DFE-D63E-2C0C-3EDA0C4FF5E9}"/>
              </a:ext>
            </a:extLst>
          </p:cNvPr>
          <p:cNvSpPr txBox="1"/>
          <p:nvPr/>
        </p:nvSpPr>
        <p:spPr>
          <a:xfrm>
            <a:off x="816746" y="1802167"/>
            <a:ext cx="9303798" cy="2677656"/>
          </a:xfrm>
          <a:prstGeom prst="rect">
            <a:avLst/>
          </a:prstGeom>
          <a:noFill/>
        </p:spPr>
        <p:txBody>
          <a:bodyPr wrap="square" rtlCol="0">
            <a:spAutoFit/>
          </a:bodyPr>
          <a:lstStyle/>
          <a:p>
            <a:pPr marL="342900" indent="-342900">
              <a:buAutoNum type="arabicPeriod"/>
            </a:pPr>
            <a:r>
              <a:rPr lang="en-US" altLang="zh-CN" sz="2800" dirty="0"/>
              <a:t>If students can accept a higher price? (over 80 yuan)</a:t>
            </a:r>
          </a:p>
          <a:p>
            <a:pPr marL="342900" indent="-342900">
              <a:buAutoNum type="arabicPeriod"/>
            </a:pPr>
            <a:endParaRPr lang="en-US" altLang="zh-CN" sz="2800" dirty="0"/>
          </a:p>
          <a:p>
            <a:pPr marL="342900" indent="-342900">
              <a:buAutoNum type="arabicPeriod"/>
            </a:pPr>
            <a:r>
              <a:rPr lang="en-US" altLang="zh-CN" sz="2800" dirty="0"/>
              <a:t>What kind of service has the most urgent need?</a:t>
            </a:r>
          </a:p>
          <a:p>
            <a:pPr marL="342900" indent="-342900">
              <a:buAutoNum type="arabicPeriod"/>
            </a:pPr>
            <a:endParaRPr lang="en-US" altLang="zh-CN" sz="2800" dirty="0"/>
          </a:p>
          <a:p>
            <a:pPr marL="342900" indent="-342900">
              <a:buAutoNum type="arabicPeriod"/>
            </a:pPr>
            <a:r>
              <a:rPr lang="en-US" altLang="zh-CN" sz="2800" dirty="0"/>
              <a:t>Will customers pay more if there is a guarantee of service quality? </a:t>
            </a:r>
            <a:endParaRPr lang="zh-CN" altLang="en-US" sz="2800" dirty="0"/>
          </a:p>
        </p:txBody>
      </p:sp>
    </p:spTree>
    <p:extLst>
      <p:ext uri="{BB962C8B-B14F-4D97-AF65-F5344CB8AC3E}">
        <p14:creationId xmlns:p14="http://schemas.microsoft.com/office/powerpoint/2010/main" val="3727267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337"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dirty="0">
                <a:solidFill>
                  <a:srgbClr val="CE8067"/>
                </a:solidFill>
                <a:latin typeface="Lato" charset="0"/>
                <a:ea typeface="Lato" charset="0"/>
                <a:cs typeface="Lato" charset="0"/>
              </a:rPr>
              <a:t>SURVEY FINDING  /  N = </a:t>
            </a:r>
            <a:r>
              <a:rPr lang="en-US" altLang="zh-CN" sz="950" b="1" kern="0" spc="300" dirty="0">
                <a:solidFill>
                  <a:srgbClr val="CE8067"/>
                </a:solidFill>
                <a:latin typeface="Lato" charset="0"/>
                <a:ea typeface="Lato" charset="0"/>
                <a:cs typeface="Lato" charset="0"/>
              </a:rPr>
              <a:t>37</a:t>
            </a:r>
            <a:endParaRPr lang="zh-CN" altLang="en-US" sz="950" b="0" i="0" u="none" strike="noStrike" kern="1200" cap="none" spc="0" baseline="0" dirty="0">
              <a:solidFill>
                <a:schemeClr val="tx1"/>
              </a:solidFill>
              <a:latin typeface="Lato" charset="0"/>
              <a:ea typeface="等线" charset="0"/>
              <a:cs typeface="Lato" charset="0"/>
            </a:endParaRPr>
          </a:p>
        </p:txBody>
      </p:sp>
      <p:sp>
        <p:nvSpPr>
          <p:cNvPr id="338"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339"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340" name="矩形"/>
          <p:cNvSpPr>
            <a:spLocks/>
          </p:cNvSpPr>
          <p:nvPr/>
        </p:nvSpPr>
        <p:spPr>
          <a:xfrm>
            <a:off x="10625328" y="6534823"/>
            <a:ext cx="914400" cy="1585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13 /  19</a:t>
            </a:r>
            <a:endParaRPr lang="zh-CN" altLang="en-US" sz="950" b="0" i="0" u="none" strike="noStrike" kern="1200" cap="none" spc="0" baseline="0">
              <a:solidFill>
                <a:schemeClr val="tx1"/>
              </a:solidFill>
              <a:latin typeface="Lato" charset="0"/>
              <a:ea typeface="等线" charset="0"/>
              <a:cs typeface="Lato" charset="0"/>
            </a:endParaRPr>
          </a:p>
        </p:txBody>
      </p:sp>
      <p:sp>
        <p:nvSpPr>
          <p:cNvPr id="341"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What kind of cleaning do students want?</a:t>
            </a:r>
            <a:endParaRPr lang="zh-CN" altLang="en-US" sz="3050" b="0" i="0" u="none" strike="noStrike" kern="1200" cap="none" spc="0" baseline="0">
              <a:solidFill>
                <a:schemeClr val="tx1"/>
              </a:solidFill>
              <a:latin typeface="Lato" charset="0"/>
              <a:ea typeface="等线" charset="0"/>
              <a:cs typeface="Lato" charset="0"/>
            </a:endParaRPr>
          </a:p>
        </p:txBody>
      </p:sp>
      <p:sp>
        <p:nvSpPr>
          <p:cNvPr id="342"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A basic package and bathroom cleaning stand out.</a:t>
            </a:r>
            <a:endParaRPr lang="zh-CN" altLang="en-US" sz="1550" b="0" i="0" u="none" strike="noStrike" kern="1200" cap="none" spc="0" baseline="0">
              <a:solidFill>
                <a:schemeClr val="tx1"/>
              </a:solidFill>
              <a:latin typeface="Lato" charset="0"/>
              <a:ea typeface="等线" charset="0"/>
              <a:cs typeface="Lato" charset="0"/>
            </a:endParaRPr>
          </a:p>
        </p:txBody>
      </p:sp>
      <p:sp>
        <p:nvSpPr>
          <p:cNvPr id="360"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dirty="0">
                <a:solidFill>
                  <a:srgbClr val="7D8478"/>
                </a:solidFill>
                <a:latin typeface="Lato" charset="0"/>
                <a:ea typeface="Lato" charset="0"/>
                <a:cs typeface="Lato" charset="0"/>
              </a:rPr>
              <a:t>Our questionnaire, Q8, n=</a:t>
            </a:r>
            <a:r>
              <a:rPr lang="en-US" altLang="zh-CN" sz="930" dirty="0">
                <a:solidFill>
                  <a:srgbClr val="7D8478"/>
                </a:solidFill>
                <a:latin typeface="Lato" charset="0"/>
                <a:ea typeface="Lato" charset="0"/>
                <a:cs typeface="Lato" charset="0"/>
              </a:rPr>
              <a:t>37</a:t>
            </a:r>
            <a:r>
              <a:rPr lang="en-US" altLang="zh-CN" sz="930" b="0" i="0" u="none" strike="noStrike" kern="1200" cap="none" spc="0" baseline="0" dirty="0">
                <a:solidFill>
                  <a:srgbClr val="7D8478"/>
                </a:solidFill>
                <a:latin typeface="Lato" charset="0"/>
                <a:ea typeface="Lato" charset="0"/>
                <a:cs typeface="Lato" charset="0"/>
              </a:rPr>
              <a:t>; multiple selections allowed. Complete basic cleaning includes four basic tasks.</a:t>
            </a:r>
            <a:endParaRPr lang="zh-CN" altLang="en-US" sz="930" b="0" i="0" u="none" strike="noStrike" kern="1200" cap="none" spc="0" baseline="0" dirty="0">
              <a:solidFill>
                <a:schemeClr val="tx1"/>
              </a:solidFill>
              <a:latin typeface="Lato" charset="0"/>
              <a:ea typeface="等线" charset="0"/>
              <a:cs typeface="Lato" charset="0"/>
            </a:endParaRPr>
          </a:p>
        </p:txBody>
      </p:sp>
      <p:pic>
        <p:nvPicPr>
          <p:cNvPr id="5" name="图片 4">
            <a:extLst>
              <a:ext uri="{FF2B5EF4-FFF2-40B4-BE49-F238E27FC236}">
                <a16:creationId xmlns:a16="http://schemas.microsoft.com/office/drawing/2014/main" id="{DA51F656-8A77-BA6E-BCA7-5EEB1F7AF0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440" y="1819653"/>
            <a:ext cx="6033157" cy="4075120"/>
          </a:xfrm>
          <a:prstGeom prst="rect">
            <a:avLst/>
          </a:prstGeom>
        </p:spPr>
      </p:pic>
    </p:spTree>
    <p:extLst>
      <p:ext uri="{BB962C8B-B14F-4D97-AF65-F5344CB8AC3E}">
        <p14:creationId xmlns:p14="http://schemas.microsoft.com/office/powerpoint/2010/main" val="1896503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367"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dirty="0">
                <a:solidFill>
                  <a:srgbClr val="CE8067"/>
                </a:solidFill>
                <a:latin typeface="Lato" charset="0"/>
                <a:ea typeface="Lato" charset="0"/>
                <a:cs typeface="Lato" charset="0"/>
              </a:rPr>
              <a:t>SURVEY FINDING  /  N = </a:t>
            </a:r>
            <a:r>
              <a:rPr lang="en-US" altLang="zh-CN" sz="950" b="1" kern="0" spc="300" dirty="0">
                <a:solidFill>
                  <a:srgbClr val="CE8067"/>
                </a:solidFill>
                <a:latin typeface="Lato" charset="0"/>
                <a:ea typeface="Lato" charset="0"/>
                <a:cs typeface="Lato" charset="0"/>
              </a:rPr>
              <a:t>37</a:t>
            </a:r>
            <a:endParaRPr lang="zh-CN" altLang="en-US" sz="950" b="0" i="0" u="none" strike="noStrike" kern="1200" cap="none" spc="0" baseline="0" dirty="0">
              <a:solidFill>
                <a:schemeClr val="tx1"/>
              </a:solidFill>
              <a:latin typeface="Lato" charset="0"/>
              <a:ea typeface="等线" charset="0"/>
              <a:cs typeface="Lato" charset="0"/>
            </a:endParaRPr>
          </a:p>
        </p:txBody>
      </p:sp>
      <p:sp>
        <p:nvSpPr>
          <p:cNvPr id="368"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369"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370"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13  /  19</a:t>
            </a:r>
            <a:endParaRPr lang="zh-CN" altLang="en-US" sz="950" b="0" i="0" u="none" strike="noStrike" kern="1200" cap="none" spc="0" baseline="0">
              <a:solidFill>
                <a:schemeClr val="tx1"/>
              </a:solidFill>
              <a:latin typeface="Lato" charset="0"/>
              <a:ea typeface="等线" charset="0"/>
              <a:cs typeface="Lato" charset="0"/>
            </a:endParaRPr>
          </a:p>
        </p:txBody>
      </p:sp>
      <p:sp>
        <p:nvSpPr>
          <p:cNvPr id="371"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Pricing is a shared decision</a:t>
            </a:r>
            <a:endParaRPr lang="zh-CN" altLang="en-US" sz="3050" b="0" i="0" u="none" strike="noStrike" kern="1200" cap="none" spc="0" baseline="0">
              <a:solidFill>
                <a:schemeClr val="tx1"/>
              </a:solidFill>
              <a:latin typeface="Lato" charset="0"/>
              <a:ea typeface="等线" charset="0"/>
              <a:cs typeface="Lato" charset="0"/>
            </a:endParaRPr>
          </a:p>
        </p:txBody>
      </p:sp>
      <p:sp>
        <p:nvSpPr>
          <p:cNvPr id="372"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Students favor splitting the cost, but price sensitivity remains.</a:t>
            </a:r>
            <a:endParaRPr lang="zh-CN" altLang="en-US" sz="1550" b="0" i="0" u="none" strike="noStrike" kern="1200" cap="none" spc="0" baseline="0">
              <a:solidFill>
                <a:schemeClr val="tx1"/>
              </a:solidFill>
              <a:latin typeface="Lato" charset="0"/>
              <a:ea typeface="等线" charset="0"/>
              <a:cs typeface="Lato" charset="0"/>
            </a:endParaRPr>
          </a:p>
        </p:txBody>
      </p:sp>
      <p:sp>
        <p:nvSpPr>
          <p:cNvPr id="373" name="圆角矩形"/>
          <p:cNvSpPr>
            <a:spLocks/>
          </p:cNvSpPr>
          <p:nvPr/>
        </p:nvSpPr>
        <p:spPr>
          <a:xfrm>
            <a:off x="777240" y="1892808"/>
            <a:ext cx="5102352" cy="3611880"/>
          </a:xfrm>
          <a:prstGeom prst="roundRect">
            <a:avLst>
              <a:gd name="adj" fmla="val 5064"/>
            </a:avLst>
          </a:prstGeom>
          <a:solidFill>
            <a:srgbClr val="DDE8DD"/>
          </a:solidFill>
          <a:ln w="12700" cap="flat" cmpd="sng">
            <a:solidFill>
              <a:srgbClr val="DDE8DD">
                <a:alpha val="0"/>
              </a:srgbClr>
            </a:solidFill>
            <a:prstDash val="solid"/>
            <a:round/>
          </a:ln>
        </p:spPr>
      </p:sp>
      <p:sp>
        <p:nvSpPr>
          <p:cNvPr id="374" name="矩形"/>
          <p:cNvSpPr>
            <a:spLocks/>
          </p:cNvSpPr>
          <p:nvPr/>
        </p:nvSpPr>
        <p:spPr>
          <a:xfrm>
            <a:off x="1033272" y="2240280"/>
            <a:ext cx="4544568" cy="116128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5400" dirty="0">
                <a:solidFill>
                  <a:srgbClr val="40584C"/>
                </a:solidFill>
                <a:latin typeface="Georgia" charset="0"/>
                <a:ea typeface="Georgia" charset="0"/>
                <a:cs typeface="Georgia" charset="0"/>
              </a:rPr>
              <a:t>94.6</a:t>
            </a:r>
            <a:r>
              <a:rPr lang="en-US" altLang="zh-CN" sz="5400" b="0" i="0" u="none" strike="noStrike" kern="1200" cap="none" spc="0" baseline="0" dirty="0">
                <a:solidFill>
                  <a:srgbClr val="40584C"/>
                </a:solidFill>
                <a:latin typeface="Georgia" charset="0"/>
                <a:ea typeface="Georgia" charset="0"/>
                <a:cs typeface="Georgia" charset="0"/>
              </a:rPr>
              <a:t>%</a:t>
            </a:r>
            <a:endParaRPr lang="zh-CN" altLang="en-US" sz="5400" b="0" i="0" u="none" strike="noStrike" kern="1200" cap="none" spc="0" baseline="0" dirty="0">
              <a:solidFill>
                <a:schemeClr val="tx1"/>
              </a:solidFill>
              <a:latin typeface="Lato" charset="0"/>
              <a:ea typeface="等线" charset="0"/>
              <a:cs typeface="Lato" charset="0"/>
            </a:endParaRPr>
          </a:p>
        </p:txBody>
      </p:sp>
      <p:sp>
        <p:nvSpPr>
          <p:cNvPr id="375" name="矩形"/>
          <p:cNvSpPr>
            <a:spLocks/>
          </p:cNvSpPr>
          <p:nvPr/>
        </p:nvSpPr>
        <p:spPr>
          <a:xfrm>
            <a:off x="1088136" y="3511296"/>
            <a:ext cx="4526277" cy="95097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0" i="0" u="none" strike="noStrike" kern="1200" cap="none" spc="0" baseline="0" dirty="0">
                <a:solidFill>
                  <a:srgbClr val="37443B"/>
                </a:solidFill>
                <a:latin typeface="Lato" charset="0"/>
                <a:ea typeface="Lato" charset="0"/>
                <a:cs typeface="Lato" charset="0"/>
              </a:rPr>
              <a:t>prefer splitting the bill</a:t>
            </a:r>
            <a:endParaRPr lang="en-US" altLang="zh-CN" sz="2200" b="0" i="0" u="none" strike="noStrike" kern="1200" cap="none" spc="0" baseline="0" dirty="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2200" b="0" i="0" u="none" strike="noStrike" kern="1200" cap="none" spc="0" baseline="0" dirty="0">
                <a:solidFill>
                  <a:srgbClr val="37443B"/>
                </a:solidFill>
                <a:latin typeface="Lato" charset="0"/>
                <a:ea typeface="Lato" charset="0"/>
                <a:cs typeface="Lato" charset="0"/>
              </a:rPr>
              <a:t>among roommates</a:t>
            </a:r>
            <a:endParaRPr lang="zh-CN" altLang="en-US" sz="2200" b="0" i="0" u="none" strike="noStrike" kern="1200" cap="none" spc="0" baseline="0" dirty="0">
              <a:solidFill>
                <a:schemeClr val="tx1"/>
              </a:solidFill>
              <a:latin typeface="Lato" charset="0"/>
              <a:ea typeface="等线" charset="0"/>
              <a:cs typeface="Lato" charset="0"/>
            </a:endParaRPr>
          </a:p>
        </p:txBody>
      </p:sp>
      <p:sp>
        <p:nvSpPr>
          <p:cNvPr id="376" name="圆角矩形"/>
          <p:cNvSpPr>
            <a:spLocks/>
          </p:cNvSpPr>
          <p:nvPr/>
        </p:nvSpPr>
        <p:spPr>
          <a:xfrm>
            <a:off x="1078992" y="4828032"/>
            <a:ext cx="2487165" cy="384047"/>
          </a:xfrm>
          <a:prstGeom prst="roundRect">
            <a:avLst>
              <a:gd name="adj" fmla="val 35712"/>
            </a:avLst>
          </a:prstGeom>
          <a:solidFill>
            <a:srgbClr val="FFFDF9"/>
          </a:solidFill>
          <a:ln w="12700" cap="flat" cmpd="sng">
            <a:solidFill>
              <a:srgbClr val="FFFDF9">
                <a:alpha val="0"/>
              </a:srgbClr>
            </a:solidFill>
            <a:prstDash val="solid"/>
            <a:round/>
          </a:ln>
        </p:spPr>
      </p:sp>
      <p:sp>
        <p:nvSpPr>
          <p:cNvPr id="377" name="矩形"/>
          <p:cNvSpPr>
            <a:spLocks/>
          </p:cNvSpPr>
          <p:nvPr/>
        </p:nvSpPr>
        <p:spPr>
          <a:xfrm>
            <a:off x="1216152" y="4882895"/>
            <a:ext cx="2212848"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dirty="0">
                <a:solidFill>
                  <a:srgbClr val="526F5F"/>
                </a:solidFill>
                <a:latin typeface="Lato" charset="0"/>
                <a:ea typeface="Lato" charset="0"/>
                <a:cs typeface="Lato" charset="0"/>
              </a:rPr>
              <a:t>35</a:t>
            </a:r>
            <a:r>
              <a:rPr lang="en-US" altLang="zh-CN" sz="1200" b="1" i="0" u="none" strike="noStrike" kern="1200" cap="none" spc="0" baseline="0" dirty="0">
                <a:solidFill>
                  <a:srgbClr val="526F5F"/>
                </a:solidFill>
                <a:latin typeface="Lato" charset="0"/>
                <a:ea typeface="Lato" charset="0"/>
                <a:cs typeface="Lato" charset="0"/>
              </a:rPr>
              <a:t> of </a:t>
            </a:r>
            <a:r>
              <a:rPr lang="en-US" altLang="zh-CN" sz="1200" b="1" dirty="0">
                <a:solidFill>
                  <a:srgbClr val="526F5F"/>
                </a:solidFill>
                <a:latin typeface="Lato" charset="0"/>
                <a:ea typeface="Lato" charset="0"/>
                <a:cs typeface="Lato" charset="0"/>
              </a:rPr>
              <a:t>37</a:t>
            </a:r>
            <a:r>
              <a:rPr lang="en-US" altLang="zh-CN" sz="1200" b="1" i="0" u="none" strike="noStrike" kern="1200" cap="none" spc="0" baseline="0" dirty="0">
                <a:solidFill>
                  <a:srgbClr val="526F5F"/>
                </a:solidFill>
                <a:latin typeface="Lato" charset="0"/>
                <a:ea typeface="Lato" charset="0"/>
                <a:cs typeface="Lato" charset="0"/>
              </a:rPr>
              <a:t>responses</a:t>
            </a:r>
            <a:endParaRPr lang="zh-CN" altLang="en-US" sz="1200" b="0" i="0" u="none" strike="noStrike" kern="1200" cap="none" spc="0" baseline="0" dirty="0">
              <a:solidFill>
                <a:schemeClr val="tx1"/>
              </a:solidFill>
              <a:latin typeface="Lato" charset="0"/>
              <a:ea typeface="等线" charset="0"/>
              <a:cs typeface="Lato" charset="0"/>
            </a:endParaRPr>
          </a:p>
        </p:txBody>
      </p:sp>
      <p:sp>
        <p:nvSpPr>
          <p:cNvPr id="400"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dirty="0">
                <a:solidFill>
                  <a:srgbClr val="7D8478"/>
                </a:solidFill>
                <a:latin typeface="Lato" charset="0"/>
                <a:ea typeface="Lato" charset="0"/>
                <a:cs typeface="Lato" charset="0"/>
              </a:rPr>
              <a:t>Our questionnaire, Q7 (budget categories) and Q11 (payment preference), n=</a:t>
            </a:r>
            <a:r>
              <a:rPr lang="en-US" altLang="zh-CN" sz="930" dirty="0">
                <a:solidFill>
                  <a:srgbClr val="7D8478"/>
                </a:solidFill>
                <a:latin typeface="Lato" charset="0"/>
                <a:ea typeface="Lato" charset="0"/>
                <a:cs typeface="Lato" charset="0"/>
              </a:rPr>
              <a:t>37</a:t>
            </a:r>
            <a:r>
              <a:rPr lang="en-US" altLang="zh-CN" sz="930" b="0" i="0" u="none" strike="noStrike" kern="1200" cap="none" spc="0" baseline="0" dirty="0">
                <a:solidFill>
                  <a:srgbClr val="7D8478"/>
                </a:solidFill>
                <a:latin typeface="Lato" charset="0"/>
                <a:ea typeface="Lato" charset="0"/>
                <a:cs typeface="Lato" charset="0"/>
              </a:rPr>
              <a:t>.</a:t>
            </a:r>
            <a:endParaRPr lang="zh-CN" altLang="en-US" sz="930" b="0" i="0" u="none" strike="noStrike" kern="1200" cap="none" spc="0" baseline="0" dirty="0">
              <a:solidFill>
                <a:schemeClr val="tx1"/>
              </a:solidFill>
              <a:latin typeface="Lato" charset="0"/>
              <a:ea typeface="等线" charset="0"/>
              <a:cs typeface="Lato" charset="0"/>
            </a:endParaRPr>
          </a:p>
        </p:txBody>
      </p:sp>
      <p:pic>
        <p:nvPicPr>
          <p:cNvPr id="3" name="图片 2">
            <a:extLst>
              <a:ext uri="{FF2B5EF4-FFF2-40B4-BE49-F238E27FC236}">
                <a16:creationId xmlns:a16="http://schemas.microsoft.com/office/drawing/2014/main" id="{8E6E9175-54F7-0D98-55BC-C6BB2BB97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9533" y="1770752"/>
            <a:ext cx="5807566" cy="3855992"/>
          </a:xfrm>
          <a:prstGeom prst="rect">
            <a:avLst/>
          </a:prstGeom>
        </p:spPr>
      </p:pic>
      <p:sp>
        <p:nvSpPr>
          <p:cNvPr id="4" name="文本框 3">
            <a:extLst>
              <a:ext uri="{FF2B5EF4-FFF2-40B4-BE49-F238E27FC236}">
                <a16:creationId xmlns:a16="http://schemas.microsoft.com/office/drawing/2014/main" id="{0797B00B-799E-C1F4-AF5C-69E1FD23D856}"/>
              </a:ext>
            </a:extLst>
          </p:cNvPr>
          <p:cNvSpPr txBox="1"/>
          <p:nvPr/>
        </p:nvSpPr>
        <p:spPr>
          <a:xfrm>
            <a:off x="852256" y="5626744"/>
            <a:ext cx="9667783" cy="369332"/>
          </a:xfrm>
          <a:prstGeom prst="rect">
            <a:avLst/>
          </a:prstGeom>
          <a:noFill/>
        </p:spPr>
        <p:txBody>
          <a:bodyPr wrap="square" rtlCol="0">
            <a:spAutoFit/>
          </a:bodyPr>
          <a:lstStyle/>
          <a:p>
            <a:r>
              <a:rPr lang="en-US" altLang="zh-CN" dirty="0"/>
              <a:t>Only 10.81% of interviewees show willingness to accept a price over 80 yuan.</a:t>
            </a:r>
            <a:endParaRPr lang="zh-CN" altLang="en-US" dirty="0"/>
          </a:p>
        </p:txBody>
      </p:sp>
    </p:spTree>
    <p:extLst>
      <p:ext uri="{BB962C8B-B14F-4D97-AF65-F5344CB8AC3E}">
        <p14:creationId xmlns:p14="http://schemas.microsoft.com/office/powerpoint/2010/main" val="435916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a:extLst>
            <a:ext uri="{FF2B5EF4-FFF2-40B4-BE49-F238E27FC236}">
              <a16:creationId xmlns:a16="http://schemas.microsoft.com/office/drawing/2014/main" id="{F46865A3-AECD-CFBD-5F2D-84D53DA17DB8}"/>
            </a:ext>
          </a:extLst>
        </p:cNvPr>
        <p:cNvGrpSpPr/>
        <p:nvPr/>
      </p:nvGrpSpPr>
      <p:grpSpPr>
        <a:xfrm>
          <a:off x="0" y="0"/>
          <a:ext cx="0" cy="0"/>
          <a:chOff x="0" y="0"/>
          <a:chExt cx="0" cy="0"/>
        </a:xfrm>
      </p:grpSpPr>
      <p:pic>
        <p:nvPicPr>
          <p:cNvPr id="289" name="图片" descr="/mnt/data/jebo_assets/corners.png">
            <a:extLst>
              <a:ext uri="{FF2B5EF4-FFF2-40B4-BE49-F238E27FC236}">
                <a16:creationId xmlns:a16="http://schemas.microsoft.com/office/drawing/2014/main" id="{EB6E223C-8871-1369-F4DA-CF9316586EAF}"/>
              </a:ext>
            </a:extLst>
          </p:cNvPr>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290" name="矩形">
            <a:extLst>
              <a:ext uri="{FF2B5EF4-FFF2-40B4-BE49-F238E27FC236}">
                <a16:creationId xmlns:a16="http://schemas.microsoft.com/office/drawing/2014/main" id="{9F184082-391E-878E-5630-3666755227BB}"/>
              </a:ext>
            </a:extLst>
          </p:cNvPr>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dirty="0">
                <a:solidFill>
                  <a:srgbClr val="CE8067"/>
                </a:solidFill>
                <a:latin typeface="Lato" charset="0"/>
                <a:ea typeface="Lato" charset="0"/>
                <a:cs typeface="Lato" charset="0"/>
              </a:rPr>
              <a:t>INTERVIEW INSIGHT  /  N = 6</a:t>
            </a:r>
            <a:endParaRPr lang="zh-CN" altLang="en-US" sz="950" b="0" i="0" u="none" strike="noStrike" kern="1200" cap="none" spc="0" baseline="0" dirty="0">
              <a:solidFill>
                <a:schemeClr val="tx1"/>
              </a:solidFill>
              <a:latin typeface="Lato" charset="0"/>
              <a:ea typeface="等线" charset="0"/>
              <a:cs typeface="Lato" charset="0"/>
            </a:endParaRPr>
          </a:p>
        </p:txBody>
      </p:sp>
      <p:sp>
        <p:nvSpPr>
          <p:cNvPr id="291" name="直线">
            <a:extLst>
              <a:ext uri="{FF2B5EF4-FFF2-40B4-BE49-F238E27FC236}">
                <a16:creationId xmlns:a16="http://schemas.microsoft.com/office/drawing/2014/main" id="{2F28DD51-9AA3-CFA9-CB9A-429433ABA69E}"/>
              </a:ext>
            </a:extLst>
          </p:cNvPr>
          <p:cNvSpPr>
            <a:spLocks/>
          </p:cNvSpPr>
          <p:nvPr/>
        </p:nvSpPr>
        <p:spPr>
          <a:xfrm>
            <a:off x="731520" y="6455664"/>
            <a:ext cx="10771632" cy="0"/>
          </a:xfrm>
          <a:prstGeom prst="line">
            <a:avLst/>
          </a:prstGeom>
          <a:noFill/>
          <a:ln w="9525" cap="flat" cmpd="sng">
            <a:solidFill>
              <a:srgbClr val="DDDCD1"/>
            </a:solidFill>
            <a:prstDash val="solid"/>
            <a:round/>
          </a:ln>
        </p:spPr>
      </p:sp>
      <p:sp>
        <p:nvSpPr>
          <p:cNvPr id="292" name="矩形">
            <a:extLst>
              <a:ext uri="{FF2B5EF4-FFF2-40B4-BE49-F238E27FC236}">
                <a16:creationId xmlns:a16="http://schemas.microsoft.com/office/drawing/2014/main" id="{09C430C9-0778-5080-BBDB-B76125BE5B32}"/>
              </a:ext>
            </a:extLst>
          </p:cNvPr>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dirty="0">
                <a:solidFill>
                  <a:srgbClr val="7D8478"/>
                </a:solidFill>
                <a:latin typeface="Lato" charset="0"/>
                <a:ea typeface="Lato" charset="0"/>
                <a:cs typeface="Lato" charset="0"/>
              </a:rPr>
              <a:t>JEBO  /  MIDTERM PRESENTATION</a:t>
            </a:r>
            <a:endParaRPr lang="zh-CN" altLang="en-US" sz="860" b="0" i="0" u="none" strike="noStrike" kern="1200" cap="none" spc="0" baseline="0" dirty="0">
              <a:solidFill>
                <a:schemeClr val="tx1"/>
              </a:solidFill>
              <a:latin typeface="Lato" charset="0"/>
              <a:ea typeface="等线" charset="0"/>
              <a:cs typeface="Lato" charset="0"/>
            </a:endParaRPr>
          </a:p>
        </p:txBody>
      </p:sp>
      <p:sp>
        <p:nvSpPr>
          <p:cNvPr id="300" name="矩形">
            <a:extLst>
              <a:ext uri="{FF2B5EF4-FFF2-40B4-BE49-F238E27FC236}">
                <a16:creationId xmlns:a16="http://schemas.microsoft.com/office/drawing/2014/main" id="{2F2DADBB-2456-049D-91AA-79FC67DC0E9C}"/>
              </a:ext>
            </a:extLst>
          </p:cNvPr>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dirty="0">
                <a:solidFill>
                  <a:srgbClr val="7D8478"/>
                </a:solidFill>
                <a:latin typeface="Lato" charset="0"/>
                <a:ea typeface="Lato" charset="0"/>
                <a:cs typeface="Lato" charset="0"/>
              </a:rPr>
              <a:t>Qualitative interview notes in CEM pre.docx; small, non-representative sample.</a:t>
            </a:r>
            <a:endParaRPr lang="zh-CN" altLang="en-US" sz="930" b="0" i="0" u="none" strike="noStrike" kern="1200" cap="none" spc="0" baseline="0" dirty="0">
              <a:solidFill>
                <a:schemeClr val="tx1"/>
              </a:solidFill>
              <a:latin typeface="Lato" charset="0"/>
              <a:ea typeface="等线" charset="0"/>
              <a:cs typeface="Lato" charset="0"/>
            </a:endParaRPr>
          </a:p>
        </p:txBody>
      </p:sp>
      <p:pic>
        <p:nvPicPr>
          <p:cNvPr id="3" name="图片 2">
            <a:extLst>
              <a:ext uri="{FF2B5EF4-FFF2-40B4-BE49-F238E27FC236}">
                <a16:creationId xmlns:a16="http://schemas.microsoft.com/office/drawing/2014/main" id="{A86987D4-79EA-93DB-C6CB-E038D85609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88403"/>
            <a:ext cx="7803472" cy="3790992"/>
          </a:xfrm>
          <a:prstGeom prst="rect">
            <a:avLst/>
          </a:prstGeom>
        </p:spPr>
      </p:pic>
      <p:sp>
        <p:nvSpPr>
          <p:cNvPr id="4" name="文本框 3">
            <a:extLst>
              <a:ext uri="{FF2B5EF4-FFF2-40B4-BE49-F238E27FC236}">
                <a16:creationId xmlns:a16="http://schemas.microsoft.com/office/drawing/2014/main" id="{576BAFF3-6C01-762C-E8D8-7367AB4EF1FE}"/>
              </a:ext>
            </a:extLst>
          </p:cNvPr>
          <p:cNvSpPr txBox="1"/>
          <p:nvPr/>
        </p:nvSpPr>
        <p:spPr>
          <a:xfrm>
            <a:off x="479394" y="943078"/>
            <a:ext cx="6267635" cy="461665"/>
          </a:xfrm>
          <a:prstGeom prst="rect">
            <a:avLst/>
          </a:prstGeom>
          <a:noFill/>
        </p:spPr>
        <p:txBody>
          <a:bodyPr wrap="square" rtlCol="0">
            <a:spAutoFit/>
          </a:bodyPr>
          <a:lstStyle/>
          <a:p>
            <a:r>
              <a:rPr lang="en-US" altLang="zh-CN" sz="2400" dirty="0"/>
              <a:t>Willingness to pay more?</a:t>
            </a:r>
            <a:endParaRPr lang="zh-CN" altLang="en-US" sz="2400" dirty="0"/>
          </a:p>
        </p:txBody>
      </p:sp>
      <p:sp>
        <p:nvSpPr>
          <p:cNvPr id="5" name="文本框 4">
            <a:extLst>
              <a:ext uri="{FF2B5EF4-FFF2-40B4-BE49-F238E27FC236}">
                <a16:creationId xmlns:a16="http://schemas.microsoft.com/office/drawing/2014/main" id="{01705063-42A1-C2A8-71D0-EA7B80D5293C}"/>
              </a:ext>
            </a:extLst>
          </p:cNvPr>
          <p:cNvSpPr txBox="1"/>
          <p:nvPr/>
        </p:nvSpPr>
        <p:spPr>
          <a:xfrm>
            <a:off x="8176334" y="1814281"/>
            <a:ext cx="3542190" cy="1323439"/>
          </a:xfrm>
          <a:prstGeom prst="rect">
            <a:avLst/>
          </a:prstGeom>
          <a:noFill/>
        </p:spPr>
        <p:txBody>
          <a:bodyPr wrap="square" rtlCol="0">
            <a:spAutoFit/>
          </a:bodyPr>
          <a:lstStyle/>
          <a:p>
            <a:r>
              <a:rPr lang="en-US" altLang="zh-CN" sz="2000" dirty="0"/>
              <a:t>46% interviewees are satisfied with current service</a:t>
            </a:r>
          </a:p>
          <a:p>
            <a:r>
              <a:rPr lang="en-US" altLang="zh-CN" sz="2000" dirty="0"/>
              <a:t>45.95% interviewees shows a remaining willingness</a:t>
            </a:r>
            <a:endParaRPr lang="zh-CN" altLang="en-US" sz="2000" dirty="0"/>
          </a:p>
        </p:txBody>
      </p:sp>
    </p:spTree>
    <p:extLst>
      <p:ext uri="{BB962C8B-B14F-4D97-AF65-F5344CB8AC3E}">
        <p14:creationId xmlns:p14="http://schemas.microsoft.com/office/powerpoint/2010/main" val="988643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406"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407"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VALIDATION  /  OPEN QUESTIONS</a:t>
            </a:r>
            <a:endParaRPr lang="zh-CN" altLang="en-US" sz="950" b="0" i="0" u="none" strike="noStrike" kern="1200" cap="none" spc="0" baseline="0">
              <a:solidFill>
                <a:schemeClr val="tx1"/>
              </a:solidFill>
              <a:latin typeface="Lato" charset="0"/>
              <a:ea typeface="等线" charset="0"/>
              <a:cs typeface="Lato" charset="0"/>
            </a:endParaRPr>
          </a:p>
        </p:txBody>
      </p:sp>
      <p:sp>
        <p:nvSpPr>
          <p:cNvPr id="408"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409"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410"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15/  19</a:t>
            </a:r>
            <a:endParaRPr lang="zh-CN" altLang="en-US" sz="950" b="0" i="0" u="none" strike="noStrike" kern="1200" cap="none" spc="0" baseline="0">
              <a:solidFill>
                <a:schemeClr val="tx1"/>
              </a:solidFill>
              <a:latin typeface="Lato" charset="0"/>
              <a:ea typeface="等线" charset="0"/>
              <a:cs typeface="Lato" charset="0"/>
            </a:endParaRPr>
          </a:p>
        </p:txBody>
      </p:sp>
      <p:sp>
        <p:nvSpPr>
          <p:cNvPr id="411"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Real demand does not guarantee platform switching</a:t>
            </a:r>
            <a:endParaRPr lang="zh-CN" altLang="en-US" sz="3050" b="0" i="0" u="none" strike="noStrike" kern="1200" cap="none" spc="0" baseline="0">
              <a:solidFill>
                <a:schemeClr val="tx1"/>
              </a:solidFill>
              <a:latin typeface="Lato" charset="0"/>
              <a:ea typeface="等线" charset="0"/>
              <a:cs typeface="Lato" charset="0"/>
            </a:endParaRPr>
          </a:p>
        </p:txBody>
      </p:sp>
      <p:sp>
        <p:nvSpPr>
          <p:cNvPr id="412"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The hardest test is changing an existing habit.</a:t>
            </a:r>
            <a:endParaRPr lang="zh-CN" altLang="en-US" sz="1550" b="0" i="0" u="none" strike="noStrike" kern="1200" cap="none" spc="0" baseline="0">
              <a:solidFill>
                <a:schemeClr val="tx1"/>
              </a:solidFill>
              <a:latin typeface="Lato" charset="0"/>
              <a:ea typeface="等线" charset="0"/>
              <a:cs typeface="Lato" charset="0"/>
            </a:endParaRPr>
          </a:p>
        </p:txBody>
      </p:sp>
      <p:sp>
        <p:nvSpPr>
          <p:cNvPr id="413" name="圆角矩形"/>
          <p:cNvSpPr>
            <a:spLocks/>
          </p:cNvSpPr>
          <p:nvPr/>
        </p:nvSpPr>
        <p:spPr>
          <a:xfrm>
            <a:off x="786384" y="1993392"/>
            <a:ext cx="3374136" cy="2295144"/>
          </a:xfrm>
          <a:prstGeom prst="roundRect">
            <a:avLst>
              <a:gd name="adj" fmla="val 7967"/>
            </a:avLst>
          </a:prstGeom>
          <a:solidFill>
            <a:srgbClr val="EBF0E7"/>
          </a:solidFill>
          <a:ln w="12700" cap="flat" cmpd="sng">
            <a:solidFill>
              <a:srgbClr val="EBF0E7">
                <a:alpha val="0"/>
              </a:srgbClr>
            </a:solidFill>
            <a:prstDash val="solid"/>
            <a:round/>
          </a:ln>
        </p:spPr>
      </p:sp>
      <p:sp>
        <p:nvSpPr>
          <p:cNvPr id="414" name="矩形"/>
          <p:cNvSpPr>
            <a:spLocks/>
          </p:cNvSpPr>
          <p:nvPr/>
        </p:nvSpPr>
        <p:spPr>
          <a:xfrm>
            <a:off x="1033272" y="2221992"/>
            <a:ext cx="2880360"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What we observed</a:t>
            </a:r>
            <a:endParaRPr lang="zh-CN" altLang="en-US" sz="2000" b="0" i="0" u="none" strike="noStrike" kern="1200" cap="none" spc="0" baseline="0">
              <a:solidFill>
                <a:schemeClr val="tx1"/>
              </a:solidFill>
              <a:latin typeface="Lato" charset="0"/>
              <a:ea typeface="等线" charset="0"/>
              <a:cs typeface="Lato" charset="0"/>
            </a:endParaRPr>
          </a:p>
        </p:txBody>
      </p:sp>
      <p:sp>
        <p:nvSpPr>
          <p:cNvPr id="415" name="矩形"/>
          <p:cNvSpPr>
            <a:spLocks/>
          </p:cNvSpPr>
          <p:nvPr/>
        </p:nvSpPr>
        <p:spPr>
          <a:xfrm>
            <a:off x="1033272" y="2724912"/>
            <a:ext cx="2880360" cy="1335024"/>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Existing users book and pay for cleaning via private contacts.</a:t>
            </a:r>
            <a:endParaRPr lang="zh-CN" altLang="en-US" sz="1500" b="0" i="0" u="none" strike="noStrike" kern="1200" cap="none" spc="0" baseline="0">
              <a:solidFill>
                <a:schemeClr val="tx1"/>
              </a:solidFill>
              <a:latin typeface="Lato" charset="0"/>
              <a:ea typeface="等线" charset="0"/>
              <a:cs typeface="Lato" charset="0"/>
            </a:endParaRPr>
          </a:p>
        </p:txBody>
      </p:sp>
      <p:sp>
        <p:nvSpPr>
          <p:cNvPr id="416" name="圆角矩形"/>
          <p:cNvSpPr>
            <a:spLocks/>
          </p:cNvSpPr>
          <p:nvPr/>
        </p:nvSpPr>
        <p:spPr>
          <a:xfrm>
            <a:off x="4389120" y="1993392"/>
            <a:ext cx="3392421" cy="2295144"/>
          </a:xfrm>
          <a:prstGeom prst="roundRect">
            <a:avLst>
              <a:gd name="adj" fmla="val 7967"/>
            </a:avLst>
          </a:prstGeom>
          <a:solidFill>
            <a:srgbClr val="FFFDF9"/>
          </a:solidFill>
          <a:ln w="12700" cap="flat" cmpd="sng">
            <a:solidFill>
              <a:srgbClr val="FFFDF9">
                <a:alpha val="0"/>
              </a:srgbClr>
            </a:solidFill>
            <a:prstDash val="solid"/>
            <a:round/>
          </a:ln>
        </p:spPr>
      </p:sp>
      <p:sp>
        <p:nvSpPr>
          <p:cNvPr id="417" name="矩形"/>
          <p:cNvSpPr>
            <a:spLocks/>
          </p:cNvSpPr>
          <p:nvPr/>
        </p:nvSpPr>
        <p:spPr>
          <a:xfrm>
            <a:off x="4636008" y="2221992"/>
            <a:ext cx="2898646"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What they requested</a:t>
            </a:r>
            <a:endParaRPr lang="zh-CN" altLang="en-US" sz="2000" b="0" i="0" u="none" strike="noStrike" kern="1200" cap="none" spc="0" baseline="0">
              <a:solidFill>
                <a:schemeClr val="tx1"/>
              </a:solidFill>
              <a:latin typeface="Lato" charset="0"/>
              <a:ea typeface="等线" charset="0"/>
              <a:cs typeface="Lato" charset="0"/>
            </a:endParaRPr>
          </a:p>
        </p:txBody>
      </p:sp>
      <p:sp>
        <p:nvSpPr>
          <p:cNvPr id="418" name="矩形"/>
          <p:cNvSpPr>
            <a:spLocks/>
          </p:cNvSpPr>
          <p:nvPr/>
        </p:nvSpPr>
        <p:spPr>
          <a:xfrm>
            <a:off x="4636008" y="2724912"/>
            <a:ext cx="2898646" cy="1335024"/>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Clear prices, service scope, cleaner credentials and quality.</a:t>
            </a:r>
            <a:endParaRPr lang="zh-CN" altLang="en-US" sz="1500" b="0" i="0" u="none" strike="noStrike" kern="1200" cap="none" spc="0" baseline="0">
              <a:solidFill>
                <a:schemeClr val="tx1"/>
              </a:solidFill>
              <a:latin typeface="Lato" charset="0"/>
              <a:ea typeface="等线" charset="0"/>
              <a:cs typeface="Lato" charset="0"/>
            </a:endParaRPr>
          </a:p>
        </p:txBody>
      </p:sp>
      <p:sp>
        <p:nvSpPr>
          <p:cNvPr id="419" name="圆角矩形"/>
          <p:cNvSpPr>
            <a:spLocks/>
          </p:cNvSpPr>
          <p:nvPr/>
        </p:nvSpPr>
        <p:spPr>
          <a:xfrm>
            <a:off x="8010144" y="1993392"/>
            <a:ext cx="3383279" cy="2295144"/>
          </a:xfrm>
          <a:prstGeom prst="roundRect">
            <a:avLst>
              <a:gd name="adj" fmla="val 7967"/>
            </a:avLst>
          </a:prstGeom>
          <a:solidFill>
            <a:srgbClr val="F7E7DA"/>
          </a:solidFill>
          <a:ln w="12700" cap="flat" cmpd="sng">
            <a:solidFill>
              <a:srgbClr val="F7E7DA">
                <a:alpha val="0"/>
              </a:srgbClr>
            </a:solidFill>
            <a:prstDash val="solid"/>
            <a:round/>
          </a:ln>
        </p:spPr>
      </p:sp>
      <p:sp>
        <p:nvSpPr>
          <p:cNvPr id="420" name="矩形"/>
          <p:cNvSpPr>
            <a:spLocks/>
          </p:cNvSpPr>
          <p:nvPr/>
        </p:nvSpPr>
        <p:spPr>
          <a:xfrm>
            <a:off x="8257032" y="2221992"/>
            <a:ext cx="2889503"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000" b="0" i="0" u="none" strike="noStrike" kern="1200" cap="none" spc="0" baseline="0">
                <a:solidFill>
                  <a:srgbClr val="37443B"/>
                </a:solidFill>
                <a:latin typeface="Georgia" charset="0"/>
                <a:ea typeface="Georgia" charset="0"/>
                <a:cs typeface="Georgia" charset="0"/>
              </a:rPr>
              <a:t>What is not proven</a:t>
            </a:r>
            <a:endParaRPr lang="zh-CN" altLang="en-US" sz="2000" b="0" i="0" u="none" strike="noStrike" kern="1200" cap="none" spc="0" baseline="0">
              <a:solidFill>
                <a:schemeClr val="tx1"/>
              </a:solidFill>
              <a:latin typeface="Lato" charset="0"/>
              <a:ea typeface="等线" charset="0"/>
              <a:cs typeface="Lato" charset="0"/>
            </a:endParaRPr>
          </a:p>
        </p:txBody>
      </p:sp>
      <p:sp>
        <p:nvSpPr>
          <p:cNvPr id="421" name="矩形"/>
          <p:cNvSpPr>
            <a:spLocks/>
          </p:cNvSpPr>
          <p:nvPr/>
        </p:nvSpPr>
        <p:spPr>
          <a:xfrm>
            <a:off x="8257032" y="2724912"/>
            <a:ext cx="2889503" cy="1335024"/>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500" b="0" i="0" u="none" strike="noStrike" kern="1200" cap="none" spc="0" baseline="0">
                <a:solidFill>
                  <a:srgbClr val="7D8478"/>
                </a:solidFill>
                <a:latin typeface="Lato" charset="0"/>
                <a:ea typeface="Lato" charset="0"/>
                <a:cs typeface="Lato" charset="0"/>
              </a:rPr>
              <a:t>Two users expressed only conditional trial interest—subject to roommate approval.</a:t>
            </a:r>
            <a:endParaRPr lang="zh-CN" altLang="en-US" sz="1500" b="0" i="0" u="none" strike="noStrike" kern="1200" cap="none" spc="0" baseline="0">
              <a:solidFill>
                <a:schemeClr val="tx1"/>
              </a:solidFill>
              <a:latin typeface="Lato" charset="0"/>
              <a:ea typeface="等线" charset="0"/>
              <a:cs typeface="Lato" charset="0"/>
            </a:endParaRPr>
          </a:p>
        </p:txBody>
      </p:sp>
      <p:sp>
        <p:nvSpPr>
          <p:cNvPr id="422" name="圆角矩形"/>
          <p:cNvSpPr>
            <a:spLocks/>
          </p:cNvSpPr>
          <p:nvPr/>
        </p:nvSpPr>
        <p:spPr>
          <a:xfrm>
            <a:off x="1179575" y="4636008"/>
            <a:ext cx="9966960" cy="749808"/>
          </a:xfrm>
          <a:prstGeom prst="roundRect">
            <a:avLst>
              <a:gd name="adj" fmla="val 24388"/>
            </a:avLst>
          </a:prstGeom>
          <a:solidFill>
            <a:srgbClr val="DDE8DD"/>
          </a:solidFill>
          <a:ln w="12700" cap="flat" cmpd="sng">
            <a:solidFill>
              <a:srgbClr val="DDE8DD">
                <a:alpha val="0"/>
              </a:srgbClr>
            </a:solidFill>
            <a:prstDash val="solid"/>
            <a:round/>
          </a:ln>
        </p:spPr>
      </p:sp>
      <p:sp>
        <p:nvSpPr>
          <p:cNvPr id="423" name="矩形"/>
          <p:cNvSpPr>
            <a:spLocks/>
          </p:cNvSpPr>
          <p:nvPr/>
        </p:nvSpPr>
        <p:spPr>
          <a:xfrm>
            <a:off x="1453896" y="4791456"/>
            <a:ext cx="9400032"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20" b="1" dirty="0">
                <a:solidFill>
                  <a:srgbClr val="40584C"/>
                </a:solidFill>
                <a:latin typeface="Lato" charset="0"/>
                <a:ea typeface="Lato" charset="0"/>
                <a:cs typeface="Lato" charset="0"/>
              </a:rPr>
              <a:t>43.24</a:t>
            </a:r>
            <a:r>
              <a:rPr lang="en-US" altLang="zh-CN" sz="1820" b="1" i="0" u="none" strike="noStrike" kern="1200" cap="none" spc="0" baseline="0" dirty="0">
                <a:solidFill>
                  <a:srgbClr val="40584C"/>
                </a:solidFill>
                <a:latin typeface="Lato" charset="0"/>
                <a:ea typeface="Lato" charset="0"/>
                <a:cs typeface="Lato" charset="0"/>
              </a:rPr>
              <a:t>% said additional guarantees would increase interest (survey, n=</a:t>
            </a:r>
            <a:r>
              <a:rPr lang="en-US" altLang="zh-CN" sz="1820" b="1" dirty="0">
                <a:solidFill>
                  <a:srgbClr val="40584C"/>
                </a:solidFill>
                <a:latin typeface="Lato" charset="0"/>
                <a:ea typeface="Lato" charset="0"/>
                <a:cs typeface="Lato" charset="0"/>
              </a:rPr>
              <a:t>37</a:t>
            </a:r>
            <a:r>
              <a:rPr lang="en-US" altLang="zh-CN" sz="1820" b="1" i="0" u="none" strike="noStrike" kern="1200" cap="none" spc="0" baseline="0" dirty="0">
                <a:solidFill>
                  <a:srgbClr val="40584C"/>
                </a:solidFill>
                <a:latin typeface="Lato" charset="0"/>
                <a:ea typeface="Lato" charset="0"/>
                <a:cs typeface="Lato" charset="0"/>
              </a:rPr>
              <a:t>).</a:t>
            </a:r>
            <a:endParaRPr lang="zh-CN" altLang="en-US" sz="1820" b="0" i="0" u="none" strike="noStrike" kern="1200" cap="none" spc="0" baseline="0" dirty="0">
              <a:solidFill>
                <a:schemeClr val="tx1"/>
              </a:solidFill>
              <a:latin typeface="Lato" charset="0"/>
              <a:ea typeface="等线" charset="0"/>
              <a:cs typeface="Lato" charset="0"/>
            </a:endParaRPr>
          </a:p>
        </p:txBody>
      </p:sp>
      <p:sp>
        <p:nvSpPr>
          <p:cNvPr id="424"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Sources: CEM pre.docx, Cases A–C; questionnaire Q13. Interest ≠ purchase or platform trial.</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628405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430"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431"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BUSINESS HYPOTHESIS</a:t>
            </a:r>
            <a:endParaRPr lang="zh-CN" altLang="en-US" sz="950" b="0" i="0" u="none" strike="noStrike" kern="1200" cap="none" spc="0" baseline="0">
              <a:solidFill>
                <a:schemeClr val="tx1"/>
              </a:solidFill>
              <a:latin typeface="Lato" charset="0"/>
              <a:ea typeface="等线" charset="0"/>
              <a:cs typeface="Lato" charset="0"/>
            </a:endParaRPr>
          </a:p>
        </p:txBody>
      </p:sp>
      <p:sp>
        <p:nvSpPr>
          <p:cNvPr id="432"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433"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434"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16  /  19</a:t>
            </a:r>
            <a:endParaRPr lang="zh-CN" altLang="en-US" sz="950" b="0" i="0" u="none" strike="noStrike" kern="1200" cap="none" spc="0" baseline="0">
              <a:solidFill>
                <a:schemeClr val="tx1"/>
              </a:solidFill>
              <a:latin typeface="Lato" charset="0"/>
              <a:ea typeface="等线" charset="0"/>
              <a:cs typeface="Lato" charset="0"/>
            </a:endParaRPr>
          </a:p>
        </p:txBody>
      </p:sp>
      <p:sp>
        <p:nvSpPr>
          <p:cNvPr id="435"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Could a cleaner serve more rooms at a lower fee?</a:t>
            </a:r>
            <a:endParaRPr lang="zh-CN" altLang="en-US" sz="3050" b="0" i="0" u="none" strike="noStrike" kern="1200" cap="none" spc="0" baseline="0">
              <a:solidFill>
                <a:schemeClr val="tx1"/>
              </a:solidFill>
              <a:latin typeface="Lato" charset="0"/>
              <a:ea typeface="等线" charset="0"/>
              <a:cs typeface="Lato" charset="0"/>
            </a:endParaRPr>
          </a:p>
        </p:txBody>
      </p:sp>
      <p:sp>
        <p:nvSpPr>
          <p:cNvPr id="436"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Volume and proximity may improve the economics—but this is still untested.</a:t>
            </a:r>
            <a:endParaRPr lang="zh-CN" altLang="en-US" sz="1550" b="0" i="0" u="none" strike="noStrike" kern="1200" cap="none" spc="0" baseline="0">
              <a:solidFill>
                <a:schemeClr val="tx1"/>
              </a:solidFill>
              <a:latin typeface="Lato" charset="0"/>
              <a:ea typeface="等线" charset="0"/>
              <a:cs typeface="Lato" charset="0"/>
            </a:endParaRPr>
          </a:p>
        </p:txBody>
      </p:sp>
      <p:pic>
        <p:nvPicPr>
          <p:cNvPr id="437" name="图片" descr="/mnt/data/jebo_assets/route.png"/>
          <p:cNvPicPr>
            <a:picLocks noChangeAspect="1"/>
          </p:cNvPicPr>
          <p:nvPr/>
        </p:nvPicPr>
        <p:blipFill>
          <a:blip r:embed="rId4" cstate="print"/>
          <a:stretch>
            <a:fillRect/>
          </a:stretch>
        </p:blipFill>
        <p:spPr>
          <a:xfrm>
            <a:off x="704088" y="1865376"/>
            <a:ext cx="5394960" cy="4160520"/>
          </a:xfrm>
          <a:prstGeom prst="rect">
            <a:avLst/>
          </a:prstGeom>
          <a:noFill/>
          <a:ln w="12700" cap="flat" cmpd="sng">
            <a:noFill/>
            <a:prstDash val="solid"/>
            <a:miter/>
          </a:ln>
        </p:spPr>
      </p:pic>
      <p:sp>
        <p:nvSpPr>
          <p:cNvPr id="438" name="圆角矩形"/>
          <p:cNvSpPr>
            <a:spLocks/>
          </p:cNvSpPr>
          <p:nvPr/>
        </p:nvSpPr>
        <p:spPr>
          <a:xfrm>
            <a:off x="6263640" y="2231136"/>
            <a:ext cx="4882896" cy="2404872"/>
          </a:xfrm>
          <a:prstGeom prst="roundRect">
            <a:avLst>
              <a:gd name="adj" fmla="val 7606"/>
            </a:avLst>
          </a:prstGeom>
          <a:solidFill>
            <a:srgbClr val="FFFDF9"/>
          </a:solidFill>
          <a:ln w="12700" cap="flat" cmpd="sng">
            <a:solidFill>
              <a:srgbClr val="FFFDF9">
                <a:alpha val="0"/>
              </a:srgbClr>
            </a:solidFill>
            <a:prstDash val="solid"/>
            <a:round/>
          </a:ln>
        </p:spPr>
      </p:sp>
      <p:sp>
        <p:nvSpPr>
          <p:cNvPr id="439" name="矩形"/>
          <p:cNvSpPr>
            <a:spLocks/>
          </p:cNvSpPr>
          <p:nvPr/>
        </p:nvSpPr>
        <p:spPr>
          <a:xfrm>
            <a:off x="6583680" y="2496311"/>
            <a:ext cx="4242816"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400" b="0" i="0" u="none" strike="noStrike" kern="1200" cap="none" spc="0" baseline="0">
                <a:solidFill>
                  <a:srgbClr val="37443B"/>
                </a:solidFill>
                <a:latin typeface="Georgia" charset="0"/>
                <a:ea typeface="Georgia" charset="0"/>
                <a:cs typeface="Georgia" charset="0"/>
              </a:rPr>
              <a:t>More nearby rooms</a:t>
            </a:r>
            <a:endParaRPr lang="zh-CN" altLang="en-US" sz="2400" b="0" i="0" u="none" strike="noStrike" kern="1200" cap="none" spc="0" baseline="0">
              <a:solidFill>
                <a:schemeClr val="tx1"/>
              </a:solidFill>
              <a:latin typeface="Lato" charset="0"/>
              <a:ea typeface="等线" charset="0"/>
              <a:cs typeface="Lato" charset="0"/>
            </a:endParaRPr>
          </a:p>
        </p:txBody>
      </p:sp>
      <p:sp>
        <p:nvSpPr>
          <p:cNvPr id="440" name="矩形"/>
          <p:cNvSpPr>
            <a:spLocks/>
          </p:cNvSpPr>
          <p:nvPr/>
        </p:nvSpPr>
        <p:spPr>
          <a:xfrm>
            <a:off x="8321040" y="2898647"/>
            <a:ext cx="786384"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3400" b="0" i="0" u="none" strike="noStrike" kern="1200" cap="none" spc="0" baseline="0">
                <a:solidFill>
                  <a:srgbClr val="CE8067"/>
                </a:solidFill>
                <a:latin typeface="Lato" charset="0"/>
                <a:ea typeface="Lato" charset="0"/>
                <a:cs typeface="Lato" charset="0"/>
              </a:rPr>
              <a:t>↓</a:t>
            </a:r>
            <a:endParaRPr lang="zh-CN" altLang="en-US" sz="3400" b="0" i="0" u="none" strike="noStrike" kern="1200" cap="none" spc="0" baseline="0">
              <a:solidFill>
                <a:schemeClr val="tx1"/>
              </a:solidFill>
              <a:latin typeface="Lato" charset="0"/>
              <a:ea typeface="等线" charset="0"/>
              <a:cs typeface="Lato" charset="0"/>
            </a:endParaRPr>
          </a:p>
        </p:txBody>
      </p:sp>
      <p:sp>
        <p:nvSpPr>
          <p:cNvPr id="441" name="矩形"/>
          <p:cNvSpPr>
            <a:spLocks/>
          </p:cNvSpPr>
          <p:nvPr/>
        </p:nvSpPr>
        <p:spPr>
          <a:xfrm>
            <a:off x="6537960" y="3465576"/>
            <a:ext cx="4370832" cy="37490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000" b="1" i="0" u="none" strike="noStrike" kern="1200" cap="none" spc="0" baseline="0">
                <a:solidFill>
                  <a:srgbClr val="40584C"/>
                </a:solidFill>
                <a:latin typeface="Lato" charset="0"/>
                <a:ea typeface="Lato" charset="0"/>
                <a:cs typeface="Lato" charset="0"/>
              </a:rPr>
              <a:t>Less time between jobs</a:t>
            </a:r>
            <a:endParaRPr lang="zh-CN" altLang="en-US" sz="2000" b="0" i="0" u="none" strike="noStrike" kern="1200" cap="none" spc="0" baseline="0">
              <a:solidFill>
                <a:schemeClr val="tx1"/>
              </a:solidFill>
              <a:latin typeface="Lato" charset="0"/>
              <a:ea typeface="等线" charset="0"/>
              <a:cs typeface="Lato" charset="0"/>
            </a:endParaRPr>
          </a:p>
        </p:txBody>
      </p:sp>
      <p:sp>
        <p:nvSpPr>
          <p:cNvPr id="442" name="圆角矩形"/>
          <p:cNvSpPr>
            <a:spLocks/>
          </p:cNvSpPr>
          <p:nvPr/>
        </p:nvSpPr>
        <p:spPr>
          <a:xfrm>
            <a:off x="6675120" y="4846320"/>
            <a:ext cx="4078224" cy="384047"/>
          </a:xfrm>
          <a:prstGeom prst="roundRect">
            <a:avLst>
              <a:gd name="adj" fmla="val 35712"/>
            </a:avLst>
          </a:prstGeom>
          <a:solidFill>
            <a:srgbClr val="F7E7DA"/>
          </a:solidFill>
          <a:ln w="12700" cap="flat" cmpd="sng">
            <a:solidFill>
              <a:srgbClr val="F7E7DA">
                <a:alpha val="0"/>
              </a:srgbClr>
            </a:solidFill>
            <a:prstDash val="solid"/>
            <a:round/>
          </a:ln>
        </p:spPr>
      </p:sp>
      <p:sp>
        <p:nvSpPr>
          <p:cNvPr id="443" name="矩形"/>
          <p:cNvSpPr>
            <a:spLocks/>
          </p:cNvSpPr>
          <p:nvPr/>
        </p:nvSpPr>
        <p:spPr>
          <a:xfrm>
            <a:off x="6812280" y="4901182"/>
            <a:ext cx="3803903"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70" b="1" i="0" u="none" strike="noStrike" kern="1200" cap="none" spc="0" baseline="0">
                <a:solidFill>
                  <a:srgbClr val="CE8067"/>
                </a:solidFill>
                <a:latin typeface="Lato" charset="0"/>
                <a:ea typeface="Lato" charset="0"/>
                <a:cs typeface="Lato" charset="0"/>
              </a:rPr>
              <a:t>Hypothesis  ≠  verified profit</a:t>
            </a:r>
            <a:endParaRPr lang="zh-CN" altLang="en-US" sz="1370" b="0" i="0" u="none" strike="noStrike" kern="1200" cap="none" spc="0" baseline="0">
              <a:solidFill>
                <a:schemeClr val="tx1"/>
              </a:solidFill>
              <a:latin typeface="Lato" charset="0"/>
              <a:ea typeface="等线" charset="0"/>
              <a:cs typeface="Lato" charset="0"/>
            </a:endParaRPr>
          </a:p>
        </p:txBody>
      </p:sp>
      <p:sp>
        <p:nvSpPr>
          <p:cNvPr id="444"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CEM pre.docx: Next planned test; economics and supplier response not measured yet.</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590882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450"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451"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NEXT PLANNED TEST</a:t>
            </a:r>
            <a:endParaRPr lang="zh-CN" altLang="en-US" sz="950" b="0" i="0" u="none" strike="noStrike" kern="1200" cap="none" spc="0" baseline="0">
              <a:solidFill>
                <a:schemeClr val="tx1"/>
              </a:solidFill>
              <a:latin typeface="Lato" charset="0"/>
              <a:ea typeface="等线" charset="0"/>
              <a:cs typeface="Lato" charset="0"/>
            </a:endParaRPr>
          </a:p>
        </p:txBody>
      </p:sp>
      <p:sp>
        <p:nvSpPr>
          <p:cNvPr id="452"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453"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454"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17  /  19</a:t>
            </a:r>
            <a:endParaRPr lang="zh-CN" altLang="en-US" sz="950" b="0" i="0" u="none" strike="noStrike" kern="1200" cap="none" spc="0" baseline="0">
              <a:solidFill>
                <a:schemeClr val="tx1"/>
              </a:solidFill>
              <a:latin typeface="Lato" charset="0"/>
              <a:ea typeface="等线" charset="0"/>
              <a:cs typeface="Lato" charset="0"/>
            </a:endParaRPr>
          </a:p>
        </p:txBody>
      </p:sp>
      <p:sp>
        <p:nvSpPr>
          <p:cNvPr id="455"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Next, we talk to the cleaners</a:t>
            </a:r>
            <a:endParaRPr lang="zh-CN" altLang="en-US" sz="3050" b="0" i="0" u="none" strike="noStrike" kern="1200" cap="none" spc="0" baseline="0">
              <a:solidFill>
                <a:schemeClr val="tx1"/>
              </a:solidFill>
              <a:latin typeface="Lato" charset="0"/>
              <a:ea typeface="等线" charset="0"/>
              <a:cs typeface="Lato" charset="0"/>
            </a:endParaRPr>
          </a:p>
        </p:txBody>
      </p:sp>
      <p:sp>
        <p:nvSpPr>
          <p:cNvPr id="456"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Can a lower per-room fee work when more rooms are booked together?</a:t>
            </a:r>
            <a:endParaRPr lang="zh-CN" altLang="en-US" sz="1550" b="0" i="0" u="none" strike="noStrike" kern="1200" cap="none" spc="0" baseline="0">
              <a:solidFill>
                <a:schemeClr val="tx1"/>
              </a:solidFill>
              <a:latin typeface="Lato" charset="0"/>
              <a:ea typeface="等线" charset="0"/>
              <a:cs typeface="Lato" charset="0"/>
            </a:endParaRPr>
          </a:p>
        </p:txBody>
      </p:sp>
      <p:sp>
        <p:nvSpPr>
          <p:cNvPr id="457" name="圆角矩形"/>
          <p:cNvSpPr>
            <a:spLocks/>
          </p:cNvSpPr>
          <p:nvPr/>
        </p:nvSpPr>
        <p:spPr>
          <a:xfrm>
            <a:off x="768096" y="2176272"/>
            <a:ext cx="3584448" cy="3026662"/>
          </a:xfrm>
          <a:prstGeom prst="roundRect">
            <a:avLst>
              <a:gd name="adj" fmla="val 6041"/>
            </a:avLst>
          </a:prstGeom>
          <a:solidFill>
            <a:srgbClr val="FFFDF9"/>
          </a:solidFill>
          <a:ln w="12700" cap="flat" cmpd="sng">
            <a:solidFill>
              <a:srgbClr val="FFFDF9">
                <a:alpha val="0"/>
              </a:srgbClr>
            </a:solidFill>
            <a:prstDash val="solid"/>
            <a:round/>
          </a:ln>
        </p:spPr>
      </p:sp>
      <p:sp>
        <p:nvSpPr>
          <p:cNvPr id="458" name="圆角矩形"/>
          <p:cNvSpPr>
            <a:spLocks/>
          </p:cNvSpPr>
          <p:nvPr/>
        </p:nvSpPr>
        <p:spPr>
          <a:xfrm>
            <a:off x="1024127" y="2450591"/>
            <a:ext cx="630935"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459" name="矩形"/>
          <p:cNvSpPr>
            <a:spLocks/>
          </p:cNvSpPr>
          <p:nvPr/>
        </p:nvSpPr>
        <p:spPr>
          <a:xfrm>
            <a:off x="1161288" y="2505456"/>
            <a:ext cx="356613"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526F5F"/>
                </a:solidFill>
                <a:latin typeface="Lato" charset="0"/>
                <a:ea typeface="Lato" charset="0"/>
                <a:cs typeface="Lato" charset="0"/>
              </a:rPr>
              <a:t>01</a:t>
            </a:r>
            <a:endParaRPr lang="zh-CN" altLang="en-US" sz="1100" b="0" i="0" u="none" strike="noStrike" kern="1200" cap="none" spc="0" baseline="0">
              <a:solidFill>
                <a:schemeClr val="tx1"/>
              </a:solidFill>
              <a:latin typeface="Lato" charset="0"/>
              <a:ea typeface="等线" charset="0"/>
              <a:cs typeface="Lato" charset="0"/>
            </a:endParaRPr>
          </a:p>
        </p:txBody>
      </p:sp>
      <p:sp>
        <p:nvSpPr>
          <p:cNvPr id="460" name="矩形"/>
          <p:cNvSpPr>
            <a:spLocks/>
          </p:cNvSpPr>
          <p:nvPr/>
        </p:nvSpPr>
        <p:spPr>
          <a:xfrm>
            <a:off x="1014984" y="2962656"/>
            <a:ext cx="3026662"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450" b="0" i="0" u="none" strike="noStrike" kern="1200" cap="none" spc="0" baseline="0">
                <a:solidFill>
                  <a:srgbClr val="37443B"/>
                </a:solidFill>
                <a:latin typeface="Georgia" charset="0"/>
                <a:ea typeface="Georgia" charset="0"/>
                <a:cs typeface="Georgia" charset="0"/>
              </a:rPr>
              <a:t>Willingness</a:t>
            </a:r>
            <a:endParaRPr lang="zh-CN" altLang="en-US" sz="2450" b="0" i="0" u="none" strike="noStrike" kern="1200" cap="none" spc="0" baseline="0">
              <a:solidFill>
                <a:schemeClr val="tx1"/>
              </a:solidFill>
              <a:latin typeface="Lato" charset="0"/>
              <a:ea typeface="等线" charset="0"/>
              <a:cs typeface="Lato" charset="0"/>
            </a:endParaRPr>
          </a:p>
        </p:txBody>
      </p:sp>
      <p:sp>
        <p:nvSpPr>
          <p:cNvPr id="461" name="矩形"/>
          <p:cNvSpPr>
            <a:spLocks/>
          </p:cNvSpPr>
          <p:nvPr/>
        </p:nvSpPr>
        <p:spPr>
          <a:xfrm>
            <a:off x="1014984" y="3639312"/>
            <a:ext cx="3063239" cy="97840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690" b="0" i="0" u="none" strike="noStrike" kern="1200" cap="none" spc="0" baseline="0">
                <a:solidFill>
                  <a:srgbClr val="7D8478"/>
                </a:solidFill>
                <a:latin typeface="Lato" charset="0"/>
                <a:ea typeface="Lato" charset="0"/>
                <a:cs typeface="Lato" charset="0"/>
              </a:rPr>
              <a:t>Would you accept a lower rate per room for several nearby rooms?</a:t>
            </a:r>
            <a:endParaRPr lang="zh-CN" altLang="en-US" sz="1690" b="0" i="0" u="none" strike="noStrike" kern="1200" cap="none" spc="0" baseline="0">
              <a:solidFill>
                <a:schemeClr val="tx1"/>
              </a:solidFill>
              <a:latin typeface="Lato" charset="0"/>
              <a:ea typeface="等线" charset="0"/>
              <a:cs typeface="Lato" charset="0"/>
            </a:endParaRPr>
          </a:p>
        </p:txBody>
      </p:sp>
      <p:sp>
        <p:nvSpPr>
          <p:cNvPr id="462" name="圆角矩形"/>
          <p:cNvSpPr>
            <a:spLocks/>
          </p:cNvSpPr>
          <p:nvPr/>
        </p:nvSpPr>
        <p:spPr>
          <a:xfrm>
            <a:off x="4608576" y="2176272"/>
            <a:ext cx="3584448" cy="3026662"/>
          </a:xfrm>
          <a:prstGeom prst="roundRect">
            <a:avLst>
              <a:gd name="adj" fmla="val 6041"/>
            </a:avLst>
          </a:prstGeom>
          <a:solidFill>
            <a:srgbClr val="F7E7DA"/>
          </a:solidFill>
          <a:ln w="12700" cap="flat" cmpd="sng">
            <a:solidFill>
              <a:srgbClr val="F7E7DA">
                <a:alpha val="0"/>
              </a:srgbClr>
            </a:solidFill>
            <a:prstDash val="solid"/>
            <a:round/>
          </a:ln>
        </p:spPr>
      </p:sp>
      <p:sp>
        <p:nvSpPr>
          <p:cNvPr id="463" name="圆角矩形"/>
          <p:cNvSpPr>
            <a:spLocks/>
          </p:cNvSpPr>
          <p:nvPr/>
        </p:nvSpPr>
        <p:spPr>
          <a:xfrm>
            <a:off x="4864608" y="2450591"/>
            <a:ext cx="630936"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464" name="矩形"/>
          <p:cNvSpPr>
            <a:spLocks/>
          </p:cNvSpPr>
          <p:nvPr/>
        </p:nvSpPr>
        <p:spPr>
          <a:xfrm>
            <a:off x="5001768" y="2505456"/>
            <a:ext cx="356615"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526F5F"/>
                </a:solidFill>
                <a:latin typeface="Lato" charset="0"/>
                <a:ea typeface="Lato" charset="0"/>
                <a:cs typeface="Lato" charset="0"/>
              </a:rPr>
              <a:t>02</a:t>
            </a:r>
            <a:endParaRPr lang="zh-CN" altLang="en-US" sz="1100" b="0" i="0" u="none" strike="noStrike" kern="1200" cap="none" spc="0" baseline="0">
              <a:solidFill>
                <a:schemeClr val="tx1"/>
              </a:solidFill>
              <a:latin typeface="Lato" charset="0"/>
              <a:ea typeface="等线" charset="0"/>
              <a:cs typeface="Lato" charset="0"/>
            </a:endParaRPr>
          </a:p>
        </p:txBody>
      </p:sp>
      <p:sp>
        <p:nvSpPr>
          <p:cNvPr id="465" name="矩形"/>
          <p:cNvSpPr>
            <a:spLocks/>
          </p:cNvSpPr>
          <p:nvPr/>
        </p:nvSpPr>
        <p:spPr>
          <a:xfrm>
            <a:off x="4855464" y="2962656"/>
            <a:ext cx="3026661"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450" b="0" i="0" u="none" strike="noStrike" kern="1200" cap="none" spc="0" baseline="0">
                <a:solidFill>
                  <a:srgbClr val="37443B"/>
                </a:solidFill>
                <a:latin typeface="Georgia" charset="0"/>
                <a:ea typeface="Georgia" charset="0"/>
                <a:cs typeface="Georgia" charset="0"/>
              </a:rPr>
              <a:t>Operations</a:t>
            </a:r>
            <a:endParaRPr lang="zh-CN" altLang="en-US" sz="2450" b="0" i="0" u="none" strike="noStrike" kern="1200" cap="none" spc="0" baseline="0">
              <a:solidFill>
                <a:schemeClr val="tx1"/>
              </a:solidFill>
              <a:latin typeface="Lato" charset="0"/>
              <a:ea typeface="等线" charset="0"/>
              <a:cs typeface="Lato" charset="0"/>
            </a:endParaRPr>
          </a:p>
        </p:txBody>
      </p:sp>
      <p:sp>
        <p:nvSpPr>
          <p:cNvPr id="466" name="矩形"/>
          <p:cNvSpPr>
            <a:spLocks/>
          </p:cNvSpPr>
          <p:nvPr/>
        </p:nvSpPr>
        <p:spPr>
          <a:xfrm>
            <a:off x="4855464" y="3639312"/>
            <a:ext cx="3063240" cy="97840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690" b="0" i="0" u="none" strike="noStrike" kern="1200" cap="none" spc="0" baseline="0">
                <a:solidFill>
                  <a:srgbClr val="7D8478"/>
                </a:solidFill>
                <a:latin typeface="Lato" charset="0"/>
                <a:ea typeface="Lato" charset="0"/>
                <a:cs typeface="Lato" charset="0"/>
              </a:rPr>
              <a:t>How many rooms can you serve, and what takes the most time?</a:t>
            </a:r>
            <a:endParaRPr lang="zh-CN" altLang="en-US" sz="1690" b="0" i="0" u="none" strike="noStrike" kern="1200" cap="none" spc="0" baseline="0">
              <a:solidFill>
                <a:schemeClr val="tx1"/>
              </a:solidFill>
              <a:latin typeface="Lato" charset="0"/>
              <a:ea typeface="等线" charset="0"/>
              <a:cs typeface="Lato" charset="0"/>
            </a:endParaRPr>
          </a:p>
        </p:txBody>
      </p:sp>
      <p:sp>
        <p:nvSpPr>
          <p:cNvPr id="467" name="圆角矩形"/>
          <p:cNvSpPr>
            <a:spLocks/>
          </p:cNvSpPr>
          <p:nvPr/>
        </p:nvSpPr>
        <p:spPr>
          <a:xfrm>
            <a:off x="8449056" y="2176272"/>
            <a:ext cx="3584448" cy="3026662"/>
          </a:xfrm>
          <a:prstGeom prst="roundRect">
            <a:avLst>
              <a:gd name="adj" fmla="val 6041"/>
            </a:avLst>
          </a:prstGeom>
          <a:solidFill>
            <a:srgbClr val="FFFDF9"/>
          </a:solidFill>
          <a:ln w="12700" cap="flat" cmpd="sng">
            <a:solidFill>
              <a:srgbClr val="FFFDF9">
                <a:alpha val="0"/>
              </a:srgbClr>
            </a:solidFill>
            <a:prstDash val="solid"/>
            <a:round/>
          </a:ln>
        </p:spPr>
      </p:sp>
      <p:sp>
        <p:nvSpPr>
          <p:cNvPr id="468" name="圆角矩形"/>
          <p:cNvSpPr>
            <a:spLocks/>
          </p:cNvSpPr>
          <p:nvPr/>
        </p:nvSpPr>
        <p:spPr>
          <a:xfrm>
            <a:off x="8705088" y="2450591"/>
            <a:ext cx="630936"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469" name="矩形"/>
          <p:cNvSpPr>
            <a:spLocks/>
          </p:cNvSpPr>
          <p:nvPr/>
        </p:nvSpPr>
        <p:spPr>
          <a:xfrm>
            <a:off x="8842248" y="2505456"/>
            <a:ext cx="356615"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526F5F"/>
                </a:solidFill>
                <a:latin typeface="Lato" charset="0"/>
                <a:ea typeface="Lato" charset="0"/>
                <a:cs typeface="Lato" charset="0"/>
              </a:rPr>
              <a:t>03</a:t>
            </a:r>
            <a:endParaRPr lang="zh-CN" altLang="en-US" sz="1100" b="0" i="0" u="none" strike="noStrike" kern="1200" cap="none" spc="0" baseline="0">
              <a:solidFill>
                <a:schemeClr val="tx1"/>
              </a:solidFill>
              <a:latin typeface="Lato" charset="0"/>
              <a:ea typeface="等线" charset="0"/>
              <a:cs typeface="Lato" charset="0"/>
            </a:endParaRPr>
          </a:p>
        </p:txBody>
      </p:sp>
      <p:sp>
        <p:nvSpPr>
          <p:cNvPr id="470" name="矩形"/>
          <p:cNvSpPr>
            <a:spLocks/>
          </p:cNvSpPr>
          <p:nvPr/>
        </p:nvSpPr>
        <p:spPr>
          <a:xfrm>
            <a:off x="8695944" y="2962656"/>
            <a:ext cx="3026661"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450" b="0" i="0" u="none" strike="noStrike" kern="1200" cap="none" spc="0" baseline="0">
                <a:solidFill>
                  <a:srgbClr val="37443B"/>
                </a:solidFill>
                <a:latin typeface="Georgia" charset="0"/>
                <a:ea typeface="Georgia" charset="0"/>
                <a:cs typeface="Georgia" charset="0"/>
              </a:rPr>
              <a:t>Boundaries</a:t>
            </a:r>
            <a:endParaRPr lang="zh-CN" altLang="en-US" sz="2450" b="0" i="0" u="none" strike="noStrike" kern="1200" cap="none" spc="0" baseline="0">
              <a:solidFill>
                <a:schemeClr val="tx1"/>
              </a:solidFill>
              <a:latin typeface="Lato" charset="0"/>
              <a:ea typeface="等线" charset="0"/>
              <a:cs typeface="Lato" charset="0"/>
            </a:endParaRPr>
          </a:p>
        </p:txBody>
      </p:sp>
      <p:sp>
        <p:nvSpPr>
          <p:cNvPr id="471" name="矩形"/>
          <p:cNvSpPr>
            <a:spLocks/>
          </p:cNvSpPr>
          <p:nvPr/>
        </p:nvSpPr>
        <p:spPr>
          <a:xfrm>
            <a:off x="8695944" y="3639312"/>
            <a:ext cx="3063240" cy="97840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690" b="0" i="0" u="none" strike="noStrike" kern="1200" cap="none" spc="0" baseline="0">
                <a:solidFill>
                  <a:srgbClr val="7D8478"/>
                </a:solidFill>
                <a:latin typeface="Lato" charset="0"/>
                <a:ea typeface="Lato" charset="0"/>
                <a:cs typeface="Lato" charset="0"/>
              </a:rPr>
              <a:t>What are your minimum fee, safety needs and service limits?</a:t>
            </a:r>
            <a:endParaRPr lang="zh-CN" altLang="en-US" sz="1690" b="0" i="0" u="none" strike="noStrike" kern="1200" cap="none" spc="0" baseline="0">
              <a:solidFill>
                <a:schemeClr val="tx1"/>
              </a:solidFill>
              <a:latin typeface="Lato" charset="0"/>
              <a:ea typeface="等线" charset="0"/>
              <a:cs typeface="Lato" charset="0"/>
            </a:endParaRPr>
          </a:p>
        </p:txBody>
      </p:sp>
      <p:sp>
        <p:nvSpPr>
          <p:cNvPr id="472" name="圆角矩形"/>
          <p:cNvSpPr>
            <a:spLocks/>
          </p:cNvSpPr>
          <p:nvPr/>
        </p:nvSpPr>
        <p:spPr>
          <a:xfrm>
            <a:off x="1517904" y="5596128"/>
            <a:ext cx="912571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473" name="矩形"/>
          <p:cNvSpPr>
            <a:spLocks/>
          </p:cNvSpPr>
          <p:nvPr/>
        </p:nvSpPr>
        <p:spPr>
          <a:xfrm>
            <a:off x="1655063" y="5650992"/>
            <a:ext cx="885139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526F5F"/>
                </a:solidFill>
                <a:latin typeface="Lato" charset="0"/>
                <a:ea typeface="Lato" charset="0"/>
                <a:cs typeface="Lato" charset="0"/>
              </a:rPr>
              <a:t>Decision: continue, refine the model, or rethink the approach.</a:t>
            </a:r>
            <a:endParaRPr lang="zh-CN" altLang="en-US" sz="1400" b="0" i="0" u="none" strike="noStrike" kern="1200" cap="none" spc="0" baseline="0">
              <a:solidFill>
                <a:schemeClr val="tx1"/>
              </a:solidFill>
              <a:latin typeface="Lato" charset="0"/>
              <a:ea typeface="等线" charset="0"/>
              <a:cs typeface="Lato" charset="0"/>
            </a:endParaRPr>
          </a:p>
        </p:txBody>
      </p:sp>
      <p:sp>
        <p:nvSpPr>
          <p:cNvPr id="474" name="矩形"/>
          <p:cNvSpPr>
            <a:spLocks/>
          </p:cNvSpPr>
          <p:nvPr/>
        </p:nvSpPr>
        <p:spPr>
          <a:xfrm>
            <a:off x="731520" y="6163056"/>
            <a:ext cx="10789920" cy="1828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30" b="0" i="0" u="none" strike="noStrike" kern="1200" cap="none" spc="0" baseline="0">
                <a:solidFill>
                  <a:srgbClr val="7D8478"/>
                </a:solidFill>
                <a:latin typeface="Lato" charset="0"/>
                <a:ea typeface="Lato" charset="0"/>
                <a:cs typeface="Lato" charset="0"/>
              </a:rPr>
              <a:t>First interview objective comes directly from CEM pre.docx; specific questions are proposed test design.</a:t>
            </a:r>
            <a:endParaRPr lang="zh-CN" altLang="en-US" sz="9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1133082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480"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481"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WHERE WE STAND</a:t>
            </a:r>
            <a:endParaRPr lang="zh-CN" altLang="en-US" sz="950" b="0" i="0" u="none" strike="noStrike" kern="1200" cap="none" spc="0" baseline="0">
              <a:solidFill>
                <a:schemeClr val="tx1"/>
              </a:solidFill>
              <a:latin typeface="Lato" charset="0"/>
              <a:ea typeface="等线" charset="0"/>
              <a:cs typeface="Lato" charset="0"/>
            </a:endParaRPr>
          </a:p>
        </p:txBody>
      </p:sp>
      <p:sp>
        <p:nvSpPr>
          <p:cNvPr id="482"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483"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484"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18  /  19</a:t>
            </a:r>
            <a:endParaRPr lang="zh-CN" altLang="en-US" sz="950" b="0" i="0" u="none" strike="noStrike" kern="1200" cap="none" spc="0" baseline="0">
              <a:solidFill>
                <a:schemeClr val="tx1"/>
              </a:solidFill>
              <a:latin typeface="Lato" charset="0"/>
              <a:ea typeface="等线" charset="0"/>
              <a:cs typeface="Lato" charset="0"/>
            </a:endParaRPr>
          </a:p>
        </p:txBody>
      </p:sp>
      <p:sp>
        <p:nvSpPr>
          <p:cNvPr id="485"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What we know. What we still need to learn.</a:t>
            </a:r>
            <a:endParaRPr lang="zh-CN" altLang="en-US" sz="3050" b="0" i="0" u="none" strike="noStrike" kern="1200" cap="none" spc="0" baseline="0">
              <a:solidFill>
                <a:schemeClr val="tx1"/>
              </a:solidFill>
              <a:latin typeface="Lato" charset="0"/>
              <a:ea typeface="等线" charset="0"/>
              <a:cs typeface="Lato" charset="0"/>
            </a:endParaRPr>
          </a:p>
        </p:txBody>
      </p:sp>
      <p:sp>
        <p:nvSpPr>
          <p:cNvPr id="486"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Evidence gives us direction—not permission to overclaim.</a:t>
            </a:r>
            <a:endParaRPr lang="zh-CN" altLang="en-US" sz="1550" b="0" i="0" u="none" strike="noStrike" kern="1200" cap="none" spc="0" baseline="0">
              <a:solidFill>
                <a:schemeClr val="tx1"/>
              </a:solidFill>
              <a:latin typeface="Lato" charset="0"/>
              <a:ea typeface="等线" charset="0"/>
              <a:cs typeface="Lato" charset="0"/>
            </a:endParaRPr>
          </a:p>
        </p:txBody>
      </p:sp>
      <p:sp>
        <p:nvSpPr>
          <p:cNvPr id="487" name="圆角矩形"/>
          <p:cNvSpPr>
            <a:spLocks/>
          </p:cNvSpPr>
          <p:nvPr/>
        </p:nvSpPr>
        <p:spPr>
          <a:xfrm>
            <a:off x="777240" y="1956816"/>
            <a:ext cx="5157216" cy="3483863"/>
          </a:xfrm>
          <a:prstGeom prst="roundRect">
            <a:avLst>
              <a:gd name="adj" fmla="val 5250"/>
            </a:avLst>
          </a:prstGeom>
          <a:solidFill>
            <a:srgbClr val="EBF0E7"/>
          </a:solidFill>
          <a:ln w="12700" cap="flat" cmpd="sng">
            <a:solidFill>
              <a:srgbClr val="EBF0E7">
                <a:alpha val="0"/>
              </a:srgbClr>
            </a:solidFill>
            <a:prstDash val="solid"/>
            <a:round/>
          </a:ln>
        </p:spPr>
      </p:sp>
      <p:sp>
        <p:nvSpPr>
          <p:cNvPr id="488" name="圆角矩形"/>
          <p:cNvSpPr>
            <a:spLocks/>
          </p:cNvSpPr>
          <p:nvPr/>
        </p:nvSpPr>
        <p:spPr>
          <a:xfrm>
            <a:off x="6163056" y="1956816"/>
            <a:ext cx="5148072" cy="3483863"/>
          </a:xfrm>
          <a:prstGeom prst="roundRect">
            <a:avLst>
              <a:gd name="adj" fmla="val 5250"/>
            </a:avLst>
          </a:prstGeom>
          <a:solidFill>
            <a:srgbClr val="F7E7DA"/>
          </a:solidFill>
          <a:ln w="12700" cap="flat" cmpd="sng">
            <a:solidFill>
              <a:srgbClr val="F7E7DA">
                <a:alpha val="0"/>
              </a:srgbClr>
            </a:solidFill>
            <a:prstDash val="solid"/>
            <a:round/>
          </a:ln>
        </p:spPr>
      </p:sp>
      <p:sp>
        <p:nvSpPr>
          <p:cNvPr id="489" name="矩形"/>
          <p:cNvSpPr>
            <a:spLocks/>
          </p:cNvSpPr>
          <p:nvPr/>
        </p:nvSpPr>
        <p:spPr>
          <a:xfrm>
            <a:off x="1069848" y="2267712"/>
            <a:ext cx="4517136" cy="31089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70" b="1" i="0" u="none" strike="noStrike" kern="0" cap="none" spc="170" baseline="0">
                <a:solidFill>
                  <a:srgbClr val="526F5F"/>
                </a:solidFill>
                <a:latin typeface="Lato" charset="0"/>
                <a:ea typeface="Lato" charset="0"/>
                <a:cs typeface="Lato" charset="0"/>
              </a:rPr>
              <a:t>SUPPORTED SO FAR</a:t>
            </a:r>
            <a:endParaRPr lang="zh-CN" altLang="en-US" sz="1470" b="0" i="0" u="none" strike="noStrike" kern="1200" cap="none" spc="0" baseline="0">
              <a:solidFill>
                <a:schemeClr val="tx1"/>
              </a:solidFill>
              <a:latin typeface="Lato" charset="0"/>
              <a:ea typeface="等线" charset="0"/>
              <a:cs typeface="Lato" charset="0"/>
            </a:endParaRPr>
          </a:p>
        </p:txBody>
      </p:sp>
      <p:sp>
        <p:nvSpPr>
          <p:cNvPr id="490" name="矩形"/>
          <p:cNvSpPr>
            <a:spLocks/>
          </p:cNvSpPr>
          <p:nvPr/>
        </p:nvSpPr>
        <p:spPr>
          <a:xfrm>
            <a:off x="1069848" y="2825496"/>
            <a:ext cx="4489703" cy="221284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Cleaning duties can feel unfair</a:t>
            </a: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Some students already pay</a:t>
            </a: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Shared costs are preferred</a:t>
            </a:r>
            <a:endParaRPr lang="zh-CN" altLang="en-US" sz="1950" b="0" i="0" u="none" strike="noStrike" kern="1200" cap="none" spc="0" baseline="0">
              <a:solidFill>
                <a:schemeClr val="tx1"/>
              </a:solidFill>
              <a:latin typeface="Lato" charset="0"/>
              <a:ea typeface="等线" charset="0"/>
              <a:cs typeface="Lato" charset="0"/>
            </a:endParaRPr>
          </a:p>
        </p:txBody>
      </p:sp>
      <p:sp>
        <p:nvSpPr>
          <p:cNvPr id="491" name="矩形"/>
          <p:cNvSpPr>
            <a:spLocks/>
          </p:cNvSpPr>
          <p:nvPr/>
        </p:nvSpPr>
        <p:spPr>
          <a:xfrm>
            <a:off x="6473951" y="2267712"/>
            <a:ext cx="4562855" cy="31089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70" b="1" i="0" u="none" strike="noStrike" kern="0" cap="none" spc="170" baseline="0">
                <a:solidFill>
                  <a:srgbClr val="CE8067"/>
                </a:solidFill>
                <a:latin typeface="Lato" charset="0"/>
                <a:ea typeface="Lato" charset="0"/>
                <a:cs typeface="Lato" charset="0"/>
              </a:rPr>
              <a:t>STILL TO VALIDATE</a:t>
            </a:r>
            <a:endParaRPr lang="zh-CN" altLang="en-US" sz="1470" b="0" i="0" u="none" strike="noStrike" kern="1200" cap="none" spc="0" baseline="0">
              <a:solidFill>
                <a:schemeClr val="tx1"/>
              </a:solidFill>
              <a:latin typeface="Lato" charset="0"/>
              <a:ea typeface="等线" charset="0"/>
              <a:cs typeface="Lato" charset="0"/>
            </a:endParaRPr>
          </a:p>
        </p:txBody>
      </p:sp>
      <p:sp>
        <p:nvSpPr>
          <p:cNvPr id="492" name="矩形"/>
          <p:cNvSpPr>
            <a:spLocks/>
          </p:cNvSpPr>
          <p:nvPr/>
        </p:nvSpPr>
        <p:spPr>
          <a:xfrm>
            <a:off x="6473951" y="2825496"/>
            <a:ext cx="4553712" cy="221284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Will users change platforms?</a:t>
            </a: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Will cleaners accept the model?</a:t>
            </a: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endParaRPr lang="en-US" altLang="zh-CN" sz="195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1950" b="0" i="0" u="none" strike="noStrike" kern="1200" cap="none" spc="0" baseline="0">
                <a:solidFill>
                  <a:srgbClr val="37443B"/>
                </a:solidFill>
                <a:latin typeface="Lato" charset="0"/>
                <a:ea typeface="Lato" charset="0"/>
                <a:cs typeface="Lato" charset="0"/>
              </a:rPr>
              <a:t>?  Can both sides benefit?</a:t>
            </a:r>
            <a:endParaRPr lang="zh-CN" altLang="en-US" sz="195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248755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498"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499"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THANK YOU</a:t>
            </a:r>
            <a:endParaRPr lang="zh-CN" altLang="en-US" sz="950" b="0" i="0" u="none" strike="noStrike" kern="1200" cap="none" spc="0" baseline="0">
              <a:solidFill>
                <a:schemeClr val="tx1"/>
              </a:solidFill>
              <a:latin typeface="Lato" charset="0"/>
              <a:ea typeface="等线" charset="0"/>
              <a:cs typeface="Lato" charset="0"/>
            </a:endParaRPr>
          </a:p>
        </p:txBody>
      </p:sp>
      <p:sp>
        <p:nvSpPr>
          <p:cNvPr id="500"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501"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502" name="矩形"/>
          <p:cNvSpPr>
            <a:spLocks/>
          </p:cNvSpPr>
          <p:nvPr/>
        </p:nvSpPr>
        <p:spPr>
          <a:xfrm>
            <a:off x="10625328" y="6519671"/>
            <a:ext cx="914400" cy="1737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0" u="none" strike="noStrike" kern="1200" cap="none" spc="0" baseline="0">
                <a:solidFill>
                  <a:srgbClr val="7D8478"/>
                </a:solidFill>
                <a:latin typeface="Lato" charset="0"/>
                <a:ea typeface="Lato" charset="0"/>
                <a:cs typeface="Lato" charset="0"/>
              </a:rPr>
              <a:t>19 /  19</a:t>
            </a:r>
            <a:endParaRPr lang="zh-CN" altLang="en-US" sz="950" b="0" i="0" u="none" strike="noStrike" kern="1200" cap="none" spc="0" baseline="0">
              <a:solidFill>
                <a:schemeClr val="tx1"/>
              </a:solidFill>
              <a:latin typeface="Lato" charset="0"/>
              <a:ea typeface="等线" charset="0"/>
              <a:cs typeface="Lato" charset="0"/>
            </a:endParaRPr>
          </a:p>
        </p:txBody>
      </p:sp>
      <p:pic>
        <p:nvPicPr>
          <p:cNvPr id="503" name="图片" descr="/mnt/data/jebo_assets/room.png"/>
          <p:cNvPicPr>
            <a:picLocks noChangeAspect="1"/>
          </p:cNvPicPr>
          <p:nvPr/>
        </p:nvPicPr>
        <p:blipFill>
          <a:blip r:embed="rId4" cstate="print"/>
          <a:stretch>
            <a:fillRect/>
          </a:stretch>
        </p:blipFill>
        <p:spPr>
          <a:xfrm>
            <a:off x="6510528" y="1124712"/>
            <a:ext cx="5065775" cy="4544568"/>
          </a:xfrm>
          <a:prstGeom prst="rect">
            <a:avLst/>
          </a:prstGeom>
          <a:noFill/>
          <a:ln w="12700" cap="flat" cmpd="sng">
            <a:noFill/>
            <a:prstDash val="solid"/>
            <a:miter/>
          </a:ln>
        </p:spPr>
      </p:pic>
      <p:sp>
        <p:nvSpPr>
          <p:cNvPr id="504" name="矩形"/>
          <p:cNvSpPr>
            <a:spLocks/>
          </p:cNvSpPr>
          <p:nvPr/>
        </p:nvSpPr>
        <p:spPr>
          <a:xfrm>
            <a:off x="905256" y="1856232"/>
            <a:ext cx="5760720" cy="1490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4070" b="0" i="0" u="none" strike="noStrike" kern="1200" cap="none" spc="0" baseline="0">
                <a:solidFill>
                  <a:srgbClr val="40584C"/>
                </a:solidFill>
                <a:latin typeface="Georgia" charset="0"/>
                <a:ea typeface="Georgia" charset="0"/>
                <a:cs typeface="Georgia" charset="0"/>
              </a:rPr>
              <a:t>Small chores.</a:t>
            </a:r>
            <a:endParaRPr lang="en-US" altLang="zh-CN" sz="4070" b="0" i="0" u="none" strike="noStrike" kern="1200" cap="none" spc="0" baseline="0">
              <a:solidFill>
                <a:schemeClr val="tx1"/>
              </a:solidFill>
              <a:latin typeface="Lato" charset="0"/>
              <a:ea typeface="等线" charset="0"/>
              <a:cs typeface="Lato" charset="0"/>
            </a:endParaRPr>
          </a:p>
          <a:p>
            <a:pPr marL="0" indent="0" algn="l">
              <a:lnSpc>
                <a:spcPct val="100000"/>
              </a:lnSpc>
              <a:spcBef>
                <a:spcPts val="0"/>
              </a:spcBef>
              <a:spcAft>
                <a:spcPts val="0"/>
              </a:spcAft>
              <a:buNone/>
            </a:pPr>
            <a:r>
              <a:rPr lang="en-US" altLang="zh-CN" sz="4070" b="0" i="0" u="none" strike="noStrike" kern="1200" cap="none" spc="0" baseline="0">
                <a:solidFill>
                  <a:srgbClr val="40584C"/>
                </a:solidFill>
                <a:latin typeface="Georgia" charset="0"/>
                <a:ea typeface="Georgia" charset="0"/>
                <a:cs typeface="Georgia" charset="0"/>
              </a:rPr>
              <a:t>Better living.</a:t>
            </a:r>
            <a:endParaRPr lang="zh-CN" altLang="en-US" sz="4070" b="0" i="0" u="none" strike="noStrike" kern="1200" cap="none" spc="0" baseline="0">
              <a:solidFill>
                <a:schemeClr val="tx1"/>
              </a:solidFill>
              <a:latin typeface="Lato" charset="0"/>
              <a:ea typeface="等线" charset="0"/>
              <a:cs typeface="Lato" charset="0"/>
            </a:endParaRPr>
          </a:p>
        </p:txBody>
      </p:sp>
      <p:sp>
        <p:nvSpPr>
          <p:cNvPr id="505" name="矩形"/>
          <p:cNvSpPr>
            <a:spLocks/>
          </p:cNvSpPr>
          <p:nvPr/>
        </p:nvSpPr>
        <p:spPr>
          <a:xfrm>
            <a:off x="923544" y="3867912"/>
            <a:ext cx="5394960"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0" i="0" u="none" strike="noStrike" kern="1200" cap="none" spc="0" baseline="0">
                <a:solidFill>
                  <a:srgbClr val="37443B"/>
                </a:solidFill>
                <a:latin typeface="Lato" charset="0"/>
                <a:ea typeface="Lato" charset="0"/>
                <a:cs typeface="Lato" charset="0"/>
              </a:rPr>
              <a:t>Thank you for listening.</a:t>
            </a:r>
            <a:endParaRPr lang="zh-CN" altLang="en-US" sz="2200" b="0" i="0" u="none" strike="noStrike" kern="1200" cap="none" spc="0" baseline="0">
              <a:solidFill>
                <a:schemeClr val="tx1"/>
              </a:solidFill>
              <a:latin typeface="Lato" charset="0"/>
              <a:ea typeface="等线" charset="0"/>
              <a:cs typeface="Lato" charset="0"/>
            </a:endParaRPr>
          </a:p>
        </p:txBody>
      </p:sp>
      <p:sp>
        <p:nvSpPr>
          <p:cNvPr id="506" name="圆角矩形"/>
          <p:cNvSpPr>
            <a:spLocks/>
          </p:cNvSpPr>
          <p:nvPr/>
        </p:nvSpPr>
        <p:spPr>
          <a:xfrm>
            <a:off x="923544" y="4572000"/>
            <a:ext cx="3182112" cy="384048"/>
          </a:xfrm>
          <a:prstGeom prst="roundRect">
            <a:avLst>
              <a:gd name="adj" fmla="val 35712"/>
            </a:avLst>
          </a:prstGeom>
          <a:solidFill>
            <a:srgbClr val="DDE8DD"/>
          </a:solidFill>
          <a:ln w="12700" cap="flat" cmpd="sng">
            <a:solidFill>
              <a:srgbClr val="DDE8DD">
                <a:alpha val="0"/>
              </a:srgbClr>
            </a:solidFill>
            <a:prstDash val="solid"/>
            <a:round/>
          </a:ln>
        </p:spPr>
      </p:sp>
      <p:sp>
        <p:nvSpPr>
          <p:cNvPr id="507" name="矩形"/>
          <p:cNvSpPr>
            <a:spLocks/>
          </p:cNvSpPr>
          <p:nvPr/>
        </p:nvSpPr>
        <p:spPr>
          <a:xfrm>
            <a:off x="1060704" y="4626864"/>
            <a:ext cx="2907792"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30" b="1" i="0" u="none" strike="noStrike" kern="1200" cap="none" spc="0" baseline="0">
                <a:solidFill>
                  <a:srgbClr val="526F5F"/>
                </a:solidFill>
                <a:latin typeface="Lato" charset="0"/>
                <a:ea typeface="Lato" charset="0"/>
                <a:cs typeface="Lato" charset="0"/>
              </a:rPr>
              <a:t>Questions &amp; discussion</a:t>
            </a:r>
            <a:endParaRPr lang="zh-CN" altLang="en-US" sz="133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78401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pic>
        <p:nvPicPr>
          <p:cNvPr id="513" name="图片" descr="/mnt/data/jebo_assets/corners.png"/>
          <p:cNvPicPr>
            <a:picLocks noChangeAspect="1"/>
          </p:cNvPicPr>
          <p:nvPr/>
        </p:nvPicPr>
        <p:blipFill>
          <a:blip r:embed="rId3" cstate="print"/>
          <a:stretch>
            <a:fillRect/>
          </a:stretch>
        </p:blipFill>
        <p:spPr>
          <a:xfrm>
            <a:off x="0" y="0"/>
            <a:ext cx="12191694" cy="6858000"/>
          </a:xfrm>
          <a:prstGeom prst="rect">
            <a:avLst/>
          </a:prstGeom>
          <a:noFill/>
          <a:ln w="12700" cap="flat" cmpd="sng">
            <a:noFill/>
            <a:prstDash val="solid"/>
            <a:miter/>
          </a:ln>
        </p:spPr>
      </p:pic>
      <p:sp>
        <p:nvSpPr>
          <p:cNvPr id="514" name="矩形"/>
          <p:cNvSpPr>
            <a:spLocks/>
          </p:cNvSpPr>
          <p:nvPr/>
        </p:nvSpPr>
        <p:spPr>
          <a:xfrm>
            <a:off x="722376" y="356616"/>
            <a:ext cx="8229599" cy="1828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0" cap="none" spc="300" baseline="0">
                <a:solidFill>
                  <a:srgbClr val="CE8067"/>
                </a:solidFill>
                <a:latin typeface="Lato" charset="0"/>
                <a:ea typeface="Lato" charset="0"/>
                <a:cs typeface="Lato" charset="0"/>
              </a:rPr>
              <a:t>SELECTED REFERENCES</a:t>
            </a:r>
            <a:endParaRPr lang="zh-CN" altLang="en-US" sz="950" b="0" i="0" u="none" strike="noStrike" kern="1200" cap="none" spc="0" baseline="0">
              <a:solidFill>
                <a:schemeClr val="tx1"/>
              </a:solidFill>
              <a:latin typeface="Lato" charset="0"/>
              <a:ea typeface="等线" charset="0"/>
              <a:cs typeface="Lato" charset="0"/>
            </a:endParaRPr>
          </a:p>
        </p:txBody>
      </p:sp>
      <p:sp>
        <p:nvSpPr>
          <p:cNvPr id="515" name="直线"/>
          <p:cNvSpPr>
            <a:spLocks/>
          </p:cNvSpPr>
          <p:nvPr/>
        </p:nvSpPr>
        <p:spPr>
          <a:xfrm>
            <a:off x="731520" y="6455664"/>
            <a:ext cx="10771632" cy="0"/>
          </a:xfrm>
          <a:prstGeom prst="line">
            <a:avLst/>
          </a:prstGeom>
          <a:noFill/>
          <a:ln w="9525" cap="flat" cmpd="sng">
            <a:solidFill>
              <a:srgbClr val="DDDCD1"/>
            </a:solidFill>
            <a:prstDash val="solid"/>
            <a:round/>
          </a:ln>
        </p:spPr>
      </p:sp>
      <p:sp>
        <p:nvSpPr>
          <p:cNvPr id="516" name="矩形"/>
          <p:cNvSpPr>
            <a:spLocks/>
          </p:cNvSpPr>
          <p:nvPr/>
        </p:nvSpPr>
        <p:spPr>
          <a:xfrm>
            <a:off x="731520" y="6537960"/>
            <a:ext cx="4571997" cy="1554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860" b="0" i="0" u="none" strike="noStrike" kern="0" cap="none" spc="110" baseline="0">
                <a:solidFill>
                  <a:srgbClr val="7D8478"/>
                </a:solidFill>
                <a:latin typeface="Lato" charset="0"/>
                <a:ea typeface="Lato" charset="0"/>
                <a:cs typeface="Lato" charset="0"/>
              </a:rPr>
              <a:t>JEBO  /  MIDTERM PRESENTATION</a:t>
            </a:r>
            <a:endParaRPr lang="zh-CN" altLang="en-US" sz="860" b="0" i="0" u="none" strike="noStrike" kern="1200" cap="none" spc="0" baseline="0">
              <a:solidFill>
                <a:schemeClr val="tx1"/>
              </a:solidFill>
              <a:latin typeface="Lato" charset="0"/>
              <a:ea typeface="等线" charset="0"/>
              <a:cs typeface="Lato" charset="0"/>
            </a:endParaRPr>
          </a:p>
        </p:txBody>
      </p:sp>
      <p:sp>
        <p:nvSpPr>
          <p:cNvPr id="518" name="矩形"/>
          <p:cNvSpPr>
            <a:spLocks/>
          </p:cNvSpPr>
          <p:nvPr/>
        </p:nvSpPr>
        <p:spPr>
          <a:xfrm>
            <a:off x="722376" y="722376"/>
            <a:ext cx="10826496" cy="62179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3050" b="0" i="0" u="none" strike="noStrike" kern="1200" cap="none" spc="0" baseline="0">
                <a:solidFill>
                  <a:srgbClr val="37443B"/>
                </a:solidFill>
                <a:latin typeface="Georgia" charset="0"/>
                <a:ea typeface="Georgia" charset="0"/>
                <a:cs typeface="Georgia" charset="0"/>
              </a:rPr>
              <a:t>Evidence and references</a:t>
            </a:r>
            <a:endParaRPr lang="zh-CN" altLang="en-US" sz="3050" b="0" i="0" u="none" strike="noStrike" kern="1200" cap="none" spc="0" baseline="0">
              <a:solidFill>
                <a:schemeClr val="tx1"/>
              </a:solidFill>
              <a:latin typeface="Lato" charset="0"/>
              <a:ea typeface="等线" charset="0"/>
              <a:cs typeface="Lato" charset="0"/>
            </a:endParaRPr>
          </a:p>
        </p:txBody>
      </p:sp>
      <p:sp>
        <p:nvSpPr>
          <p:cNvPr id="519" name="矩形"/>
          <p:cNvSpPr>
            <a:spLocks/>
          </p:cNvSpPr>
          <p:nvPr/>
        </p:nvSpPr>
        <p:spPr>
          <a:xfrm>
            <a:off x="740664" y="1408176"/>
            <a:ext cx="10698479" cy="41147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550" b="0" i="0" u="none" strike="noStrike" kern="1200" cap="none" spc="0" baseline="0">
                <a:solidFill>
                  <a:srgbClr val="7D8478"/>
                </a:solidFill>
                <a:latin typeface="Lato" charset="0"/>
                <a:ea typeface="Lato" charset="0"/>
                <a:cs typeface="Lato" charset="0"/>
              </a:rPr>
              <a:t>Sources used in the presentation</a:t>
            </a:r>
            <a:endParaRPr lang="zh-CN" altLang="en-US" sz="1550" b="0" i="0" u="none" strike="noStrike" kern="1200" cap="none" spc="0" baseline="0">
              <a:solidFill>
                <a:schemeClr val="tx1"/>
              </a:solidFill>
              <a:latin typeface="Lato" charset="0"/>
              <a:ea typeface="等线" charset="0"/>
              <a:cs typeface="Lato" charset="0"/>
            </a:endParaRPr>
          </a:p>
        </p:txBody>
      </p:sp>
      <p:sp>
        <p:nvSpPr>
          <p:cNvPr id="520" name="圆角矩形"/>
          <p:cNvSpPr>
            <a:spLocks/>
          </p:cNvSpPr>
          <p:nvPr/>
        </p:nvSpPr>
        <p:spPr>
          <a:xfrm>
            <a:off x="749808" y="1719072"/>
            <a:ext cx="10707624" cy="585216"/>
          </a:xfrm>
          <a:prstGeom prst="roundRect">
            <a:avLst>
              <a:gd name="adj" fmla="val 31250"/>
            </a:avLst>
          </a:prstGeom>
          <a:solidFill>
            <a:srgbClr val="FFFDF9"/>
          </a:solidFill>
          <a:ln w="12700" cap="flat" cmpd="sng">
            <a:solidFill>
              <a:srgbClr val="FFFDF9">
                <a:alpha val="0"/>
              </a:srgbClr>
            </a:solidFill>
            <a:prstDash val="solid"/>
            <a:round/>
          </a:ln>
        </p:spPr>
      </p:sp>
      <p:sp>
        <p:nvSpPr>
          <p:cNvPr id="521" name="矩形"/>
          <p:cNvSpPr>
            <a:spLocks/>
          </p:cNvSpPr>
          <p:nvPr/>
        </p:nvSpPr>
        <p:spPr>
          <a:xfrm>
            <a:off x="987551" y="1792224"/>
            <a:ext cx="10204705"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1. JEBO team. (2026). CEM midterm research notes and interview findings [Unpublished project document].</a:t>
            </a:r>
            <a:endParaRPr lang="zh-CN" altLang="en-US" sz="1265" b="0" i="0" u="none" strike="noStrike" kern="1200" cap="none" spc="0" baseline="0">
              <a:solidFill>
                <a:schemeClr val="tx1"/>
              </a:solidFill>
              <a:latin typeface="Lato" charset="0"/>
              <a:ea typeface="等线" charset="0"/>
              <a:cs typeface="Lato" charset="0"/>
            </a:endParaRPr>
          </a:p>
        </p:txBody>
      </p:sp>
      <p:sp>
        <p:nvSpPr>
          <p:cNvPr id="522" name="圆角矩形"/>
          <p:cNvSpPr>
            <a:spLocks/>
          </p:cNvSpPr>
          <p:nvPr/>
        </p:nvSpPr>
        <p:spPr>
          <a:xfrm>
            <a:off x="749808" y="2395728"/>
            <a:ext cx="10707624" cy="585216"/>
          </a:xfrm>
          <a:prstGeom prst="roundRect">
            <a:avLst>
              <a:gd name="adj" fmla="val 31250"/>
            </a:avLst>
          </a:prstGeom>
          <a:solidFill>
            <a:srgbClr val="EBF0E7"/>
          </a:solidFill>
          <a:ln w="12700" cap="flat" cmpd="sng">
            <a:solidFill>
              <a:srgbClr val="EBF0E7">
                <a:alpha val="0"/>
              </a:srgbClr>
            </a:solidFill>
            <a:prstDash val="solid"/>
            <a:round/>
          </a:ln>
        </p:spPr>
      </p:sp>
      <p:sp>
        <p:nvSpPr>
          <p:cNvPr id="523" name="矩形"/>
          <p:cNvSpPr>
            <a:spLocks/>
          </p:cNvSpPr>
          <p:nvPr/>
        </p:nvSpPr>
        <p:spPr>
          <a:xfrm>
            <a:off x="987551" y="2468880"/>
            <a:ext cx="10204705"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2. JEBO team. (2026). Dormitory cleaning questionnaire (n = 16) [Unpublished survey results].</a:t>
            </a:r>
            <a:endParaRPr lang="zh-CN" altLang="en-US" sz="1265" b="0" i="0" u="none" strike="noStrike" kern="1200" cap="none" spc="0" baseline="0">
              <a:solidFill>
                <a:schemeClr val="tx1"/>
              </a:solidFill>
              <a:latin typeface="Lato" charset="0"/>
              <a:ea typeface="等线" charset="0"/>
              <a:cs typeface="Lato" charset="0"/>
            </a:endParaRPr>
          </a:p>
        </p:txBody>
      </p:sp>
      <p:sp>
        <p:nvSpPr>
          <p:cNvPr id="524" name="圆角矩形"/>
          <p:cNvSpPr>
            <a:spLocks/>
          </p:cNvSpPr>
          <p:nvPr/>
        </p:nvSpPr>
        <p:spPr>
          <a:xfrm>
            <a:off x="749808" y="3072384"/>
            <a:ext cx="10707624" cy="585216"/>
          </a:xfrm>
          <a:prstGeom prst="roundRect">
            <a:avLst>
              <a:gd name="adj" fmla="val 31250"/>
            </a:avLst>
          </a:prstGeom>
          <a:solidFill>
            <a:srgbClr val="FFFDF9"/>
          </a:solidFill>
          <a:ln w="12700" cap="flat" cmpd="sng">
            <a:solidFill>
              <a:srgbClr val="FFFDF9">
                <a:alpha val="0"/>
              </a:srgbClr>
            </a:solidFill>
            <a:prstDash val="solid"/>
            <a:round/>
          </a:ln>
        </p:spPr>
      </p:sp>
      <p:sp>
        <p:nvSpPr>
          <p:cNvPr id="525" name="矩形"/>
          <p:cNvSpPr>
            <a:spLocks/>
          </p:cNvSpPr>
          <p:nvPr/>
        </p:nvSpPr>
        <p:spPr>
          <a:xfrm>
            <a:off x="987551" y="3145536"/>
            <a:ext cx="10204705"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3. Long, Z.-H., Zhang, L.-J., &amp; Wang, N. (2014). Investigating report on dormitory culture: Shaanxi Normal University.</a:t>
            </a:r>
            <a:endParaRPr lang="zh-CN" altLang="en-US" sz="1265" b="0" i="0" u="none" strike="noStrike" kern="1200" cap="none" spc="0" baseline="0">
              <a:solidFill>
                <a:schemeClr val="tx1"/>
              </a:solidFill>
              <a:latin typeface="Lato" charset="0"/>
              <a:ea typeface="等线" charset="0"/>
              <a:cs typeface="Lato" charset="0"/>
            </a:endParaRPr>
          </a:p>
        </p:txBody>
      </p:sp>
      <p:sp>
        <p:nvSpPr>
          <p:cNvPr id="526" name="圆角矩形"/>
          <p:cNvSpPr>
            <a:spLocks/>
          </p:cNvSpPr>
          <p:nvPr/>
        </p:nvSpPr>
        <p:spPr>
          <a:xfrm>
            <a:off x="749808" y="3749040"/>
            <a:ext cx="10707624" cy="585216"/>
          </a:xfrm>
          <a:prstGeom prst="roundRect">
            <a:avLst>
              <a:gd name="adj" fmla="val 31250"/>
            </a:avLst>
          </a:prstGeom>
          <a:solidFill>
            <a:srgbClr val="EBF0E7"/>
          </a:solidFill>
          <a:ln w="12700" cap="flat" cmpd="sng">
            <a:solidFill>
              <a:srgbClr val="EBF0E7">
                <a:alpha val="0"/>
              </a:srgbClr>
            </a:solidFill>
            <a:prstDash val="solid"/>
            <a:round/>
          </a:ln>
        </p:spPr>
      </p:sp>
      <p:sp>
        <p:nvSpPr>
          <p:cNvPr id="527" name="矩形"/>
          <p:cNvSpPr>
            <a:spLocks/>
          </p:cNvSpPr>
          <p:nvPr/>
        </p:nvSpPr>
        <p:spPr>
          <a:xfrm>
            <a:off x="987551" y="3822192"/>
            <a:ext cx="10204705"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4. Ying, Q.-L., Wu, B., Huang, Z.-Y., Lai, H.-W., &amp; Jiang, F. (2018). Student apartment cleaning demand survey.</a:t>
            </a:r>
            <a:endParaRPr lang="zh-CN" altLang="en-US" sz="1265" b="0" i="0" u="none" strike="noStrike" kern="1200" cap="none" spc="0" baseline="0">
              <a:solidFill>
                <a:schemeClr val="tx1"/>
              </a:solidFill>
              <a:latin typeface="Lato" charset="0"/>
              <a:ea typeface="等线" charset="0"/>
              <a:cs typeface="Lato" charset="0"/>
            </a:endParaRPr>
          </a:p>
        </p:txBody>
      </p:sp>
      <p:sp>
        <p:nvSpPr>
          <p:cNvPr id="528" name="圆角矩形"/>
          <p:cNvSpPr>
            <a:spLocks/>
          </p:cNvSpPr>
          <p:nvPr/>
        </p:nvSpPr>
        <p:spPr>
          <a:xfrm>
            <a:off x="749808" y="4425696"/>
            <a:ext cx="10707624" cy="585215"/>
          </a:xfrm>
          <a:prstGeom prst="roundRect">
            <a:avLst>
              <a:gd name="adj" fmla="val 31250"/>
            </a:avLst>
          </a:prstGeom>
          <a:solidFill>
            <a:srgbClr val="FFFDF9"/>
          </a:solidFill>
          <a:ln w="12700" cap="flat" cmpd="sng">
            <a:solidFill>
              <a:srgbClr val="FFFDF9">
                <a:alpha val="0"/>
              </a:srgbClr>
            </a:solidFill>
            <a:prstDash val="solid"/>
            <a:round/>
          </a:ln>
        </p:spPr>
      </p:sp>
      <p:sp>
        <p:nvSpPr>
          <p:cNvPr id="529" name="矩形"/>
          <p:cNvSpPr>
            <a:spLocks/>
          </p:cNvSpPr>
          <p:nvPr/>
        </p:nvSpPr>
        <p:spPr>
          <a:xfrm>
            <a:off x="987551" y="4498848"/>
            <a:ext cx="10204705" cy="42062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5. Zhou, Q.-J. (2016). Dormitory culture at Jishou University. Journal of Jishou University, 37(2), 91–96.</a:t>
            </a:r>
            <a:endParaRPr lang="zh-CN" altLang="en-US" sz="1265" b="0" i="0" u="none" strike="noStrike" kern="1200" cap="none" spc="0" baseline="0">
              <a:solidFill>
                <a:schemeClr val="tx1"/>
              </a:solidFill>
              <a:latin typeface="Lato" charset="0"/>
              <a:ea typeface="等线" charset="0"/>
              <a:cs typeface="Lato" charset="0"/>
            </a:endParaRPr>
          </a:p>
        </p:txBody>
      </p:sp>
      <p:sp>
        <p:nvSpPr>
          <p:cNvPr id="530" name="圆角矩形"/>
          <p:cNvSpPr>
            <a:spLocks/>
          </p:cNvSpPr>
          <p:nvPr/>
        </p:nvSpPr>
        <p:spPr>
          <a:xfrm>
            <a:off x="749808" y="5102352"/>
            <a:ext cx="10707624" cy="585215"/>
          </a:xfrm>
          <a:prstGeom prst="roundRect">
            <a:avLst>
              <a:gd name="adj" fmla="val 31250"/>
            </a:avLst>
          </a:prstGeom>
          <a:solidFill>
            <a:srgbClr val="EBF0E7"/>
          </a:solidFill>
          <a:ln w="12700" cap="flat" cmpd="sng">
            <a:solidFill>
              <a:srgbClr val="EBF0E7">
                <a:alpha val="0"/>
              </a:srgbClr>
            </a:solidFill>
            <a:prstDash val="solid"/>
            <a:round/>
          </a:ln>
        </p:spPr>
      </p:sp>
      <p:sp>
        <p:nvSpPr>
          <p:cNvPr id="531" name="矩形"/>
          <p:cNvSpPr>
            <a:spLocks/>
          </p:cNvSpPr>
          <p:nvPr/>
        </p:nvSpPr>
        <p:spPr>
          <a:xfrm>
            <a:off x="987551" y="5175504"/>
            <a:ext cx="10204705" cy="42062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65" b="0" i="0" u="none" strike="noStrike" kern="1200" cap="none" spc="0" baseline="0">
                <a:solidFill>
                  <a:srgbClr val="37443B"/>
                </a:solidFill>
                <a:latin typeface="Lato" charset="0"/>
                <a:ea typeface="Lato" charset="0"/>
                <a:cs typeface="Lato" charset="0"/>
              </a:rPr>
              <a:t>6. American Cleaning Institute. (2022). 2022 college cleaning survey data (listed in supplied source notes; no numbers used).</a:t>
            </a:r>
            <a:endParaRPr lang="zh-CN" altLang="en-US" sz="1265" b="0" i="0" u="none" strike="noStrike" kern="1200" cap="none" spc="0" baseline="0">
              <a:solidFill>
                <a:schemeClr val="tx1"/>
              </a:solidFill>
              <a:latin typeface="Lato" charset="0"/>
              <a:ea typeface="等线" charset="0"/>
              <a:cs typeface="Lato" charset="0"/>
            </a:endParaRPr>
          </a:p>
        </p:txBody>
      </p:sp>
      <p:sp>
        <p:nvSpPr>
          <p:cNvPr id="532" name="矩形"/>
          <p:cNvSpPr>
            <a:spLocks/>
          </p:cNvSpPr>
          <p:nvPr/>
        </p:nvSpPr>
        <p:spPr>
          <a:xfrm>
            <a:off x="914400" y="5980176"/>
            <a:ext cx="10332720"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40" b="0" i="0" u="none" strike="noStrike" kern="1200" cap="none" spc="0" baseline="0">
                <a:solidFill>
                  <a:srgbClr val="7D8478"/>
                </a:solidFill>
                <a:latin typeface="Lato" charset="0"/>
                <a:ea typeface="Lato" charset="0"/>
                <a:cs typeface="Lato" charset="0"/>
              </a:rPr>
              <a:t>Additional historical source in literature file: Shinohara &amp; Sato (1961), a four-dorm study; not used for numerical claims.</a:t>
            </a:r>
            <a:endParaRPr lang="zh-CN" altLang="en-US" sz="1140" b="0" i="0" u="none" strike="noStrike" kern="1200" cap="none" spc="0" baseline="0">
              <a:solidFill>
                <a:schemeClr val="tx1"/>
              </a:solidFill>
              <a:latin typeface="Lato" charset="0"/>
              <a:ea typeface="等线" charset="0"/>
              <a:cs typeface="Lato" charset="0"/>
            </a:endParaRPr>
          </a:p>
        </p:txBody>
      </p:sp>
    </p:spTree>
    <p:extLst>
      <p:ext uri="{BB962C8B-B14F-4D97-AF65-F5344CB8AC3E}">
        <p14:creationId xmlns:p14="http://schemas.microsoft.com/office/powerpoint/2010/main" val="54928692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854</TotalTime>
  <Words>5126</Words>
  <Application>Microsoft Office PowerPoint</Application>
  <PresentationFormat>宽屏</PresentationFormat>
  <Paragraphs>394</Paragraphs>
  <Slides>22</Slides>
  <Notes>22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Droid Sans</vt:lpstr>
      <vt:lpstr>Arial</vt:lpstr>
      <vt:lpstr>Georgia</vt:lpstr>
      <vt:lpstr>Lato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Student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JEBO — A Cleaner Dorm, A Happier Home</dc:title>
  <dc:subject>Midterm presentation based on supplied CEM research and survey</dc:subject>
  <dc:creator>JEBO</dc:creator>
  <cp:lastModifiedBy>wil191314355@163.com</cp:lastModifiedBy>
  <cp:revision>4</cp:revision>
  <dcterms:created xsi:type="dcterms:W3CDTF">2026-10-20T01:44:35Z</dcterms:created>
  <dcterms:modified xsi:type="dcterms:W3CDTF">2026-10-21T06:05:15Z</dcterms:modified>
</cp:coreProperties>
</file>